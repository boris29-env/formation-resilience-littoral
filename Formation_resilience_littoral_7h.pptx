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6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33" r:id="rId6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88677" autoAdjust="0"/>
  </p:normalViewPr>
  <p:slideViewPr>
    <p:cSldViewPr snapToGrid="0" snapToObjects="1">
      <p:cViewPr varScale="1">
        <p:scale>
          <a:sx n="75" d="100"/>
          <a:sy n="75" d="100"/>
        </p:scale>
        <p:origin x="946"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FB6E9E-4777-4B6A-9619-3DE650ECD179}" type="datetimeFigureOut">
              <a:rPr lang="fr-FR" smtClean="0"/>
              <a:t>28/04/2026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E2F169-36EF-4A38-BE67-9F65A26CF9B1}" type="slidenum">
              <a:rPr lang="fr-FR" smtClean="0"/>
              <a:t>‹N°›</a:t>
            </a:fld>
            <a:endParaRPr lang="fr-FR"/>
          </a:p>
        </p:txBody>
      </p:sp>
    </p:spTree>
    <p:extLst>
      <p:ext uri="{BB962C8B-B14F-4D97-AF65-F5344CB8AC3E}">
        <p14:creationId xmlns:p14="http://schemas.microsoft.com/office/powerpoint/2010/main" val="3182490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E5E0CC0-78E2-4098-B22B-49B19D64639D}" type="datetime1">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503364-358E-4D0A-A02F-B71A35D9F5A2}" type="datetime1">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6A6AF6-C5A0-4DA5-AD6F-75B1B2233496}" type="datetime1">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8C7772B-8390-4BFC-8059-5CA485BCE48E}" type="datetime1">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BE309BD-172D-4D66-88F8-08C6EA2E5884}" type="datetime1">
              <a:rPr lang="en-US" smtClean="0"/>
              <a:t>4/28/2026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0D92CF4-B8D0-4EBA-A06C-DD4217166AB3}" type="datetime1">
              <a:rPr lang="en-US" smtClean="0"/>
              <a:t>4/28/2026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F2CFAD-31C3-4035-8F26-AC26C0CB0103}" type="datetime1">
              <a:rPr lang="en-US" smtClean="0"/>
              <a:t>4/28/2026</a:t>
            </a:fld>
            <a:endParaRPr lang="en-US"/>
          </a:p>
        </p:txBody>
      </p:sp>
      <p:sp>
        <p:nvSpPr>
          <p:cNvPr id="3" name="Footer Placeholder 2"/>
          <p:cNvSpPr>
            <a:spLocks noGrp="1"/>
          </p:cNvSpPr>
          <p:nvPr>
            <p:ph type="ftr" sz="quarter" idx="11"/>
          </p:nvPr>
        </p:nvSpPr>
        <p:spPr/>
        <p:txBody>
          <a:bodyPr/>
          <a:lstStyle/>
          <a:p>
            <a:endParaRPr lang="en-US"/>
          </a:p>
        </p:txBody>
      </p:sp>
      <p:sp>
        <p:nvSpPr>
          <p:cNvPr id="5" name="Slide Number Placeholder 5">
            <a:extLst>
              <a:ext uri="{FF2B5EF4-FFF2-40B4-BE49-F238E27FC236}">
                <a16:creationId xmlns:a16="http://schemas.microsoft.com/office/drawing/2014/main" id="{47A27E4D-91E1-4E7C-BBA1-9C612A6E915F}"/>
              </a:ext>
            </a:extLst>
          </p:cNvPr>
          <p:cNvSpPr>
            <a:spLocks noGrp="1"/>
          </p:cNvSpPr>
          <p:nvPr>
            <p:ph type="sldNum" sz="quarter" idx="4"/>
          </p:nvPr>
        </p:nvSpPr>
        <p:spPr>
          <a:xfrm>
            <a:off x="11645153" y="6356350"/>
            <a:ext cx="54684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81E6DC-ACA4-4CC4-B142-EC9DBA1C6CBA}" type="slidenum">
              <a:rPr lang="en-US" smtClean="0"/>
              <a:pPr/>
              <a:t>‹N°›</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134776F-4DF8-4262-A2EE-F22D0DF4C5D0}" type="datetime1">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1819EE-7E21-43A5-9250-C3D09D92AC4B}" type="datetime1">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FCD40E-2812-48A2-B2C3-366C082724BB}" type="datetime1">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75F5087-8191-41F2-985B-B9816645D584}" type="datetime1">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F1BAE2-8348-460C-BC18-4F5CD43F5205}" type="datetime1">
              <a:rPr lang="en-US" smtClean="0"/>
              <a:t>4/28/2026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1645153" y="6356350"/>
            <a:ext cx="54684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81E6DC-ACA4-4CC4-B142-EC9DBA1C6CBA}" type="slidenum">
              <a:rPr lang="en-US" smtClean="0"/>
              <a:pPr/>
              <a:t>‹N°›</a:t>
            </a:fld>
            <a:endParaRPr lang="en-US" dirty="0"/>
          </a:p>
        </p:txBody>
      </p:sp>
      <p:pic>
        <p:nvPicPr>
          <p:cNvPr id="8" name="Image 7">
            <a:extLst>
              <a:ext uri="{FF2B5EF4-FFF2-40B4-BE49-F238E27FC236}">
                <a16:creationId xmlns:a16="http://schemas.microsoft.com/office/drawing/2014/main" id="{176C47FF-408F-458B-A2B6-22E076B99BF6}"/>
              </a:ext>
            </a:extLst>
          </p:cNvPr>
          <p:cNvPicPr>
            <a:picLocks noChangeAspect="1"/>
          </p:cNvPicPr>
          <p:nvPr userDrawn="1"/>
        </p:nvPicPr>
        <p:blipFill>
          <a:blip r:embed="rId13"/>
          <a:stretch>
            <a:fillRect/>
          </a:stretch>
        </p:blipFill>
        <p:spPr>
          <a:xfrm>
            <a:off x="0" y="52995"/>
            <a:ext cx="1879646" cy="954741"/>
          </a:xfrm>
          <a:prstGeom prst="rect">
            <a:avLst/>
          </a:prstGeom>
        </p:spPr>
      </p:pic>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914400" y="2377440"/>
            <a:ext cx="10332720" cy="2492990"/>
          </a:xfrm>
          <a:prstGeom prst="rect">
            <a:avLst/>
          </a:prstGeom>
          <a:noFill/>
        </p:spPr>
        <p:txBody>
          <a:bodyPr wrap="square" lIns="0" tIns="0" rIns="0" bIns="0" anchor="t">
            <a:spAutoFit/>
          </a:bodyPr>
          <a:lstStyle/>
          <a:p>
            <a:pPr algn="ctr">
              <a:spcAft>
                <a:spcPts val="1800"/>
              </a:spcAft>
            </a:pPr>
            <a:r>
              <a:rPr lang="fr-FR" sz="4400" b="1" i="0" dirty="0">
                <a:solidFill>
                  <a:srgbClr val="1A1A1A"/>
                </a:solidFill>
                <a:latin typeface="Calibri"/>
              </a:rPr>
              <a:t>Renforcer la résilience
des territoires littoraux</a:t>
            </a:r>
          </a:p>
          <a:p>
            <a:pPr algn="ctr"/>
            <a:r>
              <a:rPr lang="fr-FR" sz="2200" b="0" i="1" dirty="0">
                <a:solidFill>
                  <a:srgbClr val="328088"/>
                </a:solidFill>
                <a:latin typeface="Calibri"/>
              </a:rPr>
              <a:t>Du cadre national de la prévention à une démarche territoriale intégrée </a:t>
            </a:r>
          </a:p>
          <a:p>
            <a:pPr algn="ctr"/>
            <a:r>
              <a:rPr lang="fr-FR" i="1" dirty="0">
                <a:solidFill>
                  <a:schemeClr val="bg1">
                    <a:lumMod val="50000"/>
                  </a:schemeClr>
                </a:solidFill>
                <a:latin typeface="Calibri"/>
              </a:rPr>
              <a:t>Boris Leclerc - Inspection générale de l'environnement et du développement durable</a:t>
            </a:r>
            <a:endParaRPr lang="fr-FR" b="0" i="1" dirty="0">
              <a:solidFill>
                <a:schemeClr val="bg1">
                  <a:lumMod val="50000"/>
                </a:schemeClr>
              </a:solidFill>
              <a:latin typeface="Calibri"/>
            </a:endParaRPr>
          </a:p>
        </p:txBody>
      </p:sp>
      <p:cxnSp>
        <p:nvCxnSpPr>
          <p:cNvPr id="8" name="Connector 7"/>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3" name="Espace réservé du numéro de diapositive 2">
            <a:extLst>
              <a:ext uri="{FF2B5EF4-FFF2-40B4-BE49-F238E27FC236}">
                <a16:creationId xmlns:a16="http://schemas.microsoft.com/office/drawing/2014/main" id="{752BDED2-5388-4F53-83B2-53074F20EB5B}"/>
              </a:ext>
            </a:extLst>
          </p:cNvPr>
          <p:cNvSpPr>
            <a:spLocks noGrp="1"/>
          </p:cNvSpPr>
          <p:nvPr>
            <p:ph type="sldNum" sz="quarter" idx="4"/>
          </p:nvPr>
        </p:nvSpPr>
        <p:spPr/>
        <p:txBody>
          <a:bodyPr/>
          <a:lstStyle/>
          <a:p>
            <a:fld id="{9981E6DC-ACA4-4CC4-B142-EC9DBA1C6CBA}"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Programme de la journée</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65760" y="1564640"/>
            <a:ext cx="5669280" cy="45720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000"/>
          </a:p>
        </p:txBody>
      </p:sp>
      <p:sp>
        <p:nvSpPr>
          <p:cNvPr id="12" name="TextBox 11"/>
          <p:cNvSpPr txBox="1"/>
          <p:nvPr/>
        </p:nvSpPr>
        <p:spPr>
          <a:xfrm>
            <a:off x="365760" y="1670129"/>
            <a:ext cx="5669280" cy="246221"/>
          </a:xfrm>
          <a:prstGeom prst="rect">
            <a:avLst/>
          </a:prstGeom>
          <a:noFill/>
        </p:spPr>
        <p:txBody>
          <a:bodyPr wrap="square" lIns="0" tIns="0" rIns="0" bIns="0" anchor="ctr">
            <a:spAutoFit/>
          </a:bodyPr>
          <a:lstStyle/>
          <a:p>
            <a:pPr algn="l"/>
            <a:r>
              <a:rPr lang="fr-FR" sz="1600" b="1" i="0">
                <a:solidFill>
                  <a:srgbClr val="FFFFFF"/>
                </a:solidFill>
                <a:latin typeface="Calibri"/>
              </a:rPr>
              <a:t>  MATIN — Comprendre la résilience</a:t>
            </a:r>
          </a:p>
        </p:txBody>
      </p:sp>
      <p:sp>
        <p:nvSpPr>
          <p:cNvPr id="13" name="TextBox 12"/>
          <p:cNvSpPr txBox="1"/>
          <p:nvPr/>
        </p:nvSpPr>
        <p:spPr>
          <a:xfrm>
            <a:off x="457200" y="2159000"/>
            <a:ext cx="1463040" cy="184666"/>
          </a:xfrm>
          <a:prstGeom prst="rect">
            <a:avLst/>
          </a:prstGeom>
          <a:noFill/>
        </p:spPr>
        <p:txBody>
          <a:bodyPr wrap="square" lIns="0" tIns="0" rIns="0" bIns="0" anchor="t">
            <a:spAutoFit/>
          </a:bodyPr>
          <a:lstStyle/>
          <a:p>
            <a:pPr algn="l"/>
            <a:r>
              <a:rPr lang="fr-FR" sz="1200" b="1" i="0">
                <a:solidFill>
                  <a:srgbClr val="328088"/>
                </a:solidFill>
                <a:latin typeface="Calibri"/>
              </a:rPr>
              <a:t>9 h 00 – 9 h 30</a:t>
            </a:r>
          </a:p>
        </p:txBody>
      </p:sp>
      <p:sp>
        <p:nvSpPr>
          <p:cNvPr id="14" name="TextBox 13"/>
          <p:cNvSpPr txBox="1"/>
          <p:nvPr/>
        </p:nvSpPr>
        <p:spPr>
          <a:xfrm>
            <a:off x="1965960" y="2159000"/>
            <a:ext cx="3337560" cy="184666"/>
          </a:xfrm>
          <a:prstGeom prst="rect">
            <a:avLst/>
          </a:prstGeom>
          <a:noFill/>
        </p:spPr>
        <p:txBody>
          <a:bodyPr wrap="square" lIns="0" tIns="0" rIns="0" bIns="0" anchor="t">
            <a:spAutoFit/>
          </a:bodyPr>
          <a:lstStyle/>
          <a:p>
            <a:pPr algn="l"/>
            <a:r>
              <a:rPr lang="fr-FR" sz="1200" b="0" i="0">
                <a:solidFill>
                  <a:srgbClr val="1A1A1A"/>
                </a:solidFill>
                <a:latin typeface="Calibri"/>
              </a:rPr>
              <a:t>Accueil, tour de table, présentation du fil rouge</a:t>
            </a:r>
          </a:p>
        </p:txBody>
      </p:sp>
      <p:sp>
        <p:nvSpPr>
          <p:cNvPr id="15" name="TextBox 14"/>
          <p:cNvSpPr txBox="1"/>
          <p:nvPr/>
        </p:nvSpPr>
        <p:spPr>
          <a:xfrm>
            <a:off x="5349240" y="2159000"/>
            <a:ext cx="640080" cy="161583"/>
          </a:xfrm>
          <a:prstGeom prst="rect">
            <a:avLst/>
          </a:prstGeom>
          <a:noFill/>
        </p:spPr>
        <p:txBody>
          <a:bodyPr wrap="square" lIns="0" tIns="0" rIns="0" bIns="0" anchor="t">
            <a:spAutoFit/>
          </a:bodyPr>
          <a:lstStyle/>
          <a:p>
            <a:pPr algn="r"/>
            <a:r>
              <a:rPr lang="fr-FR" sz="1050" b="0" i="1">
                <a:solidFill>
                  <a:srgbClr val="404040"/>
                </a:solidFill>
                <a:latin typeface="Calibri"/>
              </a:rPr>
              <a:t>30 min</a:t>
            </a:r>
          </a:p>
        </p:txBody>
      </p:sp>
      <p:sp>
        <p:nvSpPr>
          <p:cNvPr id="16" name="TextBox 15"/>
          <p:cNvSpPr txBox="1"/>
          <p:nvPr/>
        </p:nvSpPr>
        <p:spPr>
          <a:xfrm>
            <a:off x="457200" y="2543048"/>
            <a:ext cx="1463040" cy="184666"/>
          </a:xfrm>
          <a:prstGeom prst="rect">
            <a:avLst/>
          </a:prstGeom>
          <a:noFill/>
        </p:spPr>
        <p:txBody>
          <a:bodyPr wrap="square" lIns="0" tIns="0" rIns="0" bIns="0" anchor="t">
            <a:spAutoFit/>
          </a:bodyPr>
          <a:lstStyle/>
          <a:p>
            <a:pPr algn="l"/>
            <a:r>
              <a:rPr lang="fr-FR" sz="1200" b="1" i="0">
                <a:solidFill>
                  <a:srgbClr val="328088"/>
                </a:solidFill>
                <a:latin typeface="Calibri"/>
              </a:rPr>
              <a:t>9 h 30 – 10 h 30</a:t>
            </a:r>
          </a:p>
        </p:txBody>
      </p:sp>
      <p:sp>
        <p:nvSpPr>
          <p:cNvPr id="17" name="TextBox 16"/>
          <p:cNvSpPr txBox="1"/>
          <p:nvPr/>
        </p:nvSpPr>
        <p:spPr>
          <a:xfrm>
            <a:off x="1965960" y="2543048"/>
            <a:ext cx="3337560" cy="369332"/>
          </a:xfrm>
          <a:prstGeom prst="rect">
            <a:avLst/>
          </a:prstGeom>
          <a:noFill/>
        </p:spPr>
        <p:txBody>
          <a:bodyPr wrap="square" lIns="0" tIns="0" rIns="0" bIns="0" anchor="t">
            <a:spAutoFit/>
          </a:bodyPr>
          <a:lstStyle/>
          <a:p>
            <a:pPr algn="l"/>
            <a:r>
              <a:rPr lang="fr-FR" sz="1200" b="0" i="0">
                <a:solidFill>
                  <a:srgbClr val="1A1A1A"/>
                </a:solidFill>
                <a:latin typeface="Calibri"/>
              </a:rPr>
              <a:t>Conférence d'ouverture — Pourquoi parler de résilience ?</a:t>
            </a:r>
          </a:p>
        </p:txBody>
      </p:sp>
      <p:sp>
        <p:nvSpPr>
          <p:cNvPr id="18" name="TextBox 17"/>
          <p:cNvSpPr txBox="1"/>
          <p:nvPr/>
        </p:nvSpPr>
        <p:spPr>
          <a:xfrm>
            <a:off x="5349240" y="2543048"/>
            <a:ext cx="640080" cy="161583"/>
          </a:xfrm>
          <a:prstGeom prst="rect">
            <a:avLst/>
          </a:prstGeom>
          <a:noFill/>
        </p:spPr>
        <p:txBody>
          <a:bodyPr wrap="square" lIns="0" tIns="0" rIns="0" bIns="0" anchor="t">
            <a:spAutoFit/>
          </a:bodyPr>
          <a:lstStyle/>
          <a:p>
            <a:pPr algn="r"/>
            <a:r>
              <a:rPr lang="fr-FR" sz="1050" b="0" i="1">
                <a:solidFill>
                  <a:srgbClr val="404040"/>
                </a:solidFill>
                <a:latin typeface="Calibri"/>
              </a:rPr>
              <a:t>1 h</a:t>
            </a:r>
          </a:p>
        </p:txBody>
      </p:sp>
      <p:sp>
        <p:nvSpPr>
          <p:cNvPr id="19" name="TextBox 18"/>
          <p:cNvSpPr txBox="1"/>
          <p:nvPr/>
        </p:nvSpPr>
        <p:spPr>
          <a:xfrm>
            <a:off x="457200" y="2927096"/>
            <a:ext cx="1463040" cy="184666"/>
          </a:xfrm>
          <a:prstGeom prst="rect">
            <a:avLst/>
          </a:prstGeom>
          <a:noFill/>
        </p:spPr>
        <p:txBody>
          <a:bodyPr wrap="square" lIns="0" tIns="0" rIns="0" bIns="0" anchor="t">
            <a:spAutoFit/>
          </a:bodyPr>
          <a:lstStyle/>
          <a:p>
            <a:pPr algn="l"/>
            <a:r>
              <a:rPr lang="fr-FR" sz="1200" b="1" i="0">
                <a:solidFill>
                  <a:srgbClr val="328088"/>
                </a:solidFill>
                <a:latin typeface="Calibri"/>
              </a:rPr>
              <a:t>10 h 30 – 10 h 45</a:t>
            </a:r>
          </a:p>
        </p:txBody>
      </p:sp>
      <p:sp>
        <p:nvSpPr>
          <p:cNvPr id="20" name="TextBox 19"/>
          <p:cNvSpPr txBox="1"/>
          <p:nvPr/>
        </p:nvSpPr>
        <p:spPr>
          <a:xfrm>
            <a:off x="1965960" y="2927096"/>
            <a:ext cx="3337560" cy="184666"/>
          </a:xfrm>
          <a:prstGeom prst="rect">
            <a:avLst/>
          </a:prstGeom>
          <a:noFill/>
        </p:spPr>
        <p:txBody>
          <a:bodyPr wrap="square" lIns="0" tIns="0" rIns="0" bIns="0" anchor="t">
            <a:spAutoFit/>
          </a:bodyPr>
          <a:lstStyle/>
          <a:p>
            <a:pPr algn="l"/>
            <a:r>
              <a:rPr lang="fr-FR" sz="1200" b="0" i="0">
                <a:solidFill>
                  <a:srgbClr val="1A1A1A"/>
                </a:solidFill>
                <a:latin typeface="Calibri"/>
              </a:rPr>
              <a:t>Pause</a:t>
            </a:r>
          </a:p>
        </p:txBody>
      </p:sp>
      <p:sp>
        <p:nvSpPr>
          <p:cNvPr id="21" name="TextBox 20"/>
          <p:cNvSpPr txBox="1"/>
          <p:nvPr/>
        </p:nvSpPr>
        <p:spPr>
          <a:xfrm>
            <a:off x="5349240" y="2927096"/>
            <a:ext cx="640080" cy="161583"/>
          </a:xfrm>
          <a:prstGeom prst="rect">
            <a:avLst/>
          </a:prstGeom>
          <a:noFill/>
        </p:spPr>
        <p:txBody>
          <a:bodyPr wrap="square" lIns="0" tIns="0" rIns="0" bIns="0" anchor="t">
            <a:spAutoFit/>
          </a:bodyPr>
          <a:lstStyle/>
          <a:p>
            <a:pPr algn="r"/>
            <a:r>
              <a:rPr lang="fr-FR" sz="1050" b="0" i="1">
                <a:solidFill>
                  <a:srgbClr val="404040"/>
                </a:solidFill>
                <a:latin typeface="Calibri"/>
              </a:rPr>
              <a:t>15 min</a:t>
            </a:r>
          </a:p>
        </p:txBody>
      </p:sp>
      <p:sp>
        <p:nvSpPr>
          <p:cNvPr id="22" name="TextBox 21"/>
          <p:cNvSpPr txBox="1"/>
          <p:nvPr/>
        </p:nvSpPr>
        <p:spPr>
          <a:xfrm>
            <a:off x="457200" y="3311144"/>
            <a:ext cx="1463040" cy="184666"/>
          </a:xfrm>
          <a:prstGeom prst="rect">
            <a:avLst/>
          </a:prstGeom>
          <a:noFill/>
        </p:spPr>
        <p:txBody>
          <a:bodyPr wrap="square" lIns="0" tIns="0" rIns="0" bIns="0" anchor="t">
            <a:spAutoFit/>
          </a:bodyPr>
          <a:lstStyle/>
          <a:p>
            <a:pPr algn="l"/>
            <a:r>
              <a:rPr lang="fr-FR" sz="1200" b="1" i="0">
                <a:solidFill>
                  <a:srgbClr val="328088"/>
                </a:solidFill>
                <a:latin typeface="Calibri"/>
              </a:rPr>
              <a:t>10 h 45 – 11 h 15</a:t>
            </a:r>
          </a:p>
        </p:txBody>
      </p:sp>
      <p:sp>
        <p:nvSpPr>
          <p:cNvPr id="23" name="TextBox 22"/>
          <p:cNvSpPr txBox="1"/>
          <p:nvPr/>
        </p:nvSpPr>
        <p:spPr>
          <a:xfrm>
            <a:off x="1965960" y="3311144"/>
            <a:ext cx="3337560" cy="184666"/>
          </a:xfrm>
          <a:prstGeom prst="rect">
            <a:avLst/>
          </a:prstGeom>
          <a:noFill/>
        </p:spPr>
        <p:txBody>
          <a:bodyPr wrap="square" lIns="0" tIns="0" rIns="0" bIns="0" anchor="t">
            <a:spAutoFit/>
          </a:bodyPr>
          <a:lstStyle/>
          <a:p>
            <a:pPr algn="l"/>
            <a:r>
              <a:rPr lang="fr-FR" sz="1200" b="0" i="0">
                <a:solidFill>
                  <a:srgbClr val="1A1A1A"/>
                </a:solidFill>
                <a:latin typeface="Calibri"/>
              </a:rPr>
              <a:t>Module — Du risque à la résilience (concepts)</a:t>
            </a:r>
          </a:p>
        </p:txBody>
      </p:sp>
      <p:sp>
        <p:nvSpPr>
          <p:cNvPr id="24" name="TextBox 23"/>
          <p:cNvSpPr txBox="1"/>
          <p:nvPr/>
        </p:nvSpPr>
        <p:spPr>
          <a:xfrm>
            <a:off x="5349240" y="3311144"/>
            <a:ext cx="640080" cy="161583"/>
          </a:xfrm>
          <a:prstGeom prst="rect">
            <a:avLst/>
          </a:prstGeom>
          <a:noFill/>
        </p:spPr>
        <p:txBody>
          <a:bodyPr wrap="square" lIns="0" tIns="0" rIns="0" bIns="0" anchor="t">
            <a:spAutoFit/>
          </a:bodyPr>
          <a:lstStyle/>
          <a:p>
            <a:pPr algn="r"/>
            <a:r>
              <a:rPr lang="fr-FR" sz="1050" b="0" i="1">
                <a:solidFill>
                  <a:srgbClr val="404040"/>
                </a:solidFill>
                <a:latin typeface="Calibri"/>
              </a:rPr>
              <a:t>30 min</a:t>
            </a:r>
          </a:p>
        </p:txBody>
      </p:sp>
      <p:sp>
        <p:nvSpPr>
          <p:cNvPr id="25" name="Rectangle 24"/>
          <p:cNvSpPr/>
          <p:nvPr/>
        </p:nvSpPr>
        <p:spPr>
          <a:xfrm>
            <a:off x="411480" y="3658616"/>
            <a:ext cx="5577840" cy="365760"/>
          </a:xfrm>
          <a:prstGeom prst="rect">
            <a:avLst/>
          </a:prstGeom>
          <a:solidFill>
            <a:srgbClr val="FCE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000"/>
          </a:p>
        </p:txBody>
      </p:sp>
      <p:sp>
        <p:nvSpPr>
          <p:cNvPr id="26" name="TextBox 25"/>
          <p:cNvSpPr txBox="1"/>
          <p:nvPr/>
        </p:nvSpPr>
        <p:spPr>
          <a:xfrm>
            <a:off x="457200" y="3695192"/>
            <a:ext cx="1463040" cy="184666"/>
          </a:xfrm>
          <a:prstGeom prst="rect">
            <a:avLst/>
          </a:prstGeom>
          <a:noFill/>
        </p:spPr>
        <p:txBody>
          <a:bodyPr wrap="square" lIns="0" tIns="0" rIns="0" bIns="0" anchor="t">
            <a:spAutoFit/>
          </a:bodyPr>
          <a:lstStyle/>
          <a:p>
            <a:pPr algn="l"/>
            <a:r>
              <a:rPr lang="fr-FR" sz="1200" b="1" i="0">
                <a:solidFill>
                  <a:srgbClr val="E86E55"/>
                </a:solidFill>
                <a:latin typeface="Calibri"/>
              </a:rPr>
              <a:t>11 h 15 – 12 h 15</a:t>
            </a:r>
          </a:p>
        </p:txBody>
      </p:sp>
      <p:sp>
        <p:nvSpPr>
          <p:cNvPr id="27" name="TextBox 26"/>
          <p:cNvSpPr txBox="1"/>
          <p:nvPr/>
        </p:nvSpPr>
        <p:spPr>
          <a:xfrm>
            <a:off x="1965960" y="3695192"/>
            <a:ext cx="3337560" cy="369332"/>
          </a:xfrm>
          <a:prstGeom prst="rect">
            <a:avLst/>
          </a:prstGeom>
          <a:noFill/>
        </p:spPr>
        <p:txBody>
          <a:bodyPr wrap="square" lIns="0" tIns="0" rIns="0" bIns="0" anchor="t">
            <a:spAutoFit/>
          </a:bodyPr>
          <a:lstStyle/>
          <a:p>
            <a:pPr algn="l"/>
            <a:r>
              <a:rPr lang="fr-FR" sz="1200" b="1" i="0">
                <a:solidFill>
                  <a:srgbClr val="1A1A1A"/>
                </a:solidFill>
                <a:latin typeface="Calibri"/>
              </a:rPr>
              <a:t>Étude de cas n°1 — Diagnostic en 5 groupes différenciés</a:t>
            </a:r>
          </a:p>
        </p:txBody>
      </p:sp>
      <p:sp>
        <p:nvSpPr>
          <p:cNvPr id="28" name="TextBox 27"/>
          <p:cNvSpPr txBox="1"/>
          <p:nvPr/>
        </p:nvSpPr>
        <p:spPr>
          <a:xfrm>
            <a:off x="5349240" y="3695192"/>
            <a:ext cx="640080" cy="161583"/>
          </a:xfrm>
          <a:prstGeom prst="rect">
            <a:avLst/>
          </a:prstGeom>
          <a:noFill/>
        </p:spPr>
        <p:txBody>
          <a:bodyPr wrap="square" lIns="0" tIns="0" rIns="0" bIns="0" anchor="t">
            <a:spAutoFit/>
          </a:bodyPr>
          <a:lstStyle/>
          <a:p>
            <a:pPr algn="r"/>
            <a:r>
              <a:rPr lang="fr-FR" sz="1050" b="0" i="1">
                <a:solidFill>
                  <a:srgbClr val="404040"/>
                </a:solidFill>
                <a:latin typeface="Calibri"/>
              </a:rPr>
              <a:t>1 h</a:t>
            </a:r>
          </a:p>
        </p:txBody>
      </p:sp>
      <p:sp>
        <p:nvSpPr>
          <p:cNvPr id="29" name="Rectangle 28"/>
          <p:cNvSpPr/>
          <p:nvPr/>
        </p:nvSpPr>
        <p:spPr>
          <a:xfrm>
            <a:off x="411480" y="4042664"/>
            <a:ext cx="5577840" cy="365760"/>
          </a:xfrm>
          <a:prstGeom prst="rect">
            <a:avLst/>
          </a:prstGeom>
          <a:solidFill>
            <a:srgbClr val="FCE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000"/>
          </a:p>
        </p:txBody>
      </p:sp>
      <p:sp>
        <p:nvSpPr>
          <p:cNvPr id="30" name="TextBox 29"/>
          <p:cNvSpPr txBox="1"/>
          <p:nvPr/>
        </p:nvSpPr>
        <p:spPr>
          <a:xfrm>
            <a:off x="457200" y="4079240"/>
            <a:ext cx="1463040" cy="184666"/>
          </a:xfrm>
          <a:prstGeom prst="rect">
            <a:avLst/>
          </a:prstGeom>
          <a:noFill/>
        </p:spPr>
        <p:txBody>
          <a:bodyPr wrap="square" lIns="0" tIns="0" rIns="0" bIns="0" anchor="t">
            <a:spAutoFit/>
          </a:bodyPr>
          <a:lstStyle/>
          <a:p>
            <a:pPr algn="l"/>
            <a:r>
              <a:rPr lang="fr-FR" sz="1200" b="1" i="0">
                <a:solidFill>
                  <a:srgbClr val="E86E55"/>
                </a:solidFill>
                <a:latin typeface="Calibri"/>
              </a:rPr>
              <a:t>12 h 15 – 13 h 00</a:t>
            </a:r>
          </a:p>
        </p:txBody>
      </p:sp>
      <p:sp>
        <p:nvSpPr>
          <p:cNvPr id="31" name="TextBox 30"/>
          <p:cNvSpPr txBox="1"/>
          <p:nvPr/>
        </p:nvSpPr>
        <p:spPr>
          <a:xfrm>
            <a:off x="1965960" y="4079240"/>
            <a:ext cx="3337560" cy="184666"/>
          </a:xfrm>
          <a:prstGeom prst="rect">
            <a:avLst/>
          </a:prstGeom>
          <a:noFill/>
        </p:spPr>
        <p:txBody>
          <a:bodyPr wrap="square" lIns="0" tIns="0" rIns="0" bIns="0" anchor="t">
            <a:spAutoFit/>
          </a:bodyPr>
          <a:lstStyle/>
          <a:p>
            <a:pPr algn="l"/>
            <a:r>
              <a:rPr lang="fr-FR" sz="1200" b="1" i="0">
                <a:solidFill>
                  <a:srgbClr val="1A1A1A"/>
                </a:solidFill>
                <a:latin typeface="Calibri"/>
              </a:rPr>
              <a:t>Restitution croisée du Cas n°1</a:t>
            </a:r>
          </a:p>
        </p:txBody>
      </p:sp>
      <p:sp>
        <p:nvSpPr>
          <p:cNvPr id="32" name="TextBox 31"/>
          <p:cNvSpPr txBox="1"/>
          <p:nvPr/>
        </p:nvSpPr>
        <p:spPr>
          <a:xfrm>
            <a:off x="5349240" y="4079240"/>
            <a:ext cx="640080" cy="161583"/>
          </a:xfrm>
          <a:prstGeom prst="rect">
            <a:avLst/>
          </a:prstGeom>
          <a:noFill/>
        </p:spPr>
        <p:txBody>
          <a:bodyPr wrap="square" lIns="0" tIns="0" rIns="0" bIns="0" anchor="t">
            <a:spAutoFit/>
          </a:bodyPr>
          <a:lstStyle/>
          <a:p>
            <a:pPr algn="r"/>
            <a:r>
              <a:rPr lang="fr-FR" sz="1050" b="0" i="1">
                <a:solidFill>
                  <a:srgbClr val="404040"/>
                </a:solidFill>
                <a:latin typeface="Calibri"/>
              </a:rPr>
              <a:t>45 min</a:t>
            </a:r>
          </a:p>
        </p:txBody>
      </p:sp>
      <p:sp>
        <p:nvSpPr>
          <p:cNvPr id="33" name="Rectangle 32"/>
          <p:cNvSpPr/>
          <p:nvPr/>
        </p:nvSpPr>
        <p:spPr>
          <a:xfrm>
            <a:off x="365760" y="4536440"/>
            <a:ext cx="11430000" cy="36576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000"/>
          </a:p>
        </p:txBody>
      </p:sp>
      <p:sp>
        <p:nvSpPr>
          <p:cNvPr id="34" name="TextBox 33"/>
          <p:cNvSpPr txBox="1"/>
          <p:nvPr/>
        </p:nvSpPr>
        <p:spPr>
          <a:xfrm>
            <a:off x="365760" y="4611598"/>
            <a:ext cx="11430000" cy="215444"/>
          </a:xfrm>
          <a:prstGeom prst="rect">
            <a:avLst/>
          </a:prstGeom>
          <a:noFill/>
        </p:spPr>
        <p:txBody>
          <a:bodyPr wrap="square" lIns="0" tIns="0" rIns="0" bIns="0" anchor="ctr">
            <a:spAutoFit/>
          </a:bodyPr>
          <a:lstStyle/>
          <a:p>
            <a:pPr algn="ctr"/>
            <a:r>
              <a:rPr lang="fr-FR" sz="1400" b="1" i="1">
                <a:solidFill>
                  <a:srgbClr val="404040"/>
                </a:solidFill>
                <a:latin typeface="Calibri"/>
              </a:rPr>
              <a:t>13 h 00 – 14 h 00  ·  Pause déjeuner</a:t>
            </a:r>
          </a:p>
        </p:txBody>
      </p:sp>
      <p:sp>
        <p:nvSpPr>
          <p:cNvPr id="35" name="Rectangle 34"/>
          <p:cNvSpPr/>
          <p:nvPr/>
        </p:nvSpPr>
        <p:spPr>
          <a:xfrm>
            <a:off x="6172200" y="1564640"/>
            <a:ext cx="5669280" cy="45720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000"/>
          </a:p>
        </p:txBody>
      </p:sp>
      <p:sp>
        <p:nvSpPr>
          <p:cNvPr id="36" name="TextBox 35"/>
          <p:cNvSpPr txBox="1"/>
          <p:nvPr/>
        </p:nvSpPr>
        <p:spPr>
          <a:xfrm>
            <a:off x="6172200" y="1670129"/>
            <a:ext cx="5669280" cy="246221"/>
          </a:xfrm>
          <a:prstGeom prst="rect">
            <a:avLst/>
          </a:prstGeom>
          <a:noFill/>
        </p:spPr>
        <p:txBody>
          <a:bodyPr wrap="square" lIns="0" tIns="0" rIns="0" bIns="0" anchor="ctr">
            <a:spAutoFit/>
          </a:bodyPr>
          <a:lstStyle/>
          <a:p>
            <a:pPr algn="l"/>
            <a:r>
              <a:rPr lang="fr-FR" sz="1600" b="1" i="0">
                <a:solidFill>
                  <a:srgbClr val="FFFFFF"/>
                </a:solidFill>
                <a:latin typeface="Calibri"/>
              </a:rPr>
              <a:t>  APRÈS-MIDI — Construire la stratégie</a:t>
            </a:r>
          </a:p>
        </p:txBody>
      </p:sp>
      <p:sp>
        <p:nvSpPr>
          <p:cNvPr id="37" name="TextBox 36"/>
          <p:cNvSpPr txBox="1"/>
          <p:nvPr/>
        </p:nvSpPr>
        <p:spPr>
          <a:xfrm>
            <a:off x="6263640" y="2159000"/>
            <a:ext cx="1463040" cy="184666"/>
          </a:xfrm>
          <a:prstGeom prst="rect">
            <a:avLst/>
          </a:prstGeom>
          <a:noFill/>
        </p:spPr>
        <p:txBody>
          <a:bodyPr wrap="square" lIns="0" tIns="0" rIns="0" bIns="0" anchor="t">
            <a:spAutoFit/>
          </a:bodyPr>
          <a:lstStyle/>
          <a:p>
            <a:pPr algn="l"/>
            <a:r>
              <a:rPr lang="fr-FR" sz="1200" b="1" i="0">
                <a:solidFill>
                  <a:srgbClr val="328088"/>
                </a:solidFill>
                <a:latin typeface="Calibri"/>
              </a:rPr>
              <a:t>14 h 00 – 14 h </a:t>
            </a:r>
            <a:r>
              <a:rPr lang="fr-FR" sz="1200" b="1">
                <a:solidFill>
                  <a:srgbClr val="328088"/>
                </a:solidFill>
                <a:latin typeface="Calibri"/>
              </a:rPr>
              <a:t>45</a:t>
            </a:r>
            <a:endParaRPr lang="fr-FR" sz="1200" b="1" i="0">
              <a:solidFill>
                <a:srgbClr val="328088"/>
              </a:solidFill>
              <a:latin typeface="Calibri"/>
            </a:endParaRPr>
          </a:p>
        </p:txBody>
      </p:sp>
      <p:sp>
        <p:nvSpPr>
          <p:cNvPr id="38" name="TextBox 37"/>
          <p:cNvSpPr txBox="1"/>
          <p:nvPr/>
        </p:nvSpPr>
        <p:spPr>
          <a:xfrm>
            <a:off x="7772400" y="2159000"/>
            <a:ext cx="3337560" cy="184666"/>
          </a:xfrm>
          <a:prstGeom prst="rect">
            <a:avLst/>
          </a:prstGeom>
          <a:noFill/>
        </p:spPr>
        <p:txBody>
          <a:bodyPr wrap="square" lIns="0" tIns="0" rIns="0" bIns="0" anchor="t">
            <a:spAutoFit/>
          </a:bodyPr>
          <a:lstStyle/>
          <a:p>
            <a:pPr algn="l"/>
            <a:r>
              <a:rPr lang="fr-FR" sz="1200" b="0" i="0">
                <a:solidFill>
                  <a:srgbClr val="1A1A1A"/>
                </a:solidFill>
                <a:latin typeface="Calibri"/>
              </a:rPr>
              <a:t>Module — Cadre national, PPR littoral, FPRNM</a:t>
            </a:r>
          </a:p>
        </p:txBody>
      </p:sp>
      <p:sp>
        <p:nvSpPr>
          <p:cNvPr id="39" name="TextBox 38"/>
          <p:cNvSpPr txBox="1"/>
          <p:nvPr/>
        </p:nvSpPr>
        <p:spPr>
          <a:xfrm>
            <a:off x="11155680" y="2159000"/>
            <a:ext cx="640080" cy="161583"/>
          </a:xfrm>
          <a:prstGeom prst="rect">
            <a:avLst/>
          </a:prstGeom>
          <a:noFill/>
        </p:spPr>
        <p:txBody>
          <a:bodyPr wrap="square" lIns="0" tIns="0" rIns="0" bIns="0" anchor="t">
            <a:spAutoFit/>
          </a:bodyPr>
          <a:lstStyle/>
          <a:p>
            <a:pPr algn="r"/>
            <a:r>
              <a:rPr lang="fr-FR" sz="1050" b="0" i="1">
                <a:solidFill>
                  <a:srgbClr val="404040"/>
                </a:solidFill>
                <a:latin typeface="Calibri"/>
              </a:rPr>
              <a:t>45 min</a:t>
            </a:r>
          </a:p>
        </p:txBody>
      </p:sp>
      <p:sp>
        <p:nvSpPr>
          <p:cNvPr id="40" name="TextBox 39"/>
          <p:cNvSpPr txBox="1"/>
          <p:nvPr/>
        </p:nvSpPr>
        <p:spPr>
          <a:xfrm>
            <a:off x="6263640" y="2543048"/>
            <a:ext cx="1463040" cy="184666"/>
          </a:xfrm>
          <a:prstGeom prst="rect">
            <a:avLst/>
          </a:prstGeom>
          <a:noFill/>
        </p:spPr>
        <p:txBody>
          <a:bodyPr wrap="square" lIns="0" tIns="0" rIns="0" bIns="0" anchor="t">
            <a:spAutoFit/>
          </a:bodyPr>
          <a:lstStyle/>
          <a:p>
            <a:pPr algn="l"/>
            <a:r>
              <a:rPr lang="fr-FR" sz="1200" b="1" i="0">
                <a:solidFill>
                  <a:srgbClr val="328088"/>
                </a:solidFill>
                <a:latin typeface="Calibri"/>
              </a:rPr>
              <a:t>14 h </a:t>
            </a:r>
            <a:r>
              <a:rPr lang="fr-FR" sz="1200" b="1">
                <a:solidFill>
                  <a:srgbClr val="328088"/>
                </a:solidFill>
                <a:latin typeface="Calibri"/>
              </a:rPr>
              <a:t>45</a:t>
            </a:r>
            <a:r>
              <a:rPr lang="fr-FR" sz="1200" b="1" i="0">
                <a:solidFill>
                  <a:srgbClr val="328088"/>
                </a:solidFill>
                <a:latin typeface="Calibri"/>
              </a:rPr>
              <a:t> – 15 h </a:t>
            </a:r>
            <a:r>
              <a:rPr lang="fr-FR" sz="1200" b="1">
                <a:solidFill>
                  <a:srgbClr val="328088"/>
                </a:solidFill>
                <a:latin typeface="Calibri"/>
              </a:rPr>
              <a:t>30</a:t>
            </a:r>
            <a:endParaRPr lang="fr-FR" sz="1200" b="1" i="0">
              <a:solidFill>
                <a:srgbClr val="328088"/>
              </a:solidFill>
              <a:latin typeface="Calibri"/>
            </a:endParaRPr>
          </a:p>
        </p:txBody>
      </p:sp>
      <p:sp>
        <p:nvSpPr>
          <p:cNvPr id="41" name="TextBox 40"/>
          <p:cNvSpPr txBox="1"/>
          <p:nvPr/>
        </p:nvSpPr>
        <p:spPr>
          <a:xfrm>
            <a:off x="7772400" y="2543048"/>
            <a:ext cx="3337560" cy="184666"/>
          </a:xfrm>
          <a:prstGeom prst="rect">
            <a:avLst/>
          </a:prstGeom>
          <a:noFill/>
        </p:spPr>
        <p:txBody>
          <a:bodyPr wrap="square" lIns="0" tIns="0" rIns="0" bIns="0" anchor="t">
            <a:spAutoFit/>
          </a:bodyPr>
          <a:lstStyle/>
          <a:p>
            <a:pPr algn="l"/>
            <a:r>
              <a:rPr lang="fr-FR" sz="1200" b="0" i="0">
                <a:solidFill>
                  <a:srgbClr val="1A1A1A"/>
                </a:solidFill>
                <a:latin typeface="Calibri"/>
              </a:rPr>
              <a:t>Module — Apports rapport Alpes (6 axes + Boussole)</a:t>
            </a:r>
          </a:p>
        </p:txBody>
      </p:sp>
      <p:sp>
        <p:nvSpPr>
          <p:cNvPr id="42" name="TextBox 41"/>
          <p:cNvSpPr txBox="1"/>
          <p:nvPr/>
        </p:nvSpPr>
        <p:spPr>
          <a:xfrm>
            <a:off x="11155680" y="2543048"/>
            <a:ext cx="640080" cy="161583"/>
          </a:xfrm>
          <a:prstGeom prst="rect">
            <a:avLst/>
          </a:prstGeom>
          <a:noFill/>
        </p:spPr>
        <p:txBody>
          <a:bodyPr wrap="square" lIns="0" tIns="0" rIns="0" bIns="0" anchor="t">
            <a:spAutoFit/>
          </a:bodyPr>
          <a:lstStyle/>
          <a:p>
            <a:pPr algn="r"/>
            <a:r>
              <a:rPr lang="fr-FR" sz="1050" b="0" i="1">
                <a:solidFill>
                  <a:srgbClr val="404040"/>
                </a:solidFill>
                <a:latin typeface="Calibri"/>
              </a:rPr>
              <a:t>45 min</a:t>
            </a:r>
          </a:p>
        </p:txBody>
      </p:sp>
      <p:sp>
        <p:nvSpPr>
          <p:cNvPr id="46" name="Rectangle 45"/>
          <p:cNvSpPr/>
          <p:nvPr/>
        </p:nvSpPr>
        <p:spPr>
          <a:xfrm>
            <a:off x="6217920" y="2845943"/>
            <a:ext cx="5577840" cy="365760"/>
          </a:xfrm>
          <a:prstGeom prst="rect">
            <a:avLst/>
          </a:prstGeom>
          <a:solidFill>
            <a:srgbClr val="FCE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000"/>
          </a:p>
        </p:txBody>
      </p:sp>
      <p:sp>
        <p:nvSpPr>
          <p:cNvPr id="47" name="TextBox 46"/>
          <p:cNvSpPr txBox="1"/>
          <p:nvPr/>
        </p:nvSpPr>
        <p:spPr>
          <a:xfrm>
            <a:off x="6263640" y="2882519"/>
            <a:ext cx="1463040" cy="184666"/>
          </a:xfrm>
          <a:prstGeom prst="rect">
            <a:avLst/>
          </a:prstGeom>
          <a:noFill/>
        </p:spPr>
        <p:txBody>
          <a:bodyPr wrap="square" lIns="0" tIns="0" rIns="0" bIns="0" anchor="t">
            <a:spAutoFit/>
          </a:bodyPr>
          <a:lstStyle/>
          <a:p>
            <a:pPr algn="l"/>
            <a:r>
              <a:rPr lang="fr-FR" sz="1200" b="1" i="0">
                <a:solidFill>
                  <a:srgbClr val="E86E55"/>
                </a:solidFill>
                <a:latin typeface="Calibri"/>
              </a:rPr>
              <a:t>15 h 30 – 16 h 30</a:t>
            </a:r>
          </a:p>
        </p:txBody>
      </p:sp>
      <p:sp>
        <p:nvSpPr>
          <p:cNvPr id="48" name="TextBox 47"/>
          <p:cNvSpPr txBox="1"/>
          <p:nvPr/>
        </p:nvSpPr>
        <p:spPr>
          <a:xfrm>
            <a:off x="7772400" y="2882519"/>
            <a:ext cx="3337560" cy="369332"/>
          </a:xfrm>
          <a:prstGeom prst="rect">
            <a:avLst/>
          </a:prstGeom>
          <a:noFill/>
        </p:spPr>
        <p:txBody>
          <a:bodyPr wrap="square" lIns="0" tIns="0" rIns="0" bIns="0" anchor="t">
            <a:spAutoFit/>
          </a:bodyPr>
          <a:lstStyle/>
          <a:p>
            <a:pPr algn="l"/>
            <a:r>
              <a:rPr lang="fr-FR" sz="1200" b="1" i="0">
                <a:solidFill>
                  <a:srgbClr val="1A1A1A"/>
                </a:solidFill>
                <a:latin typeface="Calibri"/>
              </a:rPr>
              <a:t>Étude de cas n°2 — Stratégie en 5 groupes différenciés</a:t>
            </a:r>
          </a:p>
        </p:txBody>
      </p:sp>
      <p:sp>
        <p:nvSpPr>
          <p:cNvPr id="49" name="TextBox 48"/>
          <p:cNvSpPr txBox="1"/>
          <p:nvPr/>
        </p:nvSpPr>
        <p:spPr>
          <a:xfrm>
            <a:off x="11155680" y="2882519"/>
            <a:ext cx="640080" cy="161583"/>
          </a:xfrm>
          <a:prstGeom prst="rect">
            <a:avLst/>
          </a:prstGeom>
          <a:noFill/>
        </p:spPr>
        <p:txBody>
          <a:bodyPr wrap="square" lIns="0" tIns="0" rIns="0" bIns="0" anchor="t">
            <a:spAutoFit/>
          </a:bodyPr>
          <a:lstStyle/>
          <a:p>
            <a:pPr algn="r"/>
            <a:r>
              <a:rPr lang="fr-FR" sz="1050" b="0" i="1">
                <a:solidFill>
                  <a:srgbClr val="404040"/>
                </a:solidFill>
                <a:latin typeface="Calibri"/>
              </a:rPr>
              <a:t>1 h 00</a:t>
            </a:r>
          </a:p>
        </p:txBody>
      </p:sp>
      <p:sp>
        <p:nvSpPr>
          <p:cNvPr id="50" name="Rectangle 49"/>
          <p:cNvSpPr/>
          <p:nvPr/>
        </p:nvSpPr>
        <p:spPr>
          <a:xfrm>
            <a:off x="6217920" y="3229991"/>
            <a:ext cx="5577840" cy="365760"/>
          </a:xfrm>
          <a:prstGeom prst="rect">
            <a:avLst/>
          </a:prstGeom>
          <a:solidFill>
            <a:srgbClr val="FCE8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000"/>
          </a:p>
        </p:txBody>
      </p:sp>
      <p:sp>
        <p:nvSpPr>
          <p:cNvPr id="51" name="TextBox 50"/>
          <p:cNvSpPr txBox="1"/>
          <p:nvPr/>
        </p:nvSpPr>
        <p:spPr>
          <a:xfrm>
            <a:off x="6263640" y="3266567"/>
            <a:ext cx="1463040" cy="184666"/>
          </a:xfrm>
          <a:prstGeom prst="rect">
            <a:avLst/>
          </a:prstGeom>
          <a:noFill/>
        </p:spPr>
        <p:txBody>
          <a:bodyPr wrap="square" lIns="0" tIns="0" rIns="0" bIns="0" anchor="t">
            <a:spAutoFit/>
          </a:bodyPr>
          <a:lstStyle/>
          <a:p>
            <a:pPr algn="l"/>
            <a:r>
              <a:rPr lang="fr-FR" sz="1200" b="1" i="0">
                <a:solidFill>
                  <a:srgbClr val="E86E55"/>
                </a:solidFill>
                <a:latin typeface="Calibri"/>
              </a:rPr>
              <a:t>16 h 30 – 17 h 00</a:t>
            </a:r>
          </a:p>
        </p:txBody>
      </p:sp>
      <p:sp>
        <p:nvSpPr>
          <p:cNvPr id="52" name="TextBox 51"/>
          <p:cNvSpPr txBox="1"/>
          <p:nvPr/>
        </p:nvSpPr>
        <p:spPr>
          <a:xfrm>
            <a:off x="7772400" y="3266567"/>
            <a:ext cx="3337560" cy="184666"/>
          </a:xfrm>
          <a:prstGeom prst="rect">
            <a:avLst/>
          </a:prstGeom>
          <a:noFill/>
        </p:spPr>
        <p:txBody>
          <a:bodyPr wrap="square" lIns="0" tIns="0" rIns="0" bIns="0" anchor="t">
            <a:spAutoFit/>
          </a:bodyPr>
          <a:lstStyle/>
          <a:p>
            <a:pPr algn="l"/>
            <a:r>
              <a:rPr lang="fr-FR" sz="1200" b="1" i="0">
                <a:solidFill>
                  <a:srgbClr val="1A1A1A"/>
                </a:solidFill>
                <a:latin typeface="Calibri"/>
              </a:rPr>
              <a:t>Restitution croisée + synthèse + clôture</a:t>
            </a:r>
          </a:p>
        </p:txBody>
      </p:sp>
      <p:sp>
        <p:nvSpPr>
          <p:cNvPr id="53" name="TextBox 52"/>
          <p:cNvSpPr txBox="1"/>
          <p:nvPr/>
        </p:nvSpPr>
        <p:spPr>
          <a:xfrm>
            <a:off x="11155680" y="3266567"/>
            <a:ext cx="640080" cy="161583"/>
          </a:xfrm>
          <a:prstGeom prst="rect">
            <a:avLst/>
          </a:prstGeom>
          <a:noFill/>
        </p:spPr>
        <p:txBody>
          <a:bodyPr wrap="square" lIns="0" tIns="0" rIns="0" bIns="0" anchor="t">
            <a:spAutoFit/>
          </a:bodyPr>
          <a:lstStyle/>
          <a:p>
            <a:pPr algn="r"/>
            <a:r>
              <a:rPr lang="fr-FR" sz="1050" b="0" i="1">
                <a:solidFill>
                  <a:srgbClr val="404040"/>
                </a:solidFill>
                <a:latin typeface="Calibri"/>
              </a:rPr>
              <a:t>30 min</a:t>
            </a:r>
          </a:p>
        </p:txBody>
      </p:sp>
      <p:sp>
        <p:nvSpPr>
          <p:cNvPr id="54" name="Rectangle 53"/>
          <p:cNvSpPr/>
          <p:nvPr/>
        </p:nvSpPr>
        <p:spPr>
          <a:xfrm>
            <a:off x="365760" y="5852160"/>
            <a:ext cx="11430000" cy="50292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55" name="TextBox 54"/>
          <p:cNvSpPr txBox="1"/>
          <p:nvPr/>
        </p:nvSpPr>
        <p:spPr>
          <a:xfrm>
            <a:off x="548640" y="6018981"/>
            <a:ext cx="11247120" cy="169277"/>
          </a:xfrm>
          <a:prstGeom prst="rect">
            <a:avLst/>
          </a:prstGeom>
          <a:noFill/>
        </p:spPr>
        <p:txBody>
          <a:bodyPr wrap="square" lIns="0" tIns="0" rIns="0" bIns="0" anchor="ctr">
            <a:spAutoFit/>
          </a:bodyPr>
          <a:lstStyle/>
          <a:p>
            <a:pPr algn="l"/>
            <a:r>
              <a:rPr lang="fr-FR" sz="1100" b="0" i="1">
                <a:solidFill>
                  <a:srgbClr val="1A1A1A"/>
                </a:solidFill>
                <a:latin typeface="Calibri"/>
              </a:rPr>
              <a:t>Les blocs orange = travail collectif sur le territoire fictif d'Anse-de-Goulven, en 5 groupes différenciés.</a:t>
            </a:r>
          </a:p>
        </p:txBody>
      </p:sp>
      <p:sp>
        <p:nvSpPr>
          <p:cNvPr id="3" name="Espace réservé du numéro de diapositive 2">
            <a:extLst>
              <a:ext uri="{FF2B5EF4-FFF2-40B4-BE49-F238E27FC236}">
                <a16:creationId xmlns:a16="http://schemas.microsoft.com/office/drawing/2014/main" id="{3E5A326A-384A-4A8B-8140-D1D727F95B81}"/>
              </a:ext>
            </a:extLst>
          </p:cNvPr>
          <p:cNvSpPr>
            <a:spLocks noGrp="1"/>
          </p:cNvSpPr>
          <p:nvPr>
            <p:ph type="sldNum" sz="quarter" idx="4"/>
          </p:nvPr>
        </p:nvSpPr>
        <p:spPr/>
        <p:txBody>
          <a:bodyPr/>
          <a:lstStyle/>
          <a:p>
            <a:fld id="{9981E6DC-ACA4-4CC4-B142-EC9DBA1C6CBA}" type="slidenum">
              <a:rPr lang="en-US" smtClean="0"/>
              <a:pPr/>
              <a:t>2</a:t>
            </a:fld>
            <a:endParaRPr lang="en-US" dirty="0"/>
          </a:p>
        </p:txBody>
      </p:sp>
      <p:sp>
        <p:nvSpPr>
          <p:cNvPr id="56" name="ZoneTexte 55">
            <a:extLst>
              <a:ext uri="{FF2B5EF4-FFF2-40B4-BE49-F238E27FC236}">
                <a16:creationId xmlns:a16="http://schemas.microsoft.com/office/drawing/2014/main" id="{C51E340B-431B-454A-8B8E-8CB725088D9F}"/>
              </a:ext>
            </a:extLst>
          </p:cNvPr>
          <p:cNvSpPr txBox="1"/>
          <p:nvPr/>
        </p:nvSpPr>
        <p:spPr>
          <a:xfrm>
            <a:off x="6559172" y="5915699"/>
            <a:ext cx="3252093" cy="369332"/>
          </a:xfrm>
          <a:prstGeom prst="rect">
            <a:avLst/>
          </a:prstGeom>
          <a:noFill/>
        </p:spPr>
        <p:txBody>
          <a:bodyPr wrap="square">
            <a:spAutoFit/>
          </a:bodyPr>
          <a:lstStyle/>
          <a:p>
            <a:r>
              <a:rPr lang="fr-FR" dirty="0">
                <a:solidFill>
                  <a:schemeClr val="accent6">
                    <a:lumMod val="75000"/>
                  </a:schemeClr>
                </a:solidFill>
              </a:rPr>
              <a:t>Support </a:t>
            </a:r>
            <a:r>
              <a:rPr lang="fr-FR" dirty="0">
                <a:solidFill>
                  <a:schemeClr val="accent6">
                    <a:lumMod val="75000"/>
                  </a:schemeClr>
                </a:solidFill>
                <a:sym typeface="Wingdings" panose="05000000000000000000" pitchFamily="2" charset="2"/>
              </a:rPr>
              <a:t> </a:t>
            </a:r>
            <a:r>
              <a:rPr lang="fr-FR" dirty="0">
                <a:solidFill>
                  <a:schemeClr val="accent6">
                    <a:lumMod val="75000"/>
                  </a:schemeClr>
                </a:solidFill>
              </a:rPr>
              <a:t>http://bit.ly/4tFemY8</a:t>
            </a:r>
          </a:p>
        </p:txBody>
      </p:sp>
      <p:pic>
        <p:nvPicPr>
          <p:cNvPr id="10" name="Image 9">
            <a:extLst>
              <a:ext uri="{FF2B5EF4-FFF2-40B4-BE49-F238E27FC236}">
                <a16:creationId xmlns:a16="http://schemas.microsoft.com/office/drawing/2014/main" id="{3B6AE631-DFC0-429F-ABED-BA5870B6AB67}"/>
              </a:ext>
            </a:extLst>
          </p:cNvPr>
          <p:cNvPicPr>
            <a:picLocks noChangeAspect="1"/>
          </p:cNvPicPr>
          <p:nvPr/>
        </p:nvPicPr>
        <p:blipFill>
          <a:blip r:embed="rId2"/>
          <a:stretch>
            <a:fillRect/>
          </a:stretch>
        </p:blipFill>
        <p:spPr>
          <a:xfrm>
            <a:off x="9811266" y="4379699"/>
            <a:ext cx="1999734" cy="199973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Objectifs pédagogiques de la journée</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1188720"/>
            <a:ext cx="11247120" cy="230832"/>
          </a:xfrm>
          <a:prstGeom prst="rect">
            <a:avLst/>
          </a:prstGeom>
          <a:noFill/>
        </p:spPr>
        <p:txBody>
          <a:bodyPr wrap="square" lIns="0" tIns="0" rIns="0" bIns="0" anchor="t">
            <a:spAutoFit/>
          </a:bodyPr>
          <a:lstStyle/>
          <a:p>
            <a:pPr algn="l"/>
            <a:r>
              <a:rPr lang="fr-FR" sz="1500" b="0" i="1">
                <a:solidFill>
                  <a:srgbClr val="404040"/>
                </a:solidFill>
                <a:latin typeface="Calibri"/>
              </a:rPr>
              <a:t>À l'issue de la formation, chacun doit être en mesure de…</a:t>
            </a:r>
          </a:p>
        </p:txBody>
      </p:sp>
      <p:sp>
        <p:nvSpPr>
          <p:cNvPr id="12" name="Oval 11"/>
          <p:cNvSpPr/>
          <p:nvPr/>
        </p:nvSpPr>
        <p:spPr>
          <a:xfrm>
            <a:off x="548640" y="1783080"/>
            <a:ext cx="548640" cy="548640"/>
          </a:xfrm>
          <a:prstGeom prst="ellipse">
            <a:avLst/>
          </a:prstGeom>
          <a:solidFill>
            <a:srgbClr val="3280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3" name="TextBox 12"/>
          <p:cNvSpPr txBox="1"/>
          <p:nvPr/>
        </p:nvSpPr>
        <p:spPr>
          <a:xfrm>
            <a:off x="548640" y="1949678"/>
            <a:ext cx="548640" cy="215444"/>
          </a:xfrm>
          <a:prstGeom prst="rect">
            <a:avLst/>
          </a:prstGeom>
          <a:noFill/>
        </p:spPr>
        <p:txBody>
          <a:bodyPr wrap="square" lIns="0" tIns="0" rIns="0" bIns="0" anchor="ctr">
            <a:spAutoFit/>
          </a:bodyPr>
          <a:lstStyle/>
          <a:p>
            <a:pPr algn="ctr"/>
            <a:r>
              <a:rPr lang="fr-FR" sz="1400" b="1" i="0">
                <a:solidFill>
                  <a:srgbClr val="FFFFFF"/>
                </a:solidFill>
                <a:latin typeface="Calibri"/>
              </a:rPr>
              <a:t>01</a:t>
            </a:r>
          </a:p>
        </p:txBody>
      </p:sp>
      <p:sp>
        <p:nvSpPr>
          <p:cNvPr id="14" name="TextBox 13"/>
          <p:cNvSpPr txBox="1"/>
          <p:nvPr/>
        </p:nvSpPr>
        <p:spPr>
          <a:xfrm>
            <a:off x="1325880" y="1941984"/>
            <a:ext cx="1828800" cy="230832"/>
          </a:xfrm>
          <a:prstGeom prst="rect">
            <a:avLst/>
          </a:prstGeom>
          <a:noFill/>
        </p:spPr>
        <p:txBody>
          <a:bodyPr wrap="square" lIns="0" tIns="0" rIns="0" bIns="0" anchor="ctr">
            <a:spAutoFit/>
          </a:bodyPr>
          <a:lstStyle/>
          <a:p>
            <a:pPr algn="l"/>
            <a:r>
              <a:rPr lang="fr-FR" sz="1500" b="1" i="0">
                <a:solidFill>
                  <a:srgbClr val="328088"/>
                </a:solidFill>
                <a:latin typeface="Calibri"/>
              </a:rPr>
              <a:t>Comprendre</a:t>
            </a:r>
          </a:p>
        </p:txBody>
      </p:sp>
      <p:sp>
        <p:nvSpPr>
          <p:cNvPr id="15" name="TextBox 14"/>
          <p:cNvSpPr txBox="1"/>
          <p:nvPr/>
        </p:nvSpPr>
        <p:spPr>
          <a:xfrm>
            <a:off x="3200400" y="1957372"/>
            <a:ext cx="8595360" cy="200055"/>
          </a:xfrm>
          <a:prstGeom prst="rect">
            <a:avLst/>
          </a:prstGeom>
          <a:noFill/>
        </p:spPr>
        <p:txBody>
          <a:bodyPr wrap="square" lIns="0" tIns="0" rIns="0" bIns="0" anchor="ctr">
            <a:spAutoFit/>
          </a:bodyPr>
          <a:lstStyle/>
          <a:p>
            <a:pPr algn="l"/>
            <a:r>
              <a:rPr lang="fr-FR" sz="1300" b="0" i="0">
                <a:solidFill>
                  <a:srgbClr val="1A1A1A"/>
                </a:solidFill>
                <a:latin typeface="Calibri"/>
              </a:rPr>
              <a:t>le cadre national de la prévention des risques naturels littoraux et son évolution récente</a:t>
            </a:r>
          </a:p>
        </p:txBody>
      </p:sp>
      <p:sp>
        <p:nvSpPr>
          <p:cNvPr id="16" name="Oval 15"/>
          <p:cNvSpPr/>
          <p:nvPr/>
        </p:nvSpPr>
        <p:spPr>
          <a:xfrm>
            <a:off x="548640" y="2496312"/>
            <a:ext cx="548640" cy="548640"/>
          </a:xfrm>
          <a:prstGeom prst="ellipse">
            <a:avLst/>
          </a:prstGeom>
          <a:solidFill>
            <a:srgbClr val="3280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7" name="TextBox 16"/>
          <p:cNvSpPr txBox="1"/>
          <p:nvPr/>
        </p:nvSpPr>
        <p:spPr>
          <a:xfrm>
            <a:off x="548640" y="2662910"/>
            <a:ext cx="548640" cy="215444"/>
          </a:xfrm>
          <a:prstGeom prst="rect">
            <a:avLst/>
          </a:prstGeom>
          <a:noFill/>
        </p:spPr>
        <p:txBody>
          <a:bodyPr wrap="square" lIns="0" tIns="0" rIns="0" bIns="0" anchor="ctr">
            <a:spAutoFit/>
          </a:bodyPr>
          <a:lstStyle/>
          <a:p>
            <a:pPr algn="ctr"/>
            <a:r>
              <a:rPr lang="fr-FR" sz="1400" b="1" i="0">
                <a:solidFill>
                  <a:srgbClr val="FFFFFF"/>
                </a:solidFill>
                <a:latin typeface="Calibri"/>
              </a:rPr>
              <a:t>02</a:t>
            </a:r>
          </a:p>
        </p:txBody>
      </p:sp>
      <p:sp>
        <p:nvSpPr>
          <p:cNvPr id="18" name="TextBox 17"/>
          <p:cNvSpPr txBox="1"/>
          <p:nvPr/>
        </p:nvSpPr>
        <p:spPr>
          <a:xfrm>
            <a:off x="1325880" y="2655216"/>
            <a:ext cx="1828800" cy="230832"/>
          </a:xfrm>
          <a:prstGeom prst="rect">
            <a:avLst/>
          </a:prstGeom>
          <a:noFill/>
        </p:spPr>
        <p:txBody>
          <a:bodyPr wrap="square" lIns="0" tIns="0" rIns="0" bIns="0" anchor="ctr">
            <a:spAutoFit/>
          </a:bodyPr>
          <a:lstStyle/>
          <a:p>
            <a:pPr algn="l"/>
            <a:r>
              <a:rPr lang="fr-FR" sz="1500" b="1" i="0">
                <a:solidFill>
                  <a:srgbClr val="328088"/>
                </a:solidFill>
                <a:latin typeface="Calibri"/>
              </a:rPr>
              <a:t>Distinguer</a:t>
            </a:r>
          </a:p>
        </p:txBody>
      </p:sp>
      <p:sp>
        <p:nvSpPr>
          <p:cNvPr id="19" name="TextBox 18"/>
          <p:cNvSpPr txBox="1"/>
          <p:nvPr/>
        </p:nvSpPr>
        <p:spPr>
          <a:xfrm>
            <a:off x="3200400" y="2670604"/>
            <a:ext cx="8595360" cy="200055"/>
          </a:xfrm>
          <a:prstGeom prst="rect">
            <a:avLst/>
          </a:prstGeom>
          <a:noFill/>
        </p:spPr>
        <p:txBody>
          <a:bodyPr wrap="square" lIns="0" tIns="0" rIns="0" bIns="0" anchor="ctr">
            <a:spAutoFit/>
          </a:bodyPr>
          <a:lstStyle/>
          <a:p>
            <a:pPr algn="l"/>
            <a:r>
              <a:rPr lang="fr-FR" sz="1300" b="0" i="0">
                <a:solidFill>
                  <a:srgbClr val="1A1A1A"/>
                </a:solidFill>
                <a:latin typeface="Calibri"/>
              </a:rPr>
              <a:t>les notions clés : aléa, exposition, vulnérabilité, enjeu, risque, résilience</a:t>
            </a:r>
          </a:p>
        </p:txBody>
      </p:sp>
      <p:sp>
        <p:nvSpPr>
          <p:cNvPr id="20" name="Oval 19"/>
          <p:cNvSpPr/>
          <p:nvPr/>
        </p:nvSpPr>
        <p:spPr>
          <a:xfrm>
            <a:off x="548640" y="3209544"/>
            <a:ext cx="548640" cy="548640"/>
          </a:xfrm>
          <a:prstGeom prst="ellipse">
            <a:avLst/>
          </a:prstGeom>
          <a:solidFill>
            <a:srgbClr val="3280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1" name="TextBox 20"/>
          <p:cNvSpPr txBox="1"/>
          <p:nvPr/>
        </p:nvSpPr>
        <p:spPr>
          <a:xfrm>
            <a:off x="548640" y="3376142"/>
            <a:ext cx="548640" cy="215444"/>
          </a:xfrm>
          <a:prstGeom prst="rect">
            <a:avLst/>
          </a:prstGeom>
          <a:noFill/>
        </p:spPr>
        <p:txBody>
          <a:bodyPr wrap="square" lIns="0" tIns="0" rIns="0" bIns="0" anchor="ctr">
            <a:spAutoFit/>
          </a:bodyPr>
          <a:lstStyle/>
          <a:p>
            <a:pPr algn="ctr"/>
            <a:r>
              <a:rPr lang="fr-FR" sz="1400" b="1" i="0">
                <a:solidFill>
                  <a:srgbClr val="FFFFFF"/>
                </a:solidFill>
                <a:latin typeface="Calibri"/>
              </a:rPr>
              <a:t>03</a:t>
            </a:r>
          </a:p>
        </p:txBody>
      </p:sp>
      <p:sp>
        <p:nvSpPr>
          <p:cNvPr id="22" name="TextBox 21"/>
          <p:cNvSpPr txBox="1"/>
          <p:nvPr/>
        </p:nvSpPr>
        <p:spPr>
          <a:xfrm>
            <a:off x="1325880" y="3368447"/>
            <a:ext cx="1828800" cy="230832"/>
          </a:xfrm>
          <a:prstGeom prst="rect">
            <a:avLst/>
          </a:prstGeom>
          <a:noFill/>
        </p:spPr>
        <p:txBody>
          <a:bodyPr wrap="square" lIns="0" tIns="0" rIns="0" bIns="0" anchor="ctr">
            <a:spAutoFit/>
          </a:bodyPr>
          <a:lstStyle/>
          <a:p>
            <a:pPr algn="l"/>
            <a:r>
              <a:rPr lang="fr-FR" sz="1500" b="1" i="0">
                <a:solidFill>
                  <a:srgbClr val="328088"/>
                </a:solidFill>
                <a:latin typeface="Calibri"/>
              </a:rPr>
              <a:t>S'approprier</a:t>
            </a:r>
          </a:p>
        </p:txBody>
      </p:sp>
      <p:sp>
        <p:nvSpPr>
          <p:cNvPr id="23" name="TextBox 22"/>
          <p:cNvSpPr txBox="1"/>
          <p:nvPr/>
        </p:nvSpPr>
        <p:spPr>
          <a:xfrm>
            <a:off x="3200400" y="3383835"/>
            <a:ext cx="8595360" cy="200055"/>
          </a:xfrm>
          <a:prstGeom prst="rect">
            <a:avLst/>
          </a:prstGeom>
          <a:noFill/>
        </p:spPr>
        <p:txBody>
          <a:bodyPr wrap="square" lIns="0" tIns="0" rIns="0" bIns="0" anchor="ctr">
            <a:spAutoFit/>
          </a:bodyPr>
          <a:lstStyle/>
          <a:p>
            <a:pPr algn="l"/>
            <a:r>
              <a:rPr lang="fr-FR" sz="1300" b="0" i="0">
                <a:solidFill>
                  <a:srgbClr val="1A1A1A"/>
                </a:solidFill>
                <a:latin typeface="Calibri"/>
              </a:rPr>
              <a:t>les 7 piliers de la prévention et leur déclinaison opérationnelle sur le littoral</a:t>
            </a:r>
          </a:p>
        </p:txBody>
      </p:sp>
      <p:sp>
        <p:nvSpPr>
          <p:cNvPr id="24" name="Oval 23"/>
          <p:cNvSpPr/>
          <p:nvPr/>
        </p:nvSpPr>
        <p:spPr>
          <a:xfrm>
            <a:off x="548640" y="3922776"/>
            <a:ext cx="548640" cy="548640"/>
          </a:xfrm>
          <a:prstGeom prst="ellipse">
            <a:avLst/>
          </a:prstGeom>
          <a:solidFill>
            <a:srgbClr val="3280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5" name="TextBox 24"/>
          <p:cNvSpPr txBox="1"/>
          <p:nvPr/>
        </p:nvSpPr>
        <p:spPr>
          <a:xfrm>
            <a:off x="548640" y="4089374"/>
            <a:ext cx="548640" cy="215444"/>
          </a:xfrm>
          <a:prstGeom prst="rect">
            <a:avLst/>
          </a:prstGeom>
          <a:noFill/>
        </p:spPr>
        <p:txBody>
          <a:bodyPr wrap="square" lIns="0" tIns="0" rIns="0" bIns="0" anchor="ctr">
            <a:spAutoFit/>
          </a:bodyPr>
          <a:lstStyle/>
          <a:p>
            <a:pPr algn="ctr"/>
            <a:r>
              <a:rPr lang="fr-FR" sz="1400" b="1" i="0">
                <a:solidFill>
                  <a:srgbClr val="FFFFFF"/>
                </a:solidFill>
                <a:latin typeface="Calibri"/>
              </a:rPr>
              <a:t>04</a:t>
            </a:r>
          </a:p>
        </p:txBody>
      </p:sp>
      <p:sp>
        <p:nvSpPr>
          <p:cNvPr id="26" name="TextBox 25"/>
          <p:cNvSpPr txBox="1"/>
          <p:nvPr/>
        </p:nvSpPr>
        <p:spPr>
          <a:xfrm>
            <a:off x="1325880" y="4081680"/>
            <a:ext cx="1828800" cy="230832"/>
          </a:xfrm>
          <a:prstGeom prst="rect">
            <a:avLst/>
          </a:prstGeom>
          <a:noFill/>
        </p:spPr>
        <p:txBody>
          <a:bodyPr wrap="square" lIns="0" tIns="0" rIns="0" bIns="0" anchor="ctr">
            <a:spAutoFit/>
          </a:bodyPr>
          <a:lstStyle/>
          <a:p>
            <a:pPr algn="l"/>
            <a:r>
              <a:rPr lang="fr-FR" sz="1500" b="1" i="0">
                <a:solidFill>
                  <a:srgbClr val="328088"/>
                </a:solidFill>
                <a:latin typeface="Calibri"/>
              </a:rPr>
              <a:t>Mobiliser</a:t>
            </a:r>
          </a:p>
        </p:txBody>
      </p:sp>
      <p:sp>
        <p:nvSpPr>
          <p:cNvPr id="27" name="TextBox 26"/>
          <p:cNvSpPr txBox="1"/>
          <p:nvPr/>
        </p:nvSpPr>
        <p:spPr>
          <a:xfrm>
            <a:off x="3200400" y="4097068"/>
            <a:ext cx="8595360" cy="200055"/>
          </a:xfrm>
          <a:prstGeom prst="rect">
            <a:avLst/>
          </a:prstGeom>
          <a:noFill/>
        </p:spPr>
        <p:txBody>
          <a:bodyPr wrap="square" lIns="0" tIns="0" rIns="0" bIns="0" anchor="ctr">
            <a:spAutoFit/>
          </a:bodyPr>
          <a:lstStyle/>
          <a:p>
            <a:pPr algn="l"/>
            <a:r>
              <a:rPr lang="fr-FR" sz="1300" b="0" i="0">
                <a:solidFill>
                  <a:srgbClr val="1A1A1A"/>
                </a:solidFill>
                <a:latin typeface="Calibri"/>
              </a:rPr>
              <a:t>les 6 axes des lignes directrices de résilience pour structurer une démarche territoriale</a:t>
            </a:r>
          </a:p>
        </p:txBody>
      </p:sp>
      <p:sp>
        <p:nvSpPr>
          <p:cNvPr id="28" name="Oval 27"/>
          <p:cNvSpPr/>
          <p:nvPr/>
        </p:nvSpPr>
        <p:spPr>
          <a:xfrm>
            <a:off x="548640" y="4636008"/>
            <a:ext cx="548640" cy="548640"/>
          </a:xfrm>
          <a:prstGeom prst="ellipse">
            <a:avLst/>
          </a:prstGeom>
          <a:solidFill>
            <a:srgbClr val="3280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9" name="TextBox 28"/>
          <p:cNvSpPr txBox="1"/>
          <p:nvPr/>
        </p:nvSpPr>
        <p:spPr>
          <a:xfrm>
            <a:off x="548640" y="4802606"/>
            <a:ext cx="548640" cy="215444"/>
          </a:xfrm>
          <a:prstGeom prst="rect">
            <a:avLst/>
          </a:prstGeom>
          <a:noFill/>
        </p:spPr>
        <p:txBody>
          <a:bodyPr wrap="square" lIns="0" tIns="0" rIns="0" bIns="0" anchor="ctr">
            <a:spAutoFit/>
          </a:bodyPr>
          <a:lstStyle/>
          <a:p>
            <a:pPr algn="ctr"/>
            <a:r>
              <a:rPr lang="fr-FR" sz="1400" b="1" i="0">
                <a:solidFill>
                  <a:srgbClr val="FFFFFF"/>
                </a:solidFill>
                <a:latin typeface="Calibri"/>
              </a:rPr>
              <a:t>05</a:t>
            </a:r>
          </a:p>
        </p:txBody>
      </p:sp>
      <p:sp>
        <p:nvSpPr>
          <p:cNvPr id="30" name="TextBox 29"/>
          <p:cNvSpPr txBox="1"/>
          <p:nvPr/>
        </p:nvSpPr>
        <p:spPr>
          <a:xfrm>
            <a:off x="1325880" y="4794912"/>
            <a:ext cx="1828800" cy="230832"/>
          </a:xfrm>
          <a:prstGeom prst="rect">
            <a:avLst/>
          </a:prstGeom>
          <a:noFill/>
        </p:spPr>
        <p:txBody>
          <a:bodyPr wrap="square" lIns="0" tIns="0" rIns="0" bIns="0" anchor="ctr">
            <a:spAutoFit/>
          </a:bodyPr>
          <a:lstStyle/>
          <a:p>
            <a:pPr algn="l"/>
            <a:r>
              <a:rPr lang="fr-FR" sz="1500" b="1" i="0">
                <a:solidFill>
                  <a:srgbClr val="328088"/>
                </a:solidFill>
                <a:latin typeface="Calibri"/>
              </a:rPr>
              <a:t>Identifier</a:t>
            </a:r>
          </a:p>
        </p:txBody>
      </p:sp>
      <p:sp>
        <p:nvSpPr>
          <p:cNvPr id="31" name="TextBox 30"/>
          <p:cNvSpPr txBox="1"/>
          <p:nvPr/>
        </p:nvSpPr>
        <p:spPr>
          <a:xfrm>
            <a:off x="3200400" y="4810300"/>
            <a:ext cx="8595360" cy="200055"/>
          </a:xfrm>
          <a:prstGeom prst="rect">
            <a:avLst/>
          </a:prstGeom>
          <a:noFill/>
        </p:spPr>
        <p:txBody>
          <a:bodyPr wrap="square" lIns="0" tIns="0" rIns="0" bIns="0" anchor="ctr">
            <a:spAutoFit/>
          </a:bodyPr>
          <a:lstStyle/>
          <a:p>
            <a:pPr algn="l"/>
            <a:r>
              <a:rPr lang="fr-FR" sz="1300" b="0" i="0">
                <a:solidFill>
                  <a:srgbClr val="1A1A1A"/>
                </a:solidFill>
                <a:latin typeface="Calibri"/>
              </a:rPr>
              <a:t>les outils, financements et acteurs disponibles pour accompagner les collectivités</a:t>
            </a:r>
          </a:p>
        </p:txBody>
      </p:sp>
      <p:sp>
        <p:nvSpPr>
          <p:cNvPr id="32" name="Oval 31"/>
          <p:cNvSpPr/>
          <p:nvPr/>
        </p:nvSpPr>
        <p:spPr>
          <a:xfrm>
            <a:off x="548640" y="5349240"/>
            <a:ext cx="548640" cy="548640"/>
          </a:xfrm>
          <a:prstGeom prst="ellipse">
            <a:avLst/>
          </a:prstGeom>
          <a:solidFill>
            <a:srgbClr val="3280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3" name="TextBox 32"/>
          <p:cNvSpPr txBox="1"/>
          <p:nvPr/>
        </p:nvSpPr>
        <p:spPr>
          <a:xfrm>
            <a:off x="548640" y="5515838"/>
            <a:ext cx="548640" cy="215444"/>
          </a:xfrm>
          <a:prstGeom prst="rect">
            <a:avLst/>
          </a:prstGeom>
          <a:noFill/>
        </p:spPr>
        <p:txBody>
          <a:bodyPr wrap="square" lIns="0" tIns="0" rIns="0" bIns="0" anchor="ctr">
            <a:spAutoFit/>
          </a:bodyPr>
          <a:lstStyle/>
          <a:p>
            <a:pPr algn="ctr"/>
            <a:r>
              <a:rPr lang="fr-FR" sz="1400" b="1" i="0">
                <a:solidFill>
                  <a:srgbClr val="FFFFFF"/>
                </a:solidFill>
                <a:latin typeface="Calibri"/>
              </a:rPr>
              <a:t>06</a:t>
            </a:r>
          </a:p>
        </p:txBody>
      </p:sp>
      <p:sp>
        <p:nvSpPr>
          <p:cNvPr id="34" name="TextBox 33"/>
          <p:cNvSpPr txBox="1"/>
          <p:nvPr/>
        </p:nvSpPr>
        <p:spPr>
          <a:xfrm>
            <a:off x="1325880" y="5508144"/>
            <a:ext cx="1828800" cy="230832"/>
          </a:xfrm>
          <a:prstGeom prst="rect">
            <a:avLst/>
          </a:prstGeom>
          <a:noFill/>
        </p:spPr>
        <p:txBody>
          <a:bodyPr wrap="square" lIns="0" tIns="0" rIns="0" bIns="0" anchor="ctr">
            <a:spAutoFit/>
          </a:bodyPr>
          <a:lstStyle/>
          <a:p>
            <a:pPr algn="l"/>
            <a:r>
              <a:rPr lang="fr-FR" sz="1500" b="1" i="0">
                <a:solidFill>
                  <a:srgbClr val="328088"/>
                </a:solidFill>
                <a:latin typeface="Calibri"/>
              </a:rPr>
              <a:t>Pratiquer</a:t>
            </a:r>
          </a:p>
        </p:txBody>
      </p:sp>
      <p:sp>
        <p:nvSpPr>
          <p:cNvPr id="35" name="TextBox 34"/>
          <p:cNvSpPr txBox="1"/>
          <p:nvPr/>
        </p:nvSpPr>
        <p:spPr>
          <a:xfrm>
            <a:off x="3200400" y="5523532"/>
            <a:ext cx="8595360" cy="200055"/>
          </a:xfrm>
          <a:prstGeom prst="rect">
            <a:avLst/>
          </a:prstGeom>
          <a:noFill/>
        </p:spPr>
        <p:txBody>
          <a:bodyPr wrap="square" lIns="0" tIns="0" rIns="0" bIns="0" anchor="ctr">
            <a:spAutoFit/>
          </a:bodyPr>
          <a:lstStyle/>
          <a:p>
            <a:pPr algn="l"/>
            <a:r>
              <a:rPr lang="fr-FR" sz="1300" b="0" i="0">
                <a:solidFill>
                  <a:srgbClr val="1A1A1A"/>
                </a:solidFill>
                <a:latin typeface="Calibri"/>
              </a:rPr>
              <a:t>la logique de jeux d’acteurs sur deux études de cas concrètes en sous-groupes</a:t>
            </a:r>
          </a:p>
        </p:txBody>
      </p:sp>
      <p:sp>
        <p:nvSpPr>
          <p:cNvPr id="3" name="Espace réservé du numéro de diapositive 2">
            <a:extLst>
              <a:ext uri="{FF2B5EF4-FFF2-40B4-BE49-F238E27FC236}">
                <a16:creationId xmlns:a16="http://schemas.microsoft.com/office/drawing/2014/main" id="{9B13A5CA-04BD-4576-811B-DC232062E2ED}"/>
              </a:ext>
            </a:extLst>
          </p:cNvPr>
          <p:cNvSpPr>
            <a:spLocks noGrp="1"/>
          </p:cNvSpPr>
          <p:nvPr>
            <p:ph type="sldNum" sz="quarter" idx="4"/>
          </p:nvPr>
        </p:nvSpPr>
        <p:spPr/>
        <p:txBody>
          <a:bodyPr/>
          <a:lstStyle/>
          <a:p>
            <a:fld id="{9981E6DC-ACA4-4CC4-B142-EC9DBA1C6CBA}"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Tour de table — 30 minutes</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65760" y="1188720"/>
            <a:ext cx="5486400" cy="51206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400"/>
          </a:p>
        </p:txBody>
      </p:sp>
      <p:sp>
        <p:nvSpPr>
          <p:cNvPr id="12" name="TextBox 11"/>
          <p:cNvSpPr txBox="1"/>
          <p:nvPr/>
        </p:nvSpPr>
        <p:spPr>
          <a:xfrm>
            <a:off x="640080" y="1417320"/>
            <a:ext cx="5120640" cy="3606115"/>
          </a:xfrm>
          <a:prstGeom prst="rect">
            <a:avLst/>
          </a:prstGeom>
          <a:noFill/>
        </p:spPr>
        <p:txBody>
          <a:bodyPr wrap="square" lIns="0" tIns="0" rIns="0" bIns="0" anchor="t">
            <a:spAutoFit/>
          </a:bodyPr>
          <a:lstStyle/>
          <a:p>
            <a:pPr algn="l">
              <a:spcAft>
                <a:spcPts val="1800"/>
              </a:spcAft>
            </a:pPr>
            <a:r>
              <a:rPr lang="fr-FR" sz="2800" b="1" i="0">
                <a:solidFill>
                  <a:srgbClr val="1A1A1A"/>
                </a:solidFill>
                <a:latin typeface="Calibri"/>
              </a:rPr>
              <a:t>Présentez-vous en 90 secondes</a:t>
            </a:r>
          </a:p>
          <a:p>
            <a:pPr algn="l">
              <a:spcAft>
                <a:spcPts val="800"/>
              </a:spcAft>
            </a:pPr>
            <a:r>
              <a:rPr lang="fr-FR" b="1" i="0">
                <a:solidFill>
                  <a:srgbClr val="1A1A1A"/>
                </a:solidFill>
                <a:latin typeface="Calibri"/>
              </a:rPr>
              <a:t>Trois questions, dans l'ordre :</a:t>
            </a:r>
          </a:p>
          <a:p>
            <a:pPr algn="l">
              <a:spcAft>
                <a:spcPts val="600"/>
              </a:spcAft>
            </a:pPr>
            <a:r>
              <a:rPr lang="fr-FR" b="0" i="0">
                <a:solidFill>
                  <a:srgbClr val="1A1A1A"/>
                </a:solidFill>
                <a:latin typeface="Calibri"/>
              </a:rPr>
              <a:t>1.  Votre prénom, votre poste, votre territoire</a:t>
            </a:r>
          </a:p>
          <a:p>
            <a:pPr algn="l">
              <a:spcAft>
                <a:spcPts val="600"/>
              </a:spcAft>
            </a:pPr>
            <a:r>
              <a:rPr lang="fr-FR" b="0" i="0">
                <a:solidFill>
                  <a:srgbClr val="1A1A1A"/>
                </a:solidFill>
                <a:latin typeface="Calibri"/>
              </a:rPr>
              <a:t>2.  Un événement naturel récent qui a marqué votre territoire (le vôtre, ou un voisin)</a:t>
            </a:r>
          </a:p>
          <a:p>
            <a:pPr algn="l">
              <a:spcAft>
                <a:spcPts val="1600"/>
              </a:spcAft>
            </a:pPr>
            <a:r>
              <a:rPr lang="fr-FR" b="0" i="0">
                <a:solidFill>
                  <a:srgbClr val="1A1A1A"/>
                </a:solidFill>
                <a:latin typeface="Calibri"/>
              </a:rPr>
              <a:t>3.  Une question que vous voulez voir traitée aujourd'hui</a:t>
            </a:r>
          </a:p>
          <a:p>
            <a:pPr algn="l">
              <a:spcAft>
                <a:spcPts val="400"/>
              </a:spcAft>
            </a:pPr>
            <a:r>
              <a:rPr lang="fr-FR" b="1" i="0">
                <a:solidFill>
                  <a:srgbClr val="328088"/>
                </a:solidFill>
                <a:latin typeface="Calibri"/>
              </a:rPr>
              <a:t>Pourquoi ?</a:t>
            </a:r>
          </a:p>
          <a:p>
            <a:pPr algn="l"/>
            <a:r>
              <a:rPr lang="fr-FR" sz="1600" b="0" i="1">
                <a:solidFill>
                  <a:srgbClr val="404040"/>
                </a:solidFill>
                <a:latin typeface="Calibri"/>
              </a:rPr>
              <a:t>Pour faire connaissance, mais surtout pour collecter les questions vives qui guideront les exemples de la journée.</a:t>
            </a:r>
          </a:p>
        </p:txBody>
      </p:sp>
      <p:sp>
        <p:nvSpPr>
          <p:cNvPr id="13" name="TextBox 12"/>
          <p:cNvSpPr txBox="1"/>
          <p:nvPr/>
        </p:nvSpPr>
        <p:spPr>
          <a:xfrm>
            <a:off x="6172200" y="1188720"/>
            <a:ext cx="5760720" cy="369332"/>
          </a:xfrm>
          <a:prstGeom prst="rect">
            <a:avLst/>
          </a:prstGeom>
          <a:noFill/>
        </p:spPr>
        <p:txBody>
          <a:bodyPr wrap="square" lIns="0" tIns="0" rIns="0" bIns="0" anchor="t">
            <a:spAutoFit/>
          </a:bodyPr>
          <a:lstStyle/>
          <a:p>
            <a:pPr algn="l"/>
            <a:r>
              <a:rPr lang="fr-FR" sz="2400" b="1" i="0">
                <a:solidFill>
                  <a:srgbClr val="328088"/>
                </a:solidFill>
                <a:latin typeface="Calibri"/>
              </a:rPr>
              <a:t>Règles du jeu pour la journée</a:t>
            </a:r>
          </a:p>
        </p:txBody>
      </p:sp>
      <p:sp>
        <p:nvSpPr>
          <p:cNvPr id="14" name="Diamond 13"/>
          <p:cNvSpPr/>
          <p:nvPr/>
        </p:nvSpPr>
        <p:spPr>
          <a:xfrm>
            <a:off x="6263640" y="1874519"/>
            <a:ext cx="182880" cy="182880"/>
          </a:xfrm>
          <a:prstGeom prst="diamond">
            <a:avLst/>
          </a:prstGeom>
          <a:solidFill>
            <a:srgbClr val="3280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000"/>
          </a:p>
        </p:txBody>
      </p:sp>
      <p:sp>
        <p:nvSpPr>
          <p:cNvPr id="15" name="TextBox 14"/>
          <p:cNvSpPr txBox="1"/>
          <p:nvPr/>
        </p:nvSpPr>
        <p:spPr>
          <a:xfrm>
            <a:off x="6583680" y="1783080"/>
            <a:ext cx="5303520" cy="215444"/>
          </a:xfrm>
          <a:prstGeom prst="rect">
            <a:avLst/>
          </a:prstGeom>
          <a:noFill/>
        </p:spPr>
        <p:txBody>
          <a:bodyPr wrap="square" lIns="0" tIns="0" rIns="0" bIns="0" anchor="t">
            <a:spAutoFit/>
          </a:bodyPr>
          <a:lstStyle/>
          <a:p>
            <a:pPr algn="l"/>
            <a:r>
              <a:rPr lang="fr-FR" sz="1400" b="1" i="0">
                <a:solidFill>
                  <a:srgbClr val="1A1A1A"/>
                </a:solidFill>
                <a:latin typeface="Calibri"/>
              </a:rPr>
              <a:t>Personne ne sait tout</a:t>
            </a:r>
          </a:p>
        </p:txBody>
      </p:sp>
      <p:sp>
        <p:nvSpPr>
          <p:cNvPr id="16" name="TextBox 15"/>
          <p:cNvSpPr txBox="1"/>
          <p:nvPr/>
        </p:nvSpPr>
        <p:spPr>
          <a:xfrm>
            <a:off x="6583680" y="2057400"/>
            <a:ext cx="5303520" cy="184666"/>
          </a:xfrm>
          <a:prstGeom prst="rect">
            <a:avLst/>
          </a:prstGeom>
          <a:noFill/>
        </p:spPr>
        <p:txBody>
          <a:bodyPr wrap="square" lIns="0" tIns="0" rIns="0" bIns="0" anchor="t">
            <a:spAutoFit/>
          </a:bodyPr>
          <a:lstStyle/>
          <a:p>
            <a:pPr algn="l"/>
            <a:r>
              <a:rPr lang="fr-FR" sz="1200" b="0" i="1">
                <a:solidFill>
                  <a:srgbClr val="404040"/>
                </a:solidFill>
                <a:latin typeface="Calibri"/>
              </a:rPr>
              <a:t>Personne ne sait rien. Y compris l'animateur.</a:t>
            </a:r>
          </a:p>
        </p:txBody>
      </p:sp>
      <p:sp>
        <p:nvSpPr>
          <p:cNvPr id="17" name="Diamond 16"/>
          <p:cNvSpPr/>
          <p:nvPr/>
        </p:nvSpPr>
        <p:spPr>
          <a:xfrm>
            <a:off x="6263640" y="2651760"/>
            <a:ext cx="182880" cy="182880"/>
          </a:xfrm>
          <a:prstGeom prst="diamond">
            <a:avLst/>
          </a:prstGeom>
          <a:solidFill>
            <a:srgbClr val="3280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000"/>
          </a:p>
        </p:txBody>
      </p:sp>
      <p:sp>
        <p:nvSpPr>
          <p:cNvPr id="18" name="TextBox 17"/>
          <p:cNvSpPr txBox="1"/>
          <p:nvPr/>
        </p:nvSpPr>
        <p:spPr>
          <a:xfrm>
            <a:off x="6583680" y="2560320"/>
            <a:ext cx="5303520" cy="215444"/>
          </a:xfrm>
          <a:prstGeom prst="rect">
            <a:avLst/>
          </a:prstGeom>
          <a:noFill/>
        </p:spPr>
        <p:txBody>
          <a:bodyPr wrap="square" lIns="0" tIns="0" rIns="0" bIns="0" anchor="t">
            <a:spAutoFit/>
          </a:bodyPr>
          <a:lstStyle/>
          <a:p>
            <a:pPr algn="l"/>
            <a:r>
              <a:rPr lang="fr-FR" sz="1400" b="1" i="0">
                <a:solidFill>
                  <a:srgbClr val="1A1A1A"/>
                </a:solidFill>
                <a:latin typeface="Calibri"/>
              </a:rPr>
              <a:t>Pas de question bête</a:t>
            </a:r>
          </a:p>
        </p:txBody>
      </p:sp>
      <p:sp>
        <p:nvSpPr>
          <p:cNvPr id="19" name="TextBox 18"/>
          <p:cNvSpPr txBox="1"/>
          <p:nvPr/>
        </p:nvSpPr>
        <p:spPr>
          <a:xfrm>
            <a:off x="6583680" y="2834639"/>
            <a:ext cx="5303520" cy="184666"/>
          </a:xfrm>
          <a:prstGeom prst="rect">
            <a:avLst/>
          </a:prstGeom>
          <a:noFill/>
        </p:spPr>
        <p:txBody>
          <a:bodyPr wrap="square" lIns="0" tIns="0" rIns="0" bIns="0" anchor="t">
            <a:spAutoFit/>
          </a:bodyPr>
          <a:lstStyle/>
          <a:p>
            <a:pPr algn="l"/>
            <a:r>
              <a:rPr lang="fr-FR" sz="1200" b="0" i="1">
                <a:solidFill>
                  <a:srgbClr val="404040"/>
                </a:solidFill>
                <a:latin typeface="Calibri"/>
              </a:rPr>
              <a:t>Si vous l'avez en tête, d'autres aussi. Posez-la.</a:t>
            </a:r>
          </a:p>
        </p:txBody>
      </p:sp>
      <p:sp>
        <p:nvSpPr>
          <p:cNvPr id="20" name="Diamond 19"/>
          <p:cNvSpPr/>
          <p:nvPr/>
        </p:nvSpPr>
        <p:spPr>
          <a:xfrm>
            <a:off x="6263640" y="3429000"/>
            <a:ext cx="182880" cy="182880"/>
          </a:xfrm>
          <a:prstGeom prst="diamond">
            <a:avLst/>
          </a:prstGeom>
          <a:solidFill>
            <a:srgbClr val="3280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000"/>
          </a:p>
        </p:txBody>
      </p:sp>
      <p:sp>
        <p:nvSpPr>
          <p:cNvPr id="21" name="TextBox 20"/>
          <p:cNvSpPr txBox="1"/>
          <p:nvPr/>
        </p:nvSpPr>
        <p:spPr>
          <a:xfrm>
            <a:off x="6583680" y="3337560"/>
            <a:ext cx="5303520" cy="215444"/>
          </a:xfrm>
          <a:prstGeom prst="rect">
            <a:avLst/>
          </a:prstGeom>
          <a:noFill/>
        </p:spPr>
        <p:txBody>
          <a:bodyPr wrap="square" lIns="0" tIns="0" rIns="0" bIns="0" anchor="t">
            <a:spAutoFit/>
          </a:bodyPr>
          <a:lstStyle/>
          <a:p>
            <a:pPr algn="l"/>
            <a:r>
              <a:rPr lang="fr-FR" sz="1400" b="1" i="0">
                <a:solidFill>
                  <a:srgbClr val="1A1A1A"/>
                </a:solidFill>
                <a:latin typeface="Calibri"/>
              </a:rPr>
              <a:t>L'expérience locale prime</a:t>
            </a:r>
          </a:p>
        </p:txBody>
      </p:sp>
      <p:sp>
        <p:nvSpPr>
          <p:cNvPr id="22" name="TextBox 21"/>
          <p:cNvSpPr txBox="1"/>
          <p:nvPr/>
        </p:nvSpPr>
        <p:spPr>
          <a:xfrm>
            <a:off x="6583680" y="3611879"/>
            <a:ext cx="5303520" cy="184666"/>
          </a:xfrm>
          <a:prstGeom prst="rect">
            <a:avLst/>
          </a:prstGeom>
          <a:noFill/>
        </p:spPr>
        <p:txBody>
          <a:bodyPr wrap="square" lIns="0" tIns="0" rIns="0" bIns="0" anchor="t">
            <a:spAutoFit/>
          </a:bodyPr>
          <a:lstStyle/>
          <a:p>
            <a:pPr algn="l"/>
            <a:r>
              <a:rPr lang="fr-FR" sz="1200" b="0" i="1">
                <a:solidFill>
                  <a:srgbClr val="404040"/>
                </a:solidFill>
                <a:latin typeface="Calibri"/>
              </a:rPr>
              <a:t>Vos exemples de terrain valent souvent mieux qu'un long discours.</a:t>
            </a:r>
          </a:p>
        </p:txBody>
      </p:sp>
      <p:sp>
        <p:nvSpPr>
          <p:cNvPr id="23" name="Diamond 22"/>
          <p:cNvSpPr/>
          <p:nvPr/>
        </p:nvSpPr>
        <p:spPr>
          <a:xfrm>
            <a:off x="6263640" y="4206240"/>
            <a:ext cx="182880" cy="182880"/>
          </a:xfrm>
          <a:prstGeom prst="diamond">
            <a:avLst/>
          </a:prstGeom>
          <a:solidFill>
            <a:srgbClr val="3280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000"/>
          </a:p>
        </p:txBody>
      </p:sp>
      <p:sp>
        <p:nvSpPr>
          <p:cNvPr id="24" name="TextBox 23"/>
          <p:cNvSpPr txBox="1"/>
          <p:nvPr/>
        </p:nvSpPr>
        <p:spPr>
          <a:xfrm>
            <a:off x="6583680" y="4114800"/>
            <a:ext cx="5303520" cy="215444"/>
          </a:xfrm>
          <a:prstGeom prst="rect">
            <a:avLst/>
          </a:prstGeom>
          <a:noFill/>
        </p:spPr>
        <p:txBody>
          <a:bodyPr wrap="square" lIns="0" tIns="0" rIns="0" bIns="0" anchor="t">
            <a:spAutoFit/>
          </a:bodyPr>
          <a:lstStyle/>
          <a:p>
            <a:pPr algn="l"/>
            <a:r>
              <a:rPr lang="fr-FR" sz="1400" b="1" i="0">
                <a:solidFill>
                  <a:srgbClr val="1A1A1A"/>
                </a:solidFill>
                <a:latin typeface="Calibri"/>
              </a:rPr>
              <a:t>On parle du littoral, on illustre avec les Alpes (!)</a:t>
            </a:r>
          </a:p>
        </p:txBody>
      </p:sp>
      <p:sp>
        <p:nvSpPr>
          <p:cNvPr id="25" name="TextBox 24"/>
          <p:cNvSpPr txBox="1"/>
          <p:nvPr/>
        </p:nvSpPr>
        <p:spPr>
          <a:xfrm>
            <a:off x="6583680" y="4389120"/>
            <a:ext cx="5303520" cy="184666"/>
          </a:xfrm>
          <a:prstGeom prst="rect">
            <a:avLst/>
          </a:prstGeom>
          <a:noFill/>
        </p:spPr>
        <p:txBody>
          <a:bodyPr wrap="square" lIns="0" tIns="0" rIns="0" bIns="0" anchor="t">
            <a:spAutoFit/>
          </a:bodyPr>
          <a:lstStyle/>
          <a:p>
            <a:pPr algn="l"/>
            <a:r>
              <a:rPr lang="fr-FR" sz="1200" b="0" i="1">
                <a:solidFill>
                  <a:srgbClr val="404040"/>
                </a:solidFill>
                <a:latin typeface="Calibri"/>
              </a:rPr>
              <a:t>Les exemples alpins éclairent les défis littoraux.</a:t>
            </a:r>
          </a:p>
        </p:txBody>
      </p:sp>
      <p:sp>
        <p:nvSpPr>
          <p:cNvPr id="3" name="Espace réservé du numéro de diapositive 2">
            <a:extLst>
              <a:ext uri="{FF2B5EF4-FFF2-40B4-BE49-F238E27FC236}">
                <a16:creationId xmlns:a16="http://schemas.microsoft.com/office/drawing/2014/main" id="{B97209C7-46EA-4C4F-9A3F-5BE25BA7FDE1}"/>
              </a:ext>
            </a:extLst>
          </p:cNvPr>
          <p:cNvSpPr>
            <a:spLocks noGrp="1"/>
          </p:cNvSpPr>
          <p:nvPr>
            <p:ph type="sldNum" sz="quarter" idx="4"/>
          </p:nvPr>
        </p:nvSpPr>
        <p:spPr/>
        <p:txBody>
          <a:bodyPr/>
          <a:lstStyle/>
          <a:p>
            <a:fld id="{9981E6DC-ACA4-4CC4-B142-EC9DBA1C6CBA}" type="slidenum">
              <a:rPr lang="en-US" smtClean="0"/>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65760" y="3657600"/>
            <a:ext cx="1554480" cy="128016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3657600"/>
            <a:ext cx="1554480" cy="1280160"/>
          </a:xfrm>
          <a:prstGeom prst="rect">
            <a:avLst/>
          </a:prstGeom>
          <a:noFill/>
        </p:spPr>
        <p:txBody>
          <a:bodyPr wrap="square" lIns="0" tIns="0" rIns="0" bIns="0" anchor="ctr">
            <a:spAutoFit/>
          </a:bodyPr>
          <a:lstStyle/>
          <a:p>
            <a:pPr algn="ctr"/>
            <a:r>
              <a:rPr sz="4400" b="1" i="0">
                <a:solidFill>
                  <a:srgbClr val="FFFFFF"/>
                </a:solidFill>
                <a:latin typeface="Calibri"/>
              </a:rPr>
              <a:t>1.</a:t>
            </a:r>
          </a:p>
        </p:txBody>
      </p:sp>
      <p:sp>
        <p:nvSpPr>
          <p:cNvPr id="9" name="Rectangle 8"/>
          <p:cNvSpPr/>
          <p:nvPr/>
        </p:nvSpPr>
        <p:spPr>
          <a:xfrm>
            <a:off x="2011680" y="3657600"/>
            <a:ext cx="9784080" cy="128016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377440" y="3657600"/>
            <a:ext cx="9144000" cy="1280160"/>
          </a:xfrm>
          <a:prstGeom prst="rect">
            <a:avLst/>
          </a:prstGeom>
          <a:noFill/>
        </p:spPr>
        <p:txBody>
          <a:bodyPr wrap="square" lIns="0" tIns="0" rIns="0" bIns="0" anchor="ctr">
            <a:spAutoFit/>
          </a:bodyPr>
          <a:lstStyle/>
          <a:p>
            <a:pPr algn="l"/>
            <a:r>
              <a:rPr sz="3400" b="1" i="0">
                <a:solidFill>
                  <a:srgbClr val="FFFFFF"/>
                </a:solidFill>
                <a:latin typeface="Calibri"/>
              </a:rPr>
              <a:t>Pourquoi parler de résilience aujourd'hui ?</a:t>
            </a:r>
          </a:p>
        </p:txBody>
      </p:sp>
      <p:cxnSp>
        <p:nvCxnSpPr>
          <p:cNvPr id="11" name="Connector 10"/>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3" name="Espace réservé du numéro de diapositive 2">
            <a:extLst>
              <a:ext uri="{FF2B5EF4-FFF2-40B4-BE49-F238E27FC236}">
                <a16:creationId xmlns:a16="http://schemas.microsoft.com/office/drawing/2014/main" id="{E0F82145-9B81-4BB8-9122-2363FE1DB671}"/>
              </a:ext>
            </a:extLst>
          </p:cNvPr>
          <p:cNvSpPr>
            <a:spLocks noGrp="1"/>
          </p:cNvSpPr>
          <p:nvPr>
            <p:ph type="sldNum" sz="quarter" idx="4"/>
          </p:nvPr>
        </p:nvSpPr>
        <p:spPr/>
        <p:txBody>
          <a:bodyPr/>
          <a:lstStyle/>
          <a:p>
            <a:fld id="{9981E6DC-ACA4-4CC4-B142-EC9DBA1C6CBA}" type="slidenum">
              <a:rPr lang="en-US" smtClean="0"/>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14600" y="201168"/>
            <a:ext cx="9509760" cy="713232"/>
          </a:xfrm>
          <a:prstGeom prst="rect">
            <a:avLst/>
          </a:prstGeom>
          <a:noFill/>
        </p:spPr>
        <p:txBody>
          <a:bodyPr wrap="square" lIns="0" tIns="0" rIns="0" bIns="0" anchor="ctr">
            <a:spAutoFit/>
          </a:bodyPr>
          <a:lstStyle/>
          <a:p>
            <a:pPr algn="l"/>
            <a:r>
              <a:rPr sz="2600" b="1" i="0">
                <a:solidFill>
                  <a:srgbClr val="1A1A1A"/>
                </a:solidFill>
                <a:latin typeface="Calibri"/>
              </a:rPr>
              <a:t>L'Anthropocène — quand l'humain devient force géologique</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1188720"/>
            <a:ext cx="11247120" cy="411480"/>
          </a:xfrm>
          <a:prstGeom prst="rect">
            <a:avLst/>
          </a:prstGeom>
          <a:noFill/>
        </p:spPr>
        <p:txBody>
          <a:bodyPr wrap="square" lIns="0" tIns="0" rIns="0" bIns="0" anchor="t">
            <a:spAutoFit/>
          </a:bodyPr>
          <a:lstStyle/>
          <a:p>
            <a:pPr algn="l"/>
            <a:r>
              <a:rPr sz="1400" b="0" i="1">
                <a:solidFill>
                  <a:srgbClr val="404040"/>
                </a:solidFill>
                <a:latin typeface="Calibri"/>
              </a:rPr>
              <a:t>Paul Crutzen, prix Nobel de chimie, propose en 2000 le terme « Anthropocène »</a:t>
            </a:r>
          </a:p>
        </p:txBody>
      </p:sp>
      <p:sp>
        <p:nvSpPr>
          <p:cNvPr id="12" name="Rectangle 11"/>
          <p:cNvSpPr/>
          <p:nvPr/>
        </p:nvSpPr>
        <p:spPr>
          <a:xfrm>
            <a:off x="365760" y="1783080"/>
            <a:ext cx="5486400" cy="2103120"/>
          </a:xfrm>
          <a:prstGeom prst="rect">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TextBox 12"/>
          <p:cNvSpPr txBox="1"/>
          <p:nvPr/>
        </p:nvSpPr>
        <p:spPr>
          <a:xfrm>
            <a:off x="640080" y="1920240"/>
            <a:ext cx="5120640" cy="1461939"/>
          </a:xfrm>
          <a:prstGeom prst="rect">
            <a:avLst/>
          </a:prstGeom>
          <a:noFill/>
        </p:spPr>
        <p:txBody>
          <a:bodyPr wrap="square" lIns="0" tIns="0" rIns="0" bIns="0" anchor="t">
            <a:spAutoFit/>
          </a:bodyPr>
          <a:lstStyle/>
          <a:p>
            <a:pPr algn="l">
              <a:spcAft>
                <a:spcPts val="600"/>
              </a:spcAft>
            </a:pPr>
            <a:r>
              <a:rPr b="1" i="0">
                <a:solidFill>
                  <a:srgbClr val="FFFFFF"/>
                </a:solidFill>
                <a:latin typeface="Calibri"/>
              </a:rPr>
              <a:t>Définition</a:t>
            </a:r>
          </a:p>
          <a:p>
            <a:pPr algn="l"/>
            <a:r>
              <a:rPr b="0" i="1">
                <a:solidFill>
                  <a:srgbClr val="FFFFFF"/>
                </a:solidFill>
                <a:latin typeface="Calibri"/>
              </a:rPr>
              <a:t>« Une période durant laquelle une seule espèce, l'homme, a acquis le pouvoir de modifier les paramètres fondamentaux qui régissent l'équilibre du système Terre. »</a:t>
            </a:r>
          </a:p>
        </p:txBody>
      </p:sp>
      <p:sp>
        <p:nvSpPr>
          <p:cNvPr id="14" name="TextBox 13"/>
          <p:cNvSpPr txBox="1"/>
          <p:nvPr/>
        </p:nvSpPr>
        <p:spPr>
          <a:xfrm>
            <a:off x="6126480" y="1783080"/>
            <a:ext cx="5760720" cy="246221"/>
          </a:xfrm>
          <a:prstGeom prst="rect">
            <a:avLst/>
          </a:prstGeom>
          <a:noFill/>
        </p:spPr>
        <p:txBody>
          <a:bodyPr wrap="square" lIns="0" tIns="0" rIns="0" bIns="0" anchor="t">
            <a:spAutoFit/>
          </a:bodyPr>
          <a:lstStyle/>
          <a:p>
            <a:pPr algn="l"/>
            <a:r>
              <a:rPr sz="1600" b="1" i="0">
                <a:solidFill>
                  <a:srgbClr val="328088"/>
                </a:solidFill>
                <a:latin typeface="Calibri"/>
              </a:rPr>
              <a:t>Les six sphères touchées par l'activité humaine</a:t>
            </a:r>
          </a:p>
        </p:txBody>
      </p:sp>
      <p:sp>
        <p:nvSpPr>
          <p:cNvPr id="15" name="Rectangle 14"/>
          <p:cNvSpPr/>
          <p:nvPr/>
        </p:nvSpPr>
        <p:spPr>
          <a:xfrm>
            <a:off x="6126480" y="2194560"/>
            <a:ext cx="2743200" cy="50292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6" name="TextBox 15"/>
          <p:cNvSpPr txBox="1"/>
          <p:nvPr/>
        </p:nvSpPr>
        <p:spPr>
          <a:xfrm>
            <a:off x="6217920" y="2338298"/>
            <a:ext cx="960120" cy="215444"/>
          </a:xfrm>
          <a:prstGeom prst="rect">
            <a:avLst/>
          </a:prstGeom>
          <a:noFill/>
        </p:spPr>
        <p:txBody>
          <a:bodyPr wrap="square" lIns="0" tIns="0" rIns="0" bIns="0" anchor="ctr">
            <a:spAutoFit/>
          </a:bodyPr>
          <a:lstStyle/>
          <a:p>
            <a:pPr algn="l"/>
            <a:r>
              <a:rPr sz="1400" b="1" i="0">
                <a:solidFill>
                  <a:srgbClr val="E86E55"/>
                </a:solidFill>
                <a:latin typeface="Calibri"/>
              </a:rPr>
              <a:t>Atmosphère</a:t>
            </a:r>
          </a:p>
        </p:txBody>
      </p:sp>
      <p:sp>
        <p:nvSpPr>
          <p:cNvPr id="17" name="TextBox 16"/>
          <p:cNvSpPr txBox="1"/>
          <p:nvPr/>
        </p:nvSpPr>
        <p:spPr>
          <a:xfrm>
            <a:off x="7223760" y="2284437"/>
            <a:ext cx="1600200" cy="323165"/>
          </a:xfrm>
          <a:prstGeom prst="rect">
            <a:avLst/>
          </a:prstGeom>
          <a:noFill/>
        </p:spPr>
        <p:txBody>
          <a:bodyPr wrap="square" lIns="0" tIns="0" rIns="0" bIns="0" anchor="ctr">
            <a:spAutoFit/>
          </a:bodyPr>
          <a:lstStyle/>
          <a:p>
            <a:pPr algn="l"/>
            <a:r>
              <a:rPr sz="1050" b="0" i="0">
                <a:solidFill>
                  <a:srgbClr val="1A1A1A"/>
                </a:solidFill>
                <a:latin typeface="Calibri"/>
              </a:rPr>
              <a:t>Composition, climat, qualité de l'air</a:t>
            </a:r>
          </a:p>
        </p:txBody>
      </p:sp>
      <p:sp>
        <p:nvSpPr>
          <p:cNvPr id="18" name="Rectangle 17"/>
          <p:cNvSpPr/>
          <p:nvPr/>
        </p:nvSpPr>
        <p:spPr>
          <a:xfrm>
            <a:off x="9006840" y="2194560"/>
            <a:ext cx="2743200" cy="50292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TextBox 18"/>
          <p:cNvSpPr txBox="1"/>
          <p:nvPr/>
        </p:nvSpPr>
        <p:spPr>
          <a:xfrm>
            <a:off x="9098280" y="2338298"/>
            <a:ext cx="960120" cy="215444"/>
          </a:xfrm>
          <a:prstGeom prst="rect">
            <a:avLst/>
          </a:prstGeom>
          <a:noFill/>
        </p:spPr>
        <p:txBody>
          <a:bodyPr wrap="square" lIns="0" tIns="0" rIns="0" bIns="0" anchor="ctr">
            <a:spAutoFit/>
          </a:bodyPr>
          <a:lstStyle/>
          <a:p>
            <a:pPr algn="l"/>
            <a:r>
              <a:rPr sz="1400" b="1" i="0">
                <a:solidFill>
                  <a:srgbClr val="E86E55"/>
                </a:solidFill>
                <a:latin typeface="Calibri"/>
              </a:rPr>
              <a:t>Hydrosphère</a:t>
            </a:r>
          </a:p>
        </p:txBody>
      </p:sp>
      <p:sp>
        <p:nvSpPr>
          <p:cNvPr id="20" name="TextBox 19"/>
          <p:cNvSpPr txBox="1"/>
          <p:nvPr/>
        </p:nvSpPr>
        <p:spPr>
          <a:xfrm>
            <a:off x="10104119" y="2284437"/>
            <a:ext cx="1600200" cy="323165"/>
          </a:xfrm>
          <a:prstGeom prst="rect">
            <a:avLst/>
          </a:prstGeom>
          <a:noFill/>
        </p:spPr>
        <p:txBody>
          <a:bodyPr wrap="square" lIns="0" tIns="0" rIns="0" bIns="0" anchor="ctr">
            <a:spAutoFit/>
          </a:bodyPr>
          <a:lstStyle/>
          <a:p>
            <a:pPr algn="l"/>
            <a:r>
              <a:rPr sz="1050" b="0" i="0">
                <a:solidFill>
                  <a:srgbClr val="1A1A1A"/>
                </a:solidFill>
                <a:latin typeface="Calibri"/>
              </a:rPr>
              <a:t>Cycle de l'eau, niveau marin, acidification</a:t>
            </a:r>
          </a:p>
        </p:txBody>
      </p:sp>
      <p:sp>
        <p:nvSpPr>
          <p:cNvPr id="21" name="Rectangle 20"/>
          <p:cNvSpPr/>
          <p:nvPr/>
        </p:nvSpPr>
        <p:spPr>
          <a:xfrm>
            <a:off x="6126480" y="2788920"/>
            <a:ext cx="2743200" cy="50292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1"/>
          <p:cNvSpPr txBox="1"/>
          <p:nvPr/>
        </p:nvSpPr>
        <p:spPr>
          <a:xfrm>
            <a:off x="6217920" y="2932658"/>
            <a:ext cx="960120" cy="215444"/>
          </a:xfrm>
          <a:prstGeom prst="rect">
            <a:avLst/>
          </a:prstGeom>
          <a:noFill/>
        </p:spPr>
        <p:txBody>
          <a:bodyPr wrap="square" lIns="0" tIns="0" rIns="0" bIns="0" anchor="ctr">
            <a:spAutoFit/>
          </a:bodyPr>
          <a:lstStyle/>
          <a:p>
            <a:pPr algn="l"/>
            <a:r>
              <a:rPr sz="1400" b="1" i="0">
                <a:solidFill>
                  <a:srgbClr val="E86E55"/>
                </a:solidFill>
                <a:latin typeface="Calibri"/>
              </a:rPr>
              <a:t>Cryosphère</a:t>
            </a:r>
          </a:p>
        </p:txBody>
      </p:sp>
      <p:sp>
        <p:nvSpPr>
          <p:cNvPr id="23" name="TextBox 22"/>
          <p:cNvSpPr txBox="1"/>
          <p:nvPr/>
        </p:nvSpPr>
        <p:spPr>
          <a:xfrm>
            <a:off x="7223760" y="2878797"/>
            <a:ext cx="1600200" cy="323165"/>
          </a:xfrm>
          <a:prstGeom prst="rect">
            <a:avLst/>
          </a:prstGeom>
          <a:noFill/>
        </p:spPr>
        <p:txBody>
          <a:bodyPr wrap="square" lIns="0" tIns="0" rIns="0" bIns="0" anchor="ctr">
            <a:spAutoFit/>
          </a:bodyPr>
          <a:lstStyle/>
          <a:p>
            <a:pPr algn="l"/>
            <a:r>
              <a:rPr sz="1050" b="0" i="0">
                <a:solidFill>
                  <a:srgbClr val="1A1A1A"/>
                </a:solidFill>
                <a:latin typeface="Calibri"/>
              </a:rPr>
              <a:t>Glaces de mer, glaciers, permafrost</a:t>
            </a:r>
          </a:p>
        </p:txBody>
      </p:sp>
      <p:sp>
        <p:nvSpPr>
          <p:cNvPr id="24" name="Rectangle 23"/>
          <p:cNvSpPr/>
          <p:nvPr/>
        </p:nvSpPr>
        <p:spPr>
          <a:xfrm>
            <a:off x="9006840" y="2788920"/>
            <a:ext cx="2743200" cy="50292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5" name="TextBox 24"/>
          <p:cNvSpPr txBox="1"/>
          <p:nvPr/>
        </p:nvSpPr>
        <p:spPr>
          <a:xfrm>
            <a:off x="9098280" y="2932658"/>
            <a:ext cx="960120" cy="215444"/>
          </a:xfrm>
          <a:prstGeom prst="rect">
            <a:avLst/>
          </a:prstGeom>
          <a:noFill/>
        </p:spPr>
        <p:txBody>
          <a:bodyPr wrap="square" lIns="0" tIns="0" rIns="0" bIns="0" anchor="ctr">
            <a:spAutoFit/>
          </a:bodyPr>
          <a:lstStyle/>
          <a:p>
            <a:pPr algn="l"/>
            <a:r>
              <a:rPr sz="1400" b="1" i="0">
                <a:solidFill>
                  <a:srgbClr val="E86E55"/>
                </a:solidFill>
                <a:latin typeface="Calibri"/>
              </a:rPr>
              <a:t>Biosphère</a:t>
            </a:r>
          </a:p>
        </p:txBody>
      </p:sp>
      <p:sp>
        <p:nvSpPr>
          <p:cNvPr id="26" name="TextBox 25"/>
          <p:cNvSpPr txBox="1"/>
          <p:nvPr/>
        </p:nvSpPr>
        <p:spPr>
          <a:xfrm>
            <a:off x="10104119" y="2878797"/>
            <a:ext cx="1600200" cy="323165"/>
          </a:xfrm>
          <a:prstGeom prst="rect">
            <a:avLst/>
          </a:prstGeom>
          <a:noFill/>
        </p:spPr>
        <p:txBody>
          <a:bodyPr wrap="square" lIns="0" tIns="0" rIns="0" bIns="0" anchor="ctr">
            <a:spAutoFit/>
          </a:bodyPr>
          <a:lstStyle/>
          <a:p>
            <a:pPr algn="l"/>
            <a:r>
              <a:rPr sz="1050" b="0" i="0">
                <a:solidFill>
                  <a:srgbClr val="1A1A1A"/>
                </a:solidFill>
                <a:latin typeface="Calibri"/>
              </a:rPr>
              <a:t>Diversité du vivant, services écosystémiques</a:t>
            </a:r>
          </a:p>
        </p:txBody>
      </p:sp>
      <p:sp>
        <p:nvSpPr>
          <p:cNvPr id="27" name="Rectangle 26"/>
          <p:cNvSpPr/>
          <p:nvPr/>
        </p:nvSpPr>
        <p:spPr>
          <a:xfrm>
            <a:off x="6126480" y="3383280"/>
            <a:ext cx="2743200" cy="50292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8" name="TextBox 27"/>
          <p:cNvSpPr txBox="1"/>
          <p:nvPr/>
        </p:nvSpPr>
        <p:spPr>
          <a:xfrm>
            <a:off x="6217920" y="3527018"/>
            <a:ext cx="960120" cy="215444"/>
          </a:xfrm>
          <a:prstGeom prst="rect">
            <a:avLst/>
          </a:prstGeom>
          <a:noFill/>
        </p:spPr>
        <p:txBody>
          <a:bodyPr wrap="square" lIns="0" tIns="0" rIns="0" bIns="0" anchor="ctr">
            <a:spAutoFit/>
          </a:bodyPr>
          <a:lstStyle/>
          <a:p>
            <a:pPr algn="l"/>
            <a:r>
              <a:rPr sz="1400" b="1" i="0">
                <a:solidFill>
                  <a:srgbClr val="E86E55"/>
                </a:solidFill>
                <a:latin typeface="Calibri"/>
              </a:rPr>
              <a:t>Pédosphère</a:t>
            </a:r>
          </a:p>
        </p:txBody>
      </p:sp>
      <p:sp>
        <p:nvSpPr>
          <p:cNvPr id="29" name="TextBox 28"/>
          <p:cNvSpPr txBox="1"/>
          <p:nvPr/>
        </p:nvSpPr>
        <p:spPr>
          <a:xfrm>
            <a:off x="7223760" y="3553949"/>
            <a:ext cx="1600200" cy="161583"/>
          </a:xfrm>
          <a:prstGeom prst="rect">
            <a:avLst/>
          </a:prstGeom>
          <a:noFill/>
        </p:spPr>
        <p:txBody>
          <a:bodyPr wrap="square" lIns="0" tIns="0" rIns="0" bIns="0" anchor="ctr">
            <a:spAutoFit/>
          </a:bodyPr>
          <a:lstStyle/>
          <a:p>
            <a:pPr algn="l"/>
            <a:r>
              <a:rPr sz="1050" b="0" i="0">
                <a:solidFill>
                  <a:srgbClr val="1A1A1A"/>
                </a:solidFill>
                <a:latin typeface="Calibri"/>
              </a:rPr>
              <a:t>Sols, érosion, artificialisation</a:t>
            </a:r>
          </a:p>
        </p:txBody>
      </p:sp>
      <p:sp>
        <p:nvSpPr>
          <p:cNvPr id="30" name="Rectangle 29"/>
          <p:cNvSpPr/>
          <p:nvPr/>
        </p:nvSpPr>
        <p:spPr>
          <a:xfrm>
            <a:off x="9006840" y="3383280"/>
            <a:ext cx="2743200" cy="50292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1" name="TextBox 30"/>
          <p:cNvSpPr txBox="1"/>
          <p:nvPr/>
        </p:nvSpPr>
        <p:spPr>
          <a:xfrm>
            <a:off x="9098280" y="3527018"/>
            <a:ext cx="960120" cy="215444"/>
          </a:xfrm>
          <a:prstGeom prst="rect">
            <a:avLst/>
          </a:prstGeom>
          <a:noFill/>
        </p:spPr>
        <p:txBody>
          <a:bodyPr wrap="square" lIns="0" tIns="0" rIns="0" bIns="0" anchor="ctr">
            <a:spAutoFit/>
          </a:bodyPr>
          <a:lstStyle/>
          <a:p>
            <a:pPr algn="l"/>
            <a:r>
              <a:rPr sz="1400" b="1" i="0">
                <a:solidFill>
                  <a:srgbClr val="E86E55"/>
                </a:solidFill>
                <a:latin typeface="Calibri"/>
              </a:rPr>
              <a:t>Lithosphère</a:t>
            </a:r>
          </a:p>
        </p:txBody>
      </p:sp>
      <p:sp>
        <p:nvSpPr>
          <p:cNvPr id="32" name="TextBox 31"/>
          <p:cNvSpPr txBox="1"/>
          <p:nvPr/>
        </p:nvSpPr>
        <p:spPr>
          <a:xfrm>
            <a:off x="10104119" y="3473157"/>
            <a:ext cx="1600200" cy="323165"/>
          </a:xfrm>
          <a:prstGeom prst="rect">
            <a:avLst/>
          </a:prstGeom>
          <a:noFill/>
        </p:spPr>
        <p:txBody>
          <a:bodyPr wrap="square" lIns="0" tIns="0" rIns="0" bIns="0" anchor="ctr">
            <a:spAutoFit/>
          </a:bodyPr>
          <a:lstStyle/>
          <a:p>
            <a:pPr algn="l"/>
            <a:r>
              <a:rPr sz="1050" b="0" i="0">
                <a:solidFill>
                  <a:srgbClr val="1A1A1A"/>
                </a:solidFill>
                <a:latin typeface="Calibri"/>
              </a:rPr>
              <a:t>Sous-sol, ressources, géochimie</a:t>
            </a:r>
          </a:p>
        </p:txBody>
      </p:sp>
      <p:sp>
        <p:nvSpPr>
          <p:cNvPr id="33" name="Rectangle 32"/>
          <p:cNvSpPr/>
          <p:nvPr/>
        </p:nvSpPr>
        <p:spPr>
          <a:xfrm>
            <a:off x="365760" y="4069080"/>
            <a:ext cx="11430000" cy="201168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4" name="TextBox 33"/>
          <p:cNvSpPr txBox="1"/>
          <p:nvPr/>
        </p:nvSpPr>
        <p:spPr>
          <a:xfrm>
            <a:off x="640080" y="4206240"/>
            <a:ext cx="10972800" cy="1679947"/>
          </a:xfrm>
          <a:prstGeom prst="rect">
            <a:avLst/>
          </a:prstGeom>
          <a:noFill/>
        </p:spPr>
        <p:txBody>
          <a:bodyPr wrap="square" lIns="0" tIns="0" rIns="0" bIns="0" anchor="t">
            <a:spAutoFit/>
          </a:bodyPr>
          <a:lstStyle/>
          <a:p>
            <a:pPr algn="l">
              <a:spcAft>
                <a:spcPts val="600"/>
              </a:spcAft>
            </a:pPr>
            <a:r>
              <a:rPr b="1" i="0">
                <a:solidFill>
                  <a:srgbClr val="328088"/>
                </a:solidFill>
                <a:latin typeface="Calibri"/>
              </a:rPr>
              <a:t>Un seul chiffre pour mesurer l'écart de masse</a:t>
            </a:r>
          </a:p>
          <a:p>
            <a:pPr algn="l">
              <a:spcAft>
                <a:spcPts val="800"/>
              </a:spcAft>
            </a:pPr>
            <a:r>
              <a:rPr sz="1600" b="0" i="0">
                <a:solidFill>
                  <a:srgbClr val="1A1A1A"/>
                </a:solidFill>
                <a:latin typeface="Calibri"/>
              </a:rPr>
              <a:t>En 2020, la masse des objets fabriqués par l'homme (≈ 1 100 Gt) a dépassé la masse totale de la biomasse terrestre (≈ 1 100 Gt également).</a:t>
            </a:r>
          </a:p>
          <a:p>
            <a:pPr algn="l">
              <a:spcAft>
                <a:spcPts val="600"/>
              </a:spcAft>
            </a:pPr>
            <a:r>
              <a:rPr sz="1600" b="0" i="1">
                <a:solidFill>
                  <a:srgbClr val="1A1A1A"/>
                </a:solidFill>
                <a:latin typeface="Calibri"/>
              </a:rPr>
              <a:t>Le plastique pèse à lui seul deux fois plus que tous les animaux terrestres et marins réunis. L'humanité elle-même ne représente que 0,01 % de la biomasse.</a:t>
            </a:r>
          </a:p>
          <a:p>
            <a:pPr algn="l"/>
            <a:r>
              <a:rPr sz="1100" b="0" i="1">
                <a:solidFill>
                  <a:srgbClr val="404040"/>
                </a:solidFill>
                <a:latin typeface="Calibri"/>
              </a:rPr>
              <a:t>Source : Elhacham et al., Nature 2020  ·  PNAS 2018</a:t>
            </a:r>
          </a:p>
        </p:txBody>
      </p:sp>
      <p:sp>
        <p:nvSpPr>
          <p:cNvPr id="3" name="Espace réservé du numéro de diapositive 2">
            <a:extLst>
              <a:ext uri="{FF2B5EF4-FFF2-40B4-BE49-F238E27FC236}">
                <a16:creationId xmlns:a16="http://schemas.microsoft.com/office/drawing/2014/main" id="{0D0D2546-2921-47C3-8494-3E2173111C16}"/>
              </a:ext>
            </a:extLst>
          </p:cNvPr>
          <p:cNvSpPr>
            <a:spLocks noGrp="1"/>
          </p:cNvSpPr>
          <p:nvPr>
            <p:ph type="sldNum" sz="quarter" idx="4"/>
          </p:nvPr>
        </p:nvSpPr>
        <p:spPr/>
        <p:txBody>
          <a:bodyPr/>
          <a:lstStyle/>
          <a:p>
            <a:fld id="{9981E6DC-ACA4-4CC4-B142-EC9DBA1C6CBA}" type="slidenum">
              <a:rPr lang="en-US" smtClean="0"/>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14600" y="201168"/>
            <a:ext cx="9509760" cy="713232"/>
          </a:xfrm>
          <a:prstGeom prst="rect">
            <a:avLst/>
          </a:prstGeom>
          <a:noFill/>
        </p:spPr>
        <p:txBody>
          <a:bodyPr wrap="square" lIns="0" tIns="0" rIns="0" bIns="0" anchor="ctr">
            <a:spAutoFit/>
          </a:bodyPr>
          <a:lstStyle/>
          <a:p>
            <a:pPr algn="l"/>
            <a:r>
              <a:rPr sz="2600" b="1" i="0">
                <a:solidFill>
                  <a:srgbClr val="1A1A1A"/>
                </a:solidFill>
                <a:latin typeface="Calibri"/>
              </a:rPr>
              <a:t>Les limites planétaires — six sur neuf déjà franchies</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1188720"/>
            <a:ext cx="11247120" cy="411480"/>
          </a:xfrm>
          <a:prstGeom prst="rect">
            <a:avLst/>
          </a:prstGeom>
          <a:noFill/>
        </p:spPr>
        <p:txBody>
          <a:bodyPr wrap="square" lIns="0" tIns="0" rIns="0" bIns="0" anchor="t">
            <a:spAutoFit/>
          </a:bodyPr>
          <a:lstStyle/>
          <a:p>
            <a:pPr algn="l"/>
            <a:r>
              <a:rPr sz="1300" b="0" i="1">
                <a:solidFill>
                  <a:srgbClr val="404040"/>
                </a:solidFill>
                <a:latin typeface="Calibri"/>
              </a:rPr>
              <a:t>Cadre proposé par Rockström et al. (2009), actualisé en septembre 2023</a:t>
            </a:r>
          </a:p>
        </p:txBody>
      </p:sp>
      <p:sp>
        <p:nvSpPr>
          <p:cNvPr id="12" name="TextBox 11"/>
          <p:cNvSpPr txBox="1"/>
          <p:nvPr/>
        </p:nvSpPr>
        <p:spPr>
          <a:xfrm>
            <a:off x="457200" y="1691640"/>
            <a:ext cx="5486400" cy="246221"/>
          </a:xfrm>
          <a:prstGeom prst="rect">
            <a:avLst/>
          </a:prstGeom>
          <a:noFill/>
        </p:spPr>
        <p:txBody>
          <a:bodyPr wrap="square" lIns="0" tIns="0" rIns="0" bIns="0" anchor="t">
            <a:spAutoFit/>
          </a:bodyPr>
          <a:lstStyle/>
          <a:p>
            <a:pPr algn="l"/>
            <a:r>
              <a:rPr sz="1600" b="1" i="0">
                <a:solidFill>
                  <a:srgbClr val="328088"/>
                </a:solidFill>
                <a:latin typeface="Calibri"/>
              </a:rPr>
              <a:t>Les neuf limites identifiées</a:t>
            </a:r>
          </a:p>
        </p:txBody>
      </p:sp>
      <p:sp>
        <p:nvSpPr>
          <p:cNvPr id="13" name="TextBox 12"/>
          <p:cNvSpPr txBox="1"/>
          <p:nvPr/>
        </p:nvSpPr>
        <p:spPr>
          <a:xfrm>
            <a:off x="548640" y="2103120"/>
            <a:ext cx="274320" cy="246221"/>
          </a:xfrm>
          <a:prstGeom prst="rect">
            <a:avLst/>
          </a:prstGeom>
          <a:noFill/>
        </p:spPr>
        <p:txBody>
          <a:bodyPr wrap="square" lIns="0" tIns="0" rIns="0" bIns="0" anchor="t">
            <a:spAutoFit/>
          </a:bodyPr>
          <a:lstStyle/>
          <a:p>
            <a:pPr algn="l"/>
            <a:r>
              <a:rPr sz="1600" b="1" i="0">
                <a:solidFill>
                  <a:srgbClr val="E86E55"/>
                </a:solidFill>
                <a:latin typeface="Calibri"/>
              </a:rPr>
              <a:t>●</a:t>
            </a:r>
          </a:p>
        </p:txBody>
      </p:sp>
      <p:sp>
        <p:nvSpPr>
          <p:cNvPr id="14" name="TextBox 13"/>
          <p:cNvSpPr txBox="1"/>
          <p:nvPr/>
        </p:nvSpPr>
        <p:spPr>
          <a:xfrm>
            <a:off x="868680" y="2132558"/>
            <a:ext cx="3657600" cy="215444"/>
          </a:xfrm>
          <a:prstGeom prst="rect">
            <a:avLst/>
          </a:prstGeom>
          <a:noFill/>
        </p:spPr>
        <p:txBody>
          <a:bodyPr wrap="square" lIns="0" tIns="0" rIns="0" bIns="0" anchor="ctr">
            <a:spAutoFit/>
          </a:bodyPr>
          <a:lstStyle/>
          <a:p>
            <a:pPr algn="l"/>
            <a:r>
              <a:rPr sz="1400" b="0" i="0">
                <a:solidFill>
                  <a:srgbClr val="1A1A1A"/>
                </a:solidFill>
                <a:latin typeface="Calibri"/>
              </a:rPr>
              <a:t>Changement climatique</a:t>
            </a:r>
          </a:p>
        </p:txBody>
      </p:sp>
      <p:sp>
        <p:nvSpPr>
          <p:cNvPr id="15" name="TextBox 14"/>
          <p:cNvSpPr txBox="1"/>
          <p:nvPr/>
        </p:nvSpPr>
        <p:spPr>
          <a:xfrm>
            <a:off x="4526280" y="2159488"/>
            <a:ext cx="1371600" cy="161583"/>
          </a:xfrm>
          <a:prstGeom prst="rect">
            <a:avLst/>
          </a:prstGeom>
          <a:noFill/>
        </p:spPr>
        <p:txBody>
          <a:bodyPr wrap="square" lIns="0" tIns="0" rIns="0" bIns="0" anchor="ctr">
            <a:spAutoFit/>
          </a:bodyPr>
          <a:lstStyle/>
          <a:p>
            <a:pPr algn="l"/>
            <a:r>
              <a:rPr sz="1050" b="1" i="1">
                <a:solidFill>
                  <a:srgbClr val="E86E55"/>
                </a:solidFill>
                <a:latin typeface="Calibri"/>
              </a:rPr>
              <a:t>DÉPASSÉE</a:t>
            </a:r>
          </a:p>
        </p:txBody>
      </p:sp>
      <p:sp>
        <p:nvSpPr>
          <p:cNvPr id="16" name="TextBox 15"/>
          <p:cNvSpPr txBox="1"/>
          <p:nvPr/>
        </p:nvSpPr>
        <p:spPr>
          <a:xfrm>
            <a:off x="548640" y="2487168"/>
            <a:ext cx="274320" cy="246221"/>
          </a:xfrm>
          <a:prstGeom prst="rect">
            <a:avLst/>
          </a:prstGeom>
          <a:noFill/>
        </p:spPr>
        <p:txBody>
          <a:bodyPr wrap="square" lIns="0" tIns="0" rIns="0" bIns="0" anchor="t">
            <a:spAutoFit/>
          </a:bodyPr>
          <a:lstStyle/>
          <a:p>
            <a:pPr algn="l"/>
            <a:r>
              <a:rPr sz="1600" b="1" i="0">
                <a:solidFill>
                  <a:srgbClr val="E86E55"/>
                </a:solidFill>
                <a:latin typeface="Calibri"/>
              </a:rPr>
              <a:t>●</a:t>
            </a:r>
          </a:p>
        </p:txBody>
      </p:sp>
      <p:sp>
        <p:nvSpPr>
          <p:cNvPr id="17" name="TextBox 16"/>
          <p:cNvSpPr txBox="1"/>
          <p:nvPr/>
        </p:nvSpPr>
        <p:spPr>
          <a:xfrm>
            <a:off x="868680" y="2516606"/>
            <a:ext cx="3657600" cy="215444"/>
          </a:xfrm>
          <a:prstGeom prst="rect">
            <a:avLst/>
          </a:prstGeom>
          <a:noFill/>
        </p:spPr>
        <p:txBody>
          <a:bodyPr wrap="square" lIns="0" tIns="0" rIns="0" bIns="0" anchor="ctr">
            <a:spAutoFit/>
          </a:bodyPr>
          <a:lstStyle/>
          <a:p>
            <a:pPr algn="l"/>
            <a:r>
              <a:rPr sz="1400" b="0" i="0">
                <a:solidFill>
                  <a:srgbClr val="1A1A1A"/>
                </a:solidFill>
                <a:latin typeface="Calibri"/>
              </a:rPr>
              <a:t>Érosion de la biodiversité</a:t>
            </a:r>
          </a:p>
        </p:txBody>
      </p:sp>
      <p:sp>
        <p:nvSpPr>
          <p:cNvPr id="18" name="TextBox 17"/>
          <p:cNvSpPr txBox="1"/>
          <p:nvPr/>
        </p:nvSpPr>
        <p:spPr>
          <a:xfrm>
            <a:off x="4526280" y="2543536"/>
            <a:ext cx="1371600" cy="161583"/>
          </a:xfrm>
          <a:prstGeom prst="rect">
            <a:avLst/>
          </a:prstGeom>
          <a:noFill/>
        </p:spPr>
        <p:txBody>
          <a:bodyPr wrap="square" lIns="0" tIns="0" rIns="0" bIns="0" anchor="ctr">
            <a:spAutoFit/>
          </a:bodyPr>
          <a:lstStyle/>
          <a:p>
            <a:pPr algn="l"/>
            <a:r>
              <a:rPr sz="1050" b="1" i="1">
                <a:solidFill>
                  <a:srgbClr val="E86E55"/>
                </a:solidFill>
                <a:latin typeface="Calibri"/>
              </a:rPr>
              <a:t>DÉPASSÉE</a:t>
            </a:r>
          </a:p>
        </p:txBody>
      </p:sp>
      <p:sp>
        <p:nvSpPr>
          <p:cNvPr id="19" name="TextBox 18"/>
          <p:cNvSpPr txBox="1"/>
          <p:nvPr/>
        </p:nvSpPr>
        <p:spPr>
          <a:xfrm>
            <a:off x="548640" y="2871215"/>
            <a:ext cx="274320" cy="246221"/>
          </a:xfrm>
          <a:prstGeom prst="rect">
            <a:avLst/>
          </a:prstGeom>
          <a:noFill/>
        </p:spPr>
        <p:txBody>
          <a:bodyPr wrap="square" lIns="0" tIns="0" rIns="0" bIns="0" anchor="t">
            <a:spAutoFit/>
          </a:bodyPr>
          <a:lstStyle/>
          <a:p>
            <a:pPr algn="l"/>
            <a:r>
              <a:rPr sz="1600" b="1" i="0">
                <a:solidFill>
                  <a:srgbClr val="E86E55"/>
                </a:solidFill>
                <a:latin typeface="Calibri"/>
              </a:rPr>
              <a:t>●</a:t>
            </a:r>
          </a:p>
        </p:txBody>
      </p:sp>
      <p:sp>
        <p:nvSpPr>
          <p:cNvPr id="20" name="TextBox 19"/>
          <p:cNvSpPr txBox="1"/>
          <p:nvPr/>
        </p:nvSpPr>
        <p:spPr>
          <a:xfrm>
            <a:off x="868680" y="2900653"/>
            <a:ext cx="3657600" cy="215444"/>
          </a:xfrm>
          <a:prstGeom prst="rect">
            <a:avLst/>
          </a:prstGeom>
          <a:noFill/>
        </p:spPr>
        <p:txBody>
          <a:bodyPr wrap="square" lIns="0" tIns="0" rIns="0" bIns="0" anchor="ctr">
            <a:spAutoFit/>
          </a:bodyPr>
          <a:lstStyle/>
          <a:p>
            <a:pPr algn="l"/>
            <a:r>
              <a:rPr sz="1400" b="0" i="0">
                <a:solidFill>
                  <a:srgbClr val="1A1A1A"/>
                </a:solidFill>
                <a:latin typeface="Calibri"/>
              </a:rPr>
              <a:t>Cycle de l'azote</a:t>
            </a:r>
          </a:p>
        </p:txBody>
      </p:sp>
      <p:sp>
        <p:nvSpPr>
          <p:cNvPr id="21" name="TextBox 20"/>
          <p:cNvSpPr txBox="1"/>
          <p:nvPr/>
        </p:nvSpPr>
        <p:spPr>
          <a:xfrm>
            <a:off x="4526280" y="2927583"/>
            <a:ext cx="1371600" cy="161583"/>
          </a:xfrm>
          <a:prstGeom prst="rect">
            <a:avLst/>
          </a:prstGeom>
          <a:noFill/>
        </p:spPr>
        <p:txBody>
          <a:bodyPr wrap="square" lIns="0" tIns="0" rIns="0" bIns="0" anchor="ctr">
            <a:spAutoFit/>
          </a:bodyPr>
          <a:lstStyle/>
          <a:p>
            <a:pPr algn="l"/>
            <a:r>
              <a:rPr sz="1050" b="1" i="1">
                <a:solidFill>
                  <a:srgbClr val="E86E55"/>
                </a:solidFill>
                <a:latin typeface="Calibri"/>
              </a:rPr>
              <a:t>DÉPASSÉE</a:t>
            </a:r>
          </a:p>
        </p:txBody>
      </p:sp>
      <p:sp>
        <p:nvSpPr>
          <p:cNvPr id="22" name="TextBox 21"/>
          <p:cNvSpPr txBox="1"/>
          <p:nvPr/>
        </p:nvSpPr>
        <p:spPr>
          <a:xfrm>
            <a:off x="548640" y="3255263"/>
            <a:ext cx="274320" cy="246221"/>
          </a:xfrm>
          <a:prstGeom prst="rect">
            <a:avLst/>
          </a:prstGeom>
          <a:noFill/>
        </p:spPr>
        <p:txBody>
          <a:bodyPr wrap="square" lIns="0" tIns="0" rIns="0" bIns="0" anchor="t">
            <a:spAutoFit/>
          </a:bodyPr>
          <a:lstStyle/>
          <a:p>
            <a:pPr algn="l"/>
            <a:r>
              <a:rPr sz="1600" b="1" i="0">
                <a:solidFill>
                  <a:srgbClr val="E86E55"/>
                </a:solidFill>
                <a:latin typeface="Calibri"/>
              </a:rPr>
              <a:t>●</a:t>
            </a:r>
          </a:p>
        </p:txBody>
      </p:sp>
      <p:sp>
        <p:nvSpPr>
          <p:cNvPr id="23" name="TextBox 22"/>
          <p:cNvSpPr txBox="1"/>
          <p:nvPr/>
        </p:nvSpPr>
        <p:spPr>
          <a:xfrm>
            <a:off x="868680" y="3284701"/>
            <a:ext cx="3657600" cy="215444"/>
          </a:xfrm>
          <a:prstGeom prst="rect">
            <a:avLst/>
          </a:prstGeom>
          <a:noFill/>
        </p:spPr>
        <p:txBody>
          <a:bodyPr wrap="square" lIns="0" tIns="0" rIns="0" bIns="0" anchor="ctr">
            <a:spAutoFit/>
          </a:bodyPr>
          <a:lstStyle/>
          <a:p>
            <a:pPr algn="l"/>
            <a:r>
              <a:rPr sz="1400" b="0" i="0">
                <a:solidFill>
                  <a:srgbClr val="1A1A1A"/>
                </a:solidFill>
                <a:latin typeface="Calibri"/>
              </a:rPr>
              <a:t>Cycle du phosphore</a:t>
            </a:r>
          </a:p>
        </p:txBody>
      </p:sp>
      <p:sp>
        <p:nvSpPr>
          <p:cNvPr id="24" name="TextBox 23"/>
          <p:cNvSpPr txBox="1"/>
          <p:nvPr/>
        </p:nvSpPr>
        <p:spPr>
          <a:xfrm>
            <a:off x="4526280" y="3311631"/>
            <a:ext cx="1371600" cy="161583"/>
          </a:xfrm>
          <a:prstGeom prst="rect">
            <a:avLst/>
          </a:prstGeom>
          <a:noFill/>
        </p:spPr>
        <p:txBody>
          <a:bodyPr wrap="square" lIns="0" tIns="0" rIns="0" bIns="0" anchor="ctr">
            <a:spAutoFit/>
          </a:bodyPr>
          <a:lstStyle/>
          <a:p>
            <a:pPr algn="l"/>
            <a:r>
              <a:rPr sz="1050" b="1" i="1">
                <a:solidFill>
                  <a:srgbClr val="E86E55"/>
                </a:solidFill>
                <a:latin typeface="Calibri"/>
              </a:rPr>
              <a:t>DÉPASSÉE</a:t>
            </a:r>
          </a:p>
        </p:txBody>
      </p:sp>
      <p:sp>
        <p:nvSpPr>
          <p:cNvPr id="25" name="TextBox 24"/>
          <p:cNvSpPr txBox="1"/>
          <p:nvPr/>
        </p:nvSpPr>
        <p:spPr>
          <a:xfrm>
            <a:off x="548640" y="3639311"/>
            <a:ext cx="274320" cy="246221"/>
          </a:xfrm>
          <a:prstGeom prst="rect">
            <a:avLst/>
          </a:prstGeom>
          <a:noFill/>
        </p:spPr>
        <p:txBody>
          <a:bodyPr wrap="square" lIns="0" tIns="0" rIns="0" bIns="0" anchor="t">
            <a:spAutoFit/>
          </a:bodyPr>
          <a:lstStyle/>
          <a:p>
            <a:pPr algn="l"/>
            <a:r>
              <a:rPr sz="1600" b="1" i="0">
                <a:solidFill>
                  <a:srgbClr val="E86E55"/>
                </a:solidFill>
                <a:latin typeface="Calibri"/>
              </a:rPr>
              <a:t>●</a:t>
            </a:r>
          </a:p>
        </p:txBody>
      </p:sp>
      <p:sp>
        <p:nvSpPr>
          <p:cNvPr id="26" name="TextBox 25"/>
          <p:cNvSpPr txBox="1"/>
          <p:nvPr/>
        </p:nvSpPr>
        <p:spPr>
          <a:xfrm>
            <a:off x="868680" y="3668749"/>
            <a:ext cx="3657600" cy="215444"/>
          </a:xfrm>
          <a:prstGeom prst="rect">
            <a:avLst/>
          </a:prstGeom>
          <a:noFill/>
        </p:spPr>
        <p:txBody>
          <a:bodyPr wrap="square" lIns="0" tIns="0" rIns="0" bIns="0" anchor="ctr">
            <a:spAutoFit/>
          </a:bodyPr>
          <a:lstStyle/>
          <a:p>
            <a:pPr algn="l"/>
            <a:r>
              <a:rPr sz="1400" b="0" i="0">
                <a:solidFill>
                  <a:srgbClr val="1A1A1A"/>
                </a:solidFill>
                <a:latin typeface="Calibri"/>
              </a:rPr>
              <a:t>Changement d'usage des sols</a:t>
            </a:r>
          </a:p>
        </p:txBody>
      </p:sp>
      <p:sp>
        <p:nvSpPr>
          <p:cNvPr id="27" name="TextBox 26"/>
          <p:cNvSpPr txBox="1"/>
          <p:nvPr/>
        </p:nvSpPr>
        <p:spPr>
          <a:xfrm>
            <a:off x="4526280" y="3695679"/>
            <a:ext cx="1371600" cy="161583"/>
          </a:xfrm>
          <a:prstGeom prst="rect">
            <a:avLst/>
          </a:prstGeom>
          <a:noFill/>
        </p:spPr>
        <p:txBody>
          <a:bodyPr wrap="square" lIns="0" tIns="0" rIns="0" bIns="0" anchor="ctr">
            <a:spAutoFit/>
          </a:bodyPr>
          <a:lstStyle/>
          <a:p>
            <a:pPr algn="l"/>
            <a:r>
              <a:rPr sz="1050" b="1" i="1">
                <a:solidFill>
                  <a:srgbClr val="E86E55"/>
                </a:solidFill>
                <a:latin typeface="Calibri"/>
              </a:rPr>
              <a:t>DÉPASSÉE</a:t>
            </a:r>
          </a:p>
        </p:txBody>
      </p:sp>
      <p:sp>
        <p:nvSpPr>
          <p:cNvPr id="28" name="TextBox 27"/>
          <p:cNvSpPr txBox="1"/>
          <p:nvPr/>
        </p:nvSpPr>
        <p:spPr>
          <a:xfrm>
            <a:off x="548640" y="4023359"/>
            <a:ext cx="274320" cy="246221"/>
          </a:xfrm>
          <a:prstGeom prst="rect">
            <a:avLst/>
          </a:prstGeom>
          <a:noFill/>
        </p:spPr>
        <p:txBody>
          <a:bodyPr wrap="square" lIns="0" tIns="0" rIns="0" bIns="0" anchor="t">
            <a:spAutoFit/>
          </a:bodyPr>
          <a:lstStyle/>
          <a:p>
            <a:pPr algn="l"/>
            <a:r>
              <a:rPr sz="1600" b="1" i="0">
                <a:solidFill>
                  <a:srgbClr val="E86E55"/>
                </a:solidFill>
                <a:latin typeface="Calibri"/>
              </a:rPr>
              <a:t>●</a:t>
            </a:r>
          </a:p>
        </p:txBody>
      </p:sp>
      <p:sp>
        <p:nvSpPr>
          <p:cNvPr id="29" name="TextBox 28"/>
          <p:cNvSpPr txBox="1"/>
          <p:nvPr/>
        </p:nvSpPr>
        <p:spPr>
          <a:xfrm>
            <a:off x="868680" y="4052797"/>
            <a:ext cx="3657600" cy="215444"/>
          </a:xfrm>
          <a:prstGeom prst="rect">
            <a:avLst/>
          </a:prstGeom>
          <a:noFill/>
        </p:spPr>
        <p:txBody>
          <a:bodyPr wrap="square" lIns="0" tIns="0" rIns="0" bIns="0" anchor="ctr">
            <a:spAutoFit/>
          </a:bodyPr>
          <a:lstStyle/>
          <a:p>
            <a:pPr algn="l"/>
            <a:r>
              <a:rPr sz="1400" b="0" i="0">
                <a:solidFill>
                  <a:srgbClr val="1A1A1A"/>
                </a:solidFill>
                <a:latin typeface="Calibri"/>
              </a:rPr>
              <a:t>Cycle de l'eau douce verte</a:t>
            </a:r>
          </a:p>
        </p:txBody>
      </p:sp>
      <p:sp>
        <p:nvSpPr>
          <p:cNvPr id="30" name="TextBox 29"/>
          <p:cNvSpPr txBox="1"/>
          <p:nvPr/>
        </p:nvSpPr>
        <p:spPr>
          <a:xfrm>
            <a:off x="4526280" y="4079727"/>
            <a:ext cx="1371600" cy="161583"/>
          </a:xfrm>
          <a:prstGeom prst="rect">
            <a:avLst/>
          </a:prstGeom>
          <a:noFill/>
        </p:spPr>
        <p:txBody>
          <a:bodyPr wrap="square" lIns="0" tIns="0" rIns="0" bIns="0" anchor="ctr">
            <a:spAutoFit/>
          </a:bodyPr>
          <a:lstStyle/>
          <a:p>
            <a:pPr algn="l"/>
            <a:r>
              <a:rPr sz="1050" b="1" i="1">
                <a:solidFill>
                  <a:srgbClr val="E86E55"/>
                </a:solidFill>
                <a:latin typeface="Calibri"/>
              </a:rPr>
              <a:t>DÉPASSÉE</a:t>
            </a:r>
          </a:p>
        </p:txBody>
      </p:sp>
      <p:sp>
        <p:nvSpPr>
          <p:cNvPr id="31" name="TextBox 30"/>
          <p:cNvSpPr txBox="1"/>
          <p:nvPr/>
        </p:nvSpPr>
        <p:spPr>
          <a:xfrm>
            <a:off x="548640" y="4407407"/>
            <a:ext cx="274320" cy="246221"/>
          </a:xfrm>
          <a:prstGeom prst="rect">
            <a:avLst/>
          </a:prstGeom>
          <a:noFill/>
        </p:spPr>
        <p:txBody>
          <a:bodyPr wrap="square" lIns="0" tIns="0" rIns="0" bIns="0" anchor="t">
            <a:spAutoFit/>
          </a:bodyPr>
          <a:lstStyle/>
          <a:p>
            <a:pPr algn="l"/>
            <a:r>
              <a:rPr sz="1600" b="1" i="0">
                <a:solidFill>
                  <a:srgbClr val="4A8C3C"/>
                </a:solidFill>
                <a:latin typeface="Calibri"/>
              </a:rPr>
              <a:t>✓</a:t>
            </a:r>
          </a:p>
        </p:txBody>
      </p:sp>
      <p:sp>
        <p:nvSpPr>
          <p:cNvPr id="32" name="TextBox 31"/>
          <p:cNvSpPr txBox="1"/>
          <p:nvPr/>
        </p:nvSpPr>
        <p:spPr>
          <a:xfrm>
            <a:off x="868680" y="4436845"/>
            <a:ext cx="3657600" cy="215444"/>
          </a:xfrm>
          <a:prstGeom prst="rect">
            <a:avLst/>
          </a:prstGeom>
          <a:noFill/>
        </p:spPr>
        <p:txBody>
          <a:bodyPr wrap="square" lIns="0" tIns="0" rIns="0" bIns="0" anchor="ctr">
            <a:spAutoFit/>
          </a:bodyPr>
          <a:lstStyle/>
          <a:p>
            <a:pPr algn="l"/>
            <a:r>
              <a:rPr sz="1400" b="0" i="0">
                <a:solidFill>
                  <a:srgbClr val="1A1A1A"/>
                </a:solidFill>
                <a:latin typeface="Calibri"/>
              </a:rPr>
              <a:t>Acidification des océans</a:t>
            </a:r>
          </a:p>
        </p:txBody>
      </p:sp>
      <p:sp>
        <p:nvSpPr>
          <p:cNvPr id="33" name="TextBox 32"/>
          <p:cNvSpPr txBox="1"/>
          <p:nvPr/>
        </p:nvSpPr>
        <p:spPr>
          <a:xfrm>
            <a:off x="4526280" y="4463775"/>
            <a:ext cx="1371600" cy="161583"/>
          </a:xfrm>
          <a:prstGeom prst="rect">
            <a:avLst/>
          </a:prstGeom>
          <a:noFill/>
        </p:spPr>
        <p:txBody>
          <a:bodyPr wrap="square" lIns="0" tIns="0" rIns="0" bIns="0" anchor="ctr">
            <a:spAutoFit/>
          </a:bodyPr>
          <a:lstStyle/>
          <a:p>
            <a:pPr algn="l"/>
            <a:r>
              <a:rPr sz="1050" b="1" i="1">
                <a:solidFill>
                  <a:srgbClr val="4A8C3C"/>
                </a:solidFill>
                <a:latin typeface="Calibri"/>
              </a:rPr>
              <a:t>respectée</a:t>
            </a:r>
          </a:p>
        </p:txBody>
      </p:sp>
      <p:sp>
        <p:nvSpPr>
          <p:cNvPr id="34" name="TextBox 33"/>
          <p:cNvSpPr txBox="1"/>
          <p:nvPr/>
        </p:nvSpPr>
        <p:spPr>
          <a:xfrm>
            <a:off x="548640" y="4791455"/>
            <a:ext cx="274320" cy="246221"/>
          </a:xfrm>
          <a:prstGeom prst="rect">
            <a:avLst/>
          </a:prstGeom>
          <a:noFill/>
        </p:spPr>
        <p:txBody>
          <a:bodyPr wrap="square" lIns="0" tIns="0" rIns="0" bIns="0" anchor="t">
            <a:spAutoFit/>
          </a:bodyPr>
          <a:lstStyle/>
          <a:p>
            <a:pPr algn="l"/>
            <a:r>
              <a:rPr sz="1600" b="1" i="0">
                <a:solidFill>
                  <a:srgbClr val="4A8C3C"/>
                </a:solidFill>
                <a:latin typeface="Calibri"/>
              </a:rPr>
              <a:t>✓</a:t>
            </a:r>
          </a:p>
        </p:txBody>
      </p:sp>
      <p:sp>
        <p:nvSpPr>
          <p:cNvPr id="35" name="TextBox 34"/>
          <p:cNvSpPr txBox="1"/>
          <p:nvPr/>
        </p:nvSpPr>
        <p:spPr>
          <a:xfrm>
            <a:off x="868680" y="4820893"/>
            <a:ext cx="3657600" cy="215444"/>
          </a:xfrm>
          <a:prstGeom prst="rect">
            <a:avLst/>
          </a:prstGeom>
          <a:noFill/>
        </p:spPr>
        <p:txBody>
          <a:bodyPr wrap="square" lIns="0" tIns="0" rIns="0" bIns="0" anchor="ctr">
            <a:spAutoFit/>
          </a:bodyPr>
          <a:lstStyle/>
          <a:p>
            <a:pPr algn="l"/>
            <a:r>
              <a:rPr sz="1400" b="0" i="0">
                <a:solidFill>
                  <a:srgbClr val="1A1A1A"/>
                </a:solidFill>
                <a:latin typeface="Calibri"/>
              </a:rPr>
              <a:t>Couche d'ozone stratosphérique</a:t>
            </a:r>
          </a:p>
        </p:txBody>
      </p:sp>
      <p:sp>
        <p:nvSpPr>
          <p:cNvPr id="36" name="TextBox 35"/>
          <p:cNvSpPr txBox="1"/>
          <p:nvPr/>
        </p:nvSpPr>
        <p:spPr>
          <a:xfrm>
            <a:off x="4526280" y="4847823"/>
            <a:ext cx="1371600" cy="161583"/>
          </a:xfrm>
          <a:prstGeom prst="rect">
            <a:avLst/>
          </a:prstGeom>
          <a:noFill/>
        </p:spPr>
        <p:txBody>
          <a:bodyPr wrap="square" lIns="0" tIns="0" rIns="0" bIns="0" anchor="ctr">
            <a:spAutoFit/>
          </a:bodyPr>
          <a:lstStyle/>
          <a:p>
            <a:pPr algn="l"/>
            <a:r>
              <a:rPr sz="1050" b="1" i="1">
                <a:solidFill>
                  <a:srgbClr val="4A8C3C"/>
                </a:solidFill>
                <a:latin typeface="Calibri"/>
              </a:rPr>
              <a:t>respectée</a:t>
            </a:r>
          </a:p>
        </p:txBody>
      </p:sp>
      <p:sp>
        <p:nvSpPr>
          <p:cNvPr id="37" name="TextBox 36"/>
          <p:cNvSpPr txBox="1"/>
          <p:nvPr/>
        </p:nvSpPr>
        <p:spPr>
          <a:xfrm>
            <a:off x="548640" y="5175503"/>
            <a:ext cx="274320" cy="246221"/>
          </a:xfrm>
          <a:prstGeom prst="rect">
            <a:avLst/>
          </a:prstGeom>
          <a:noFill/>
        </p:spPr>
        <p:txBody>
          <a:bodyPr wrap="square" lIns="0" tIns="0" rIns="0" bIns="0" anchor="t">
            <a:spAutoFit/>
          </a:bodyPr>
          <a:lstStyle/>
          <a:p>
            <a:pPr algn="l"/>
            <a:r>
              <a:rPr sz="1600" b="1" i="0">
                <a:solidFill>
                  <a:srgbClr val="4A8C3C"/>
                </a:solidFill>
                <a:latin typeface="Calibri"/>
              </a:rPr>
              <a:t>✓</a:t>
            </a:r>
          </a:p>
        </p:txBody>
      </p:sp>
      <p:sp>
        <p:nvSpPr>
          <p:cNvPr id="38" name="TextBox 37"/>
          <p:cNvSpPr txBox="1"/>
          <p:nvPr/>
        </p:nvSpPr>
        <p:spPr>
          <a:xfrm>
            <a:off x="868680" y="5204941"/>
            <a:ext cx="3657600" cy="215444"/>
          </a:xfrm>
          <a:prstGeom prst="rect">
            <a:avLst/>
          </a:prstGeom>
          <a:noFill/>
        </p:spPr>
        <p:txBody>
          <a:bodyPr wrap="square" lIns="0" tIns="0" rIns="0" bIns="0" anchor="ctr">
            <a:spAutoFit/>
          </a:bodyPr>
          <a:lstStyle/>
          <a:p>
            <a:pPr algn="l"/>
            <a:r>
              <a:rPr sz="1400" b="0" i="0">
                <a:solidFill>
                  <a:srgbClr val="1A1A1A"/>
                </a:solidFill>
                <a:latin typeface="Calibri"/>
              </a:rPr>
              <a:t>Charge atmosphérique en aérosols</a:t>
            </a:r>
          </a:p>
        </p:txBody>
      </p:sp>
      <p:sp>
        <p:nvSpPr>
          <p:cNvPr id="39" name="TextBox 38"/>
          <p:cNvSpPr txBox="1"/>
          <p:nvPr/>
        </p:nvSpPr>
        <p:spPr>
          <a:xfrm>
            <a:off x="4526280" y="5231871"/>
            <a:ext cx="1371600" cy="161583"/>
          </a:xfrm>
          <a:prstGeom prst="rect">
            <a:avLst/>
          </a:prstGeom>
          <a:noFill/>
        </p:spPr>
        <p:txBody>
          <a:bodyPr wrap="square" lIns="0" tIns="0" rIns="0" bIns="0" anchor="ctr">
            <a:spAutoFit/>
          </a:bodyPr>
          <a:lstStyle/>
          <a:p>
            <a:pPr algn="l"/>
            <a:r>
              <a:rPr sz="1050" b="1" i="1">
                <a:solidFill>
                  <a:srgbClr val="4A8C3C"/>
                </a:solidFill>
                <a:latin typeface="Calibri"/>
              </a:rPr>
              <a:t>respectée</a:t>
            </a:r>
          </a:p>
        </p:txBody>
      </p:sp>
      <p:sp>
        <p:nvSpPr>
          <p:cNvPr id="40" name="Rectangle 39"/>
          <p:cNvSpPr/>
          <p:nvPr/>
        </p:nvSpPr>
        <p:spPr>
          <a:xfrm>
            <a:off x="6400800" y="1691640"/>
            <a:ext cx="5394960" cy="2990087"/>
          </a:xfrm>
          <a:prstGeom prst="rect">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1" name="TextBox 40"/>
          <p:cNvSpPr txBox="1"/>
          <p:nvPr/>
        </p:nvSpPr>
        <p:spPr>
          <a:xfrm>
            <a:off x="6583680" y="1828800"/>
            <a:ext cx="5029200" cy="2877711"/>
          </a:xfrm>
          <a:prstGeom prst="rect">
            <a:avLst/>
          </a:prstGeom>
          <a:noFill/>
        </p:spPr>
        <p:txBody>
          <a:bodyPr wrap="square" lIns="0" tIns="0" rIns="0" bIns="0" anchor="t">
            <a:spAutoFit/>
          </a:bodyPr>
          <a:lstStyle/>
          <a:p>
            <a:pPr algn="l">
              <a:spcAft>
                <a:spcPts val="1000"/>
              </a:spcAft>
            </a:pPr>
            <a:r>
              <a:rPr sz="1600" b="1" i="0">
                <a:solidFill>
                  <a:srgbClr val="FFFFFF"/>
                </a:solidFill>
                <a:latin typeface="Calibri"/>
              </a:rPr>
              <a:t>Pourquoi cela compte pour le littoral</a:t>
            </a:r>
          </a:p>
          <a:p>
            <a:pPr algn="l">
              <a:spcAft>
                <a:spcPts val="800"/>
              </a:spcAft>
            </a:pPr>
            <a:r>
              <a:rPr sz="1200" b="0">
                <a:solidFill>
                  <a:srgbClr val="FFFFFF"/>
                </a:solidFill>
                <a:latin typeface="Calibri"/>
              </a:rPr>
              <a:t>• </a:t>
            </a:r>
            <a:r>
              <a:rPr sz="1200" b="0" i="0">
                <a:solidFill>
                  <a:srgbClr val="FFFFFF"/>
                </a:solidFill>
                <a:latin typeface="Calibri"/>
              </a:rPr>
              <a:t>ACIDIFICATION — encore en zone safe au global, mais déjà dégradée localement (Manche, Atlantique). Premier impact : la conchyliculture (mortalité ostréicole 2025).</a:t>
            </a:r>
          </a:p>
          <a:p>
            <a:pPr algn="l">
              <a:spcAft>
                <a:spcPts val="800"/>
              </a:spcAft>
            </a:pPr>
            <a:r>
              <a:rPr sz="1200" b="0">
                <a:solidFill>
                  <a:srgbClr val="FFFFFF"/>
                </a:solidFill>
                <a:latin typeface="Calibri"/>
              </a:rPr>
              <a:t>• </a:t>
            </a:r>
            <a:r>
              <a:rPr sz="1200" b="0" i="0">
                <a:solidFill>
                  <a:srgbClr val="FFFFFF"/>
                </a:solidFill>
                <a:latin typeface="Calibri"/>
              </a:rPr>
              <a:t>BIODIVERSITÉ — frayères, herbiers de zostères, vasières en recul. Pertes de services écosystémiques (filtration, atténuation de l'aléa).</a:t>
            </a:r>
          </a:p>
          <a:p>
            <a:pPr algn="l">
              <a:spcAft>
                <a:spcPts val="800"/>
              </a:spcAft>
            </a:pPr>
            <a:r>
              <a:rPr sz="1200" b="0">
                <a:solidFill>
                  <a:srgbClr val="FFFFFF"/>
                </a:solidFill>
                <a:latin typeface="Calibri"/>
              </a:rPr>
              <a:t>• </a:t>
            </a:r>
            <a:r>
              <a:rPr sz="1200" b="0" i="0">
                <a:solidFill>
                  <a:srgbClr val="FFFFFF"/>
                </a:solidFill>
                <a:latin typeface="Calibri"/>
              </a:rPr>
              <a:t>CYCLE DE L'EAU DOUCE — étiages plus sévères, intrusion saline, tensions sur l'eau potable estivale (forages, captages côtiers).</a:t>
            </a:r>
          </a:p>
          <a:p>
            <a:pPr algn="l">
              <a:spcAft>
                <a:spcPts val="800"/>
              </a:spcAft>
            </a:pPr>
            <a:r>
              <a:rPr sz="1200" b="0">
                <a:solidFill>
                  <a:srgbClr val="FFFFFF"/>
                </a:solidFill>
                <a:latin typeface="Calibri"/>
              </a:rPr>
              <a:t>• </a:t>
            </a:r>
            <a:r>
              <a:rPr sz="1200" b="0" i="0">
                <a:solidFill>
                  <a:srgbClr val="FFFFFF"/>
                </a:solidFill>
                <a:latin typeface="Calibri"/>
              </a:rPr>
              <a:t>CHANGEMENT D'USAGE DES SOLS — artificialisation littorale, perte des fonctions tampons des marais et arrière-pays.</a:t>
            </a:r>
          </a:p>
          <a:p>
            <a:pPr algn="l"/>
            <a:r>
              <a:rPr sz="1400" b="1" i="1">
                <a:solidFill>
                  <a:srgbClr val="FFFFFF"/>
                </a:solidFill>
                <a:latin typeface="Calibri"/>
              </a:rPr>
              <a:t>→ Les limites se cumulent. Un littoral résilient agit sur plusieurs limites à la fois.</a:t>
            </a:r>
          </a:p>
        </p:txBody>
      </p:sp>
      <p:sp>
        <p:nvSpPr>
          <p:cNvPr id="42" name="TextBox 41"/>
          <p:cNvSpPr txBox="1"/>
          <p:nvPr/>
        </p:nvSpPr>
        <p:spPr>
          <a:xfrm>
            <a:off x="457200" y="5989320"/>
            <a:ext cx="11247120" cy="365760"/>
          </a:xfrm>
          <a:prstGeom prst="rect">
            <a:avLst/>
          </a:prstGeom>
          <a:noFill/>
        </p:spPr>
        <p:txBody>
          <a:bodyPr wrap="square" lIns="0" tIns="0" rIns="0" bIns="0" anchor="t">
            <a:spAutoFit/>
          </a:bodyPr>
          <a:lstStyle/>
          <a:p>
            <a:pPr algn="l"/>
            <a:r>
              <a:rPr sz="1000" b="0" i="1">
                <a:solidFill>
                  <a:srgbClr val="404040"/>
                </a:solidFill>
                <a:latin typeface="Calibri"/>
              </a:rPr>
              <a:t>Source : Rockström et al., Nature 2009  ·  Richardson et al., Science Advances 2023</a:t>
            </a:r>
          </a:p>
        </p:txBody>
      </p:sp>
      <p:sp>
        <p:nvSpPr>
          <p:cNvPr id="3" name="Espace réservé du numéro de diapositive 2">
            <a:extLst>
              <a:ext uri="{FF2B5EF4-FFF2-40B4-BE49-F238E27FC236}">
                <a16:creationId xmlns:a16="http://schemas.microsoft.com/office/drawing/2014/main" id="{9130D7A5-1E50-494B-8EAF-F4710D856116}"/>
              </a:ext>
            </a:extLst>
          </p:cNvPr>
          <p:cNvSpPr>
            <a:spLocks noGrp="1"/>
          </p:cNvSpPr>
          <p:nvPr>
            <p:ph type="sldNum" sz="quarter" idx="4"/>
          </p:nvPr>
        </p:nvSpPr>
        <p:spPr/>
        <p:txBody>
          <a:bodyPr/>
          <a:lstStyle/>
          <a:p>
            <a:fld id="{9981E6DC-ACA4-4CC4-B142-EC9DBA1C6CBA}" type="slidenum">
              <a:rPr lang="en-US" smtClean="0"/>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Le réchauffement en cours — et ce qui vient</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1188720"/>
            <a:ext cx="11247120" cy="200055"/>
          </a:xfrm>
          <a:prstGeom prst="rect">
            <a:avLst/>
          </a:prstGeom>
          <a:noFill/>
        </p:spPr>
        <p:txBody>
          <a:bodyPr wrap="square" lIns="0" tIns="0" rIns="0" bIns="0" anchor="t">
            <a:spAutoFit/>
          </a:bodyPr>
          <a:lstStyle/>
          <a:p>
            <a:pPr algn="l"/>
            <a:r>
              <a:rPr lang="fr-FR" sz="1300" b="0" i="1">
                <a:solidFill>
                  <a:srgbClr val="404040"/>
                </a:solidFill>
                <a:latin typeface="Calibri"/>
              </a:rPr>
              <a:t>Évolution observée et projetée de la température selon les niveaux d'émission de gaz à effet de serre  ·  GIEC AR6 (2021)</a:t>
            </a:r>
          </a:p>
        </p:txBody>
      </p:sp>
      <p:sp>
        <p:nvSpPr>
          <p:cNvPr id="12" name="Rectangle 11"/>
          <p:cNvSpPr/>
          <p:nvPr/>
        </p:nvSpPr>
        <p:spPr>
          <a:xfrm>
            <a:off x="365760" y="1828800"/>
            <a:ext cx="3749039" cy="50292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3" name="TextBox 12"/>
          <p:cNvSpPr txBox="1"/>
          <p:nvPr/>
        </p:nvSpPr>
        <p:spPr>
          <a:xfrm>
            <a:off x="365760" y="1972538"/>
            <a:ext cx="3749039" cy="215444"/>
          </a:xfrm>
          <a:prstGeom prst="rect">
            <a:avLst/>
          </a:prstGeom>
          <a:noFill/>
        </p:spPr>
        <p:txBody>
          <a:bodyPr wrap="square" lIns="0" tIns="0" rIns="0" bIns="0" anchor="ctr">
            <a:spAutoFit/>
          </a:bodyPr>
          <a:lstStyle/>
          <a:p>
            <a:pPr algn="ctr"/>
            <a:r>
              <a:rPr lang="fr-FR" sz="1400" b="1" i="0">
                <a:solidFill>
                  <a:srgbClr val="FFFFFF"/>
                </a:solidFill>
                <a:latin typeface="Calibri"/>
              </a:rPr>
              <a:t>Aujourd'hui</a:t>
            </a:r>
          </a:p>
        </p:txBody>
      </p:sp>
      <p:sp>
        <p:nvSpPr>
          <p:cNvPr id="14" name="Rectangle 13"/>
          <p:cNvSpPr/>
          <p:nvPr/>
        </p:nvSpPr>
        <p:spPr>
          <a:xfrm>
            <a:off x="365760" y="2331720"/>
            <a:ext cx="3749039" cy="109728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5" name="TextBox 14"/>
          <p:cNvSpPr txBox="1"/>
          <p:nvPr/>
        </p:nvSpPr>
        <p:spPr>
          <a:xfrm>
            <a:off x="365760" y="2541806"/>
            <a:ext cx="3749039" cy="677108"/>
          </a:xfrm>
          <a:prstGeom prst="rect">
            <a:avLst/>
          </a:prstGeom>
          <a:noFill/>
        </p:spPr>
        <p:txBody>
          <a:bodyPr wrap="square" lIns="0" tIns="0" rIns="0" bIns="0" anchor="ctr">
            <a:spAutoFit/>
          </a:bodyPr>
          <a:lstStyle/>
          <a:p>
            <a:pPr algn="ctr"/>
            <a:r>
              <a:rPr lang="fr-FR" sz="4400" b="1" i="0">
                <a:solidFill>
                  <a:srgbClr val="328088"/>
                </a:solidFill>
                <a:latin typeface="Calibri"/>
              </a:rPr>
              <a:t>+ 1,2 °C</a:t>
            </a:r>
          </a:p>
        </p:txBody>
      </p:sp>
      <p:sp>
        <p:nvSpPr>
          <p:cNvPr id="16" name="Rectangle 15"/>
          <p:cNvSpPr/>
          <p:nvPr/>
        </p:nvSpPr>
        <p:spPr>
          <a:xfrm>
            <a:off x="365760" y="3429000"/>
            <a:ext cx="3749039" cy="1188720"/>
          </a:xfrm>
          <a:prstGeom prst="rect">
            <a:avLst/>
          </a:prstGeom>
          <a:solidFill>
            <a:srgbClr val="FFFFFF"/>
          </a:solidFill>
          <a:ln w="12700">
            <a:solidFill>
              <a:srgbClr val="3280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400"/>
          </a:p>
        </p:txBody>
      </p:sp>
      <p:sp>
        <p:nvSpPr>
          <p:cNvPr id="17" name="TextBox 16"/>
          <p:cNvSpPr txBox="1"/>
          <p:nvPr/>
        </p:nvSpPr>
        <p:spPr>
          <a:xfrm>
            <a:off x="502920" y="3520440"/>
            <a:ext cx="3474720" cy="430887"/>
          </a:xfrm>
          <a:prstGeom prst="rect">
            <a:avLst/>
          </a:prstGeom>
          <a:noFill/>
        </p:spPr>
        <p:txBody>
          <a:bodyPr wrap="square" lIns="0" tIns="0" rIns="0" bIns="0" anchor="t">
            <a:spAutoFit/>
          </a:bodyPr>
          <a:lstStyle/>
          <a:p>
            <a:pPr algn="ctr"/>
            <a:r>
              <a:rPr lang="fr-FR" sz="1400" b="0" i="0">
                <a:solidFill>
                  <a:srgbClr val="1A1A1A"/>
                </a:solidFill>
                <a:latin typeface="Calibri"/>
              </a:rPr>
              <a:t>Par rapport à 1850-1900. Limite des « 1,5 °C » de l'Accord de Paris déjà très proche.</a:t>
            </a:r>
          </a:p>
        </p:txBody>
      </p:sp>
      <p:sp>
        <p:nvSpPr>
          <p:cNvPr id="18" name="Rectangle 17"/>
          <p:cNvSpPr/>
          <p:nvPr/>
        </p:nvSpPr>
        <p:spPr>
          <a:xfrm>
            <a:off x="4297680" y="1828800"/>
            <a:ext cx="3749039" cy="502920"/>
          </a:xfrm>
          <a:prstGeom prst="rect">
            <a:avLst/>
          </a:prstGeom>
          <a:solidFill>
            <a:srgbClr val="E86E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9" name="TextBox 18"/>
          <p:cNvSpPr txBox="1"/>
          <p:nvPr/>
        </p:nvSpPr>
        <p:spPr>
          <a:xfrm>
            <a:off x="4297680" y="1972538"/>
            <a:ext cx="3749039" cy="215444"/>
          </a:xfrm>
          <a:prstGeom prst="rect">
            <a:avLst/>
          </a:prstGeom>
          <a:noFill/>
        </p:spPr>
        <p:txBody>
          <a:bodyPr wrap="square" lIns="0" tIns="0" rIns="0" bIns="0" anchor="ctr">
            <a:spAutoFit/>
          </a:bodyPr>
          <a:lstStyle/>
          <a:p>
            <a:pPr algn="ctr"/>
            <a:r>
              <a:rPr lang="fr-FR" sz="1400" b="1" i="0">
                <a:solidFill>
                  <a:srgbClr val="FFFFFF"/>
                </a:solidFill>
                <a:latin typeface="Calibri"/>
              </a:rPr>
              <a:t>2050</a:t>
            </a:r>
          </a:p>
        </p:txBody>
      </p:sp>
      <p:sp>
        <p:nvSpPr>
          <p:cNvPr id="20" name="Rectangle 19"/>
          <p:cNvSpPr/>
          <p:nvPr/>
        </p:nvSpPr>
        <p:spPr>
          <a:xfrm>
            <a:off x="4297680" y="2331720"/>
            <a:ext cx="3749039" cy="109728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1" name="TextBox 20"/>
          <p:cNvSpPr txBox="1"/>
          <p:nvPr/>
        </p:nvSpPr>
        <p:spPr>
          <a:xfrm>
            <a:off x="4297680" y="2541806"/>
            <a:ext cx="3749039" cy="677108"/>
          </a:xfrm>
          <a:prstGeom prst="rect">
            <a:avLst/>
          </a:prstGeom>
          <a:noFill/>
        </p:spPr>
        <p:txBody>
          <a:bodyPr wrap="square" lIns="0" tIns="0" rIns="0" bIns="0" anchor="ctr">
            <a:spAutoFit/>
          </a:bodyPr>
          <a:lstStyle/>
          <a:p>
            <a:pPr algn="ctr"/>
            <a:r>
              <a:rPr lang="fr-FR" sz="4400" b="1" i="0">
                <a:solidFill>
                  <a:srgbClr val="E86E55"/>
                </a:solidFill>
                <a:latin typeface="Calibri"/>
              </a:rPr>
              <a:t>+ 2,7 °C</a:t>
            </a:r>
          </a:p>
        </p:txBody>
      </p:sp>
      <p:sp>
        <p:nvSpPr>
          <p:cNvPr id="22" name="Rectangle 21"/>
          <p:cNvSpPr/>
          <p:nvPr/>
        </p:nvSpPr>
        <p:spPr>
          <a:xfrm>
            <a:off x="4297680" y="3429000"/>
            <a:ext cx="3749039" cy="1188720"/>
          </a:xfrm>
          <a:prstGeom prst="rect">
            <a:avLst/>
          </a:prstGeom>
          <a:solidFill>
            <a:srgbClr val="FFFFFF"/>
          </a:solidFill>
          <a:ln w="12700">
            <a:solidFill>
              <a:srgbClr val="E86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400"/>
          </a:p>
        </p:txBody>
      </p:sp>
      <p:sp>
        <p:nvSpPr>
          <p:cNvPr id="23" name="TextBox 22"/>
          <p:cNvSpPr txBox="1"/>
          <p:nvPr/>
        </p:nvSpPr>
        <p:spPr>
          <a:xfrm>
            <a:off x="4434840" y="3520440"/>
            <a:ext cx="3474720" cy="430887"/>
          </a:xfrm>
          <a:prstGeom prst="rect">
            <a:avLst/>
          </a:prstGeom>
          <a:noFill/>
        </p:spPr>
        <p:txBody>
          <a:bodyPr wrap="square" lIns="0" tIns="0" rIns="0" bIns="0" anchor="t">
            <a:spAutoFit/>
          </a:bodyPr>
          <a:lstStyle/>
          <a:p>
            <a:pPr algn="ctr"/>
            <a:r>
              <a:rPr lang="fr-FR" sz="1400" b="0" i="0">
                <a:solidFill>
                  <a:srgbClr val="1A1A1A"/>
                </a:solidFill>
                <a:latin typeface="Calibri"/>
              </a:rPr>
              <a:t>Trajectoire TRACC France retenue par le PNACC-3 (mars 2025) pour planifier l'adaptation.</a:t>
            </a:r>
          </a:p>
        </p:txBody>
      </p:sp>
      <p:sp>
        <p:nvSpPr>
          <p:cNvPr id="24" name="Rectangle 23"/>
          <p:cNvSpPr/>
          <p:nvPr/>
        </p:nvSpPr>
        <p:spPr>
          <a:xfrm>
            <a:off x="8229600" y="1828800"/>
            <a:ext cx="3749039" cy="502920"/>
          </a:xfrm>
          <a:prstGeom prst="rect">
            <a:avLst/>
          </a:prstGeom>
          <a:solidFill>
            <a:srgbClr val="E100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5" name="TextBox 24"/>
          <p:cNvSpPr txBox="1"/>
          <p:nvPr/>
        </p:nvSpPr>
        <p:spPr>
          <a:xfrm>
            <a:off x="8229600" y="1972538"/>
            <a:ext cx="3749039" cy="215444"/>
          </a:xfrm>
          <a:prstGeom prst="rect">
            <a:avLst/>
          </a:prstGeom>
          <a:noFill/>
        </p:spPr>
        <p:txBody>
          <a:bodyPr wrap="square" lIns="0" tIns="0" rIns="0" bIns="0" anchor="ctr">
            <a:spAutoFit/>
          </a:bodyPr>
          <a:lstStyle/>
          <a:p>
            <a:pPr algn="ctr"/>
            <a:r>
              <a:rPr lang="fr-FR" sz="1400" b="1" i="0">
                <a:solidFill>
                  <a:srgbClr val="FFFFFF"/>
                </a:solidFill>
                <a:latin typeface="Calibri"/>
              </a:rPr>
              <a:t>2100</a:t>
            </a:r>
          </a:p>
        </p:txBody>
      </p:sp>
      <p:sp>
        <p:nvSpPr>
          <p:cNvPr id="26" name="Rectangle 25"/>
          <p:cNvSpPr/>
          <p:nvPr/>
        </p:nvSpPr>
        <p:spPr>
          <a:xfrm>
            <a:off x="8229600" y="2331720"/>
            <a:ext cx="3749039" cy="109728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7" name="TextBox 26"/>
          <p:cNvSpPr txBox="1"/>
          <p:nvPr/>
        </p:nvSpPr>
        <p:spPr>
          <a:xfrm>
            <a:off x="8229600" y="2541806"/>
            <a:ext cx="3749039" cy="677108"/>
          </a:xfrm>
          <a:prstGeom prst="rect">
            <a:avLst/>
          </a:prstGeom>
          <a:noFill/>
        </p:spPr>
        <p:txBody>
          <a:bodyPr wrap="square" lIns="0" tIns="0" rIns="0" bIns="0" anchor="ctr">
            <a:spAutoFit/>
          </a:bodyPr>
          <a:lstStyle/>
          <a:p>
            <a:pPr algn="ctr"/>
            <a:r>
              <a:rPr lang="fr-FR" sz="4400" b="1" i="0">
                <a:solidFill>
                  <a:srgbClr val="E1000F"/>
                </a:solidFill>
                <a:latin typeface="Calibri"/>
              </a:rPr>
              <a:t>+ 4,0 °C</a:t>
            </a:r>
          </a:p>
        </p:txBody>
      </p:sp>
      <p:sp>
        <p:nvSpPr>
          <p:cNvPr id="28" name="Rectangle 27"/>
          <p:cNvSpPr/>
          <p:nvPr/>
        </p:nvSpPr>
        <p:spPr>
          <a:xfrm>
            <a:off x="8229600" y="3429000"/>
            <a:ext cx="3749039" cy="1188720"/>
          </a:xfrm>
          <a:prstGeom prst="rect">
            <a:avLst/>
          </a:prstGeom>
          <a:solidFill>
            <a:srgbClr val="FFFFFF"/>
          </a:solidFill>
          <a:ln w="12700">
            <a:solidFill>
              <a:srgbClr val="E100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400"/>
          </a:p>
        </p:txBody>
      </p:sp>
      <p:sp>
        <p:nvSpPr>
          <p:cNvPr id="29" name="TextBox 28"/>
          <p:cNvSpPr txBox="1"/>
          <p:nvPr/>
        </p:nvSpPr>
        <p:spPr>
          <a:xfrm>
            <a:off x="8366760" y="3520440"/>
            <a:ext cx="3474720" cy="646331"/>
          </a:xfrm>
          <a:prstGeom prst="rect">
            <a:avLst/>
          </a:prstGeom>
          <a:noFill/>
        </p:spPr>
        <p:txBody>
          <a:bodyPr wrap="square" lIns="0" tIns="0" rIns="0" bIns="0" anchor="t">
            <a:spAutoFit/>
          </a:bodyPr>
          <a:lstStyle/>
          <a:p>
            <a:pPr algn="ctr"/>
            <a:r>
              <a:rPr lang="fr-FR" sz="1400" b="0" i="0">
                <a:solidFill>
                  <a:srgbClr val="1A1A1A"/>
                </a:solidFill>
                <a:latin typeface="Calibri"/>
              </a:rPr>
              <a:t>Trajectoire TRACC France à long terme. Inscrite au code de l'environnement (décret 26 janv. 2026).</a:t>
            </a:r>
          </a:p>
        </p:txBody>
      </p:sp>
      <p:sp>
        <p:nvSpPr>
          <p:cNvPr id="30" name="Rectangle 29"/>
          <p:cNvSpPr/>
          <p:nvPr/>
        </p:nvSpPr>
        <p:spPr>
          <a:xfrm>
            <a:off x="365760" y="4846320"/>
            <a:ext cx="11430000" cy="1645920"/>
          </a:xfrm>
          <a:prstGeom prst="rect">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1" name="TextBox 30"/>
          <p:cNvSpPr txBox="1"/>
          <p:nvPr/>
        </p:nvSpPr>
        <p:spPr>
          <a:xfrm>
            <a:off x="609600" y="4998720"/>
            <a:ext cx="10972800" cy="1354217"/>
          </a:xfrm>
          <a:prstGeom prst="rect">
            <a:avLst/>
          </a:prstGeom>
          <a:noFill/>
        </p:spPr>
        <p:txBody>
          <a:bodyPr wrap="square" lIns="0" tIns="0" rIns="0" bIns="0" anchor="t">
            <a:spAutoFit/>
          </a:bodyPr>
          <a:lstStyle/>
          <a:p>
            <a:pPr algn="l">
              <a:spcAft>
                <a:spcPts val="600"/>
              </a:spcAft>
            </a:pPr>
            <a:r>
              <a:rPr lang="fr-FR" sz="1300" b="1" i="0">
                <a:solidFill>
                  <a:srgbClr val="FFFFFF"/>
                </a:solidFill>
                <a:latin typeface="Calibri"/>
              </a:rPr>
              <a:t>À l'échelle d'une vie humaine </a:t>
            </a:r>
          </a:p>
          <a:p>
            <a:pPr>
              <a:spcAft>
                <a:spcPts val="600"/>
              </a:spcAft>
            </a:pPr>
            <a:r>
              <a:rPr lang="fr-FR" sz="1400">
                <a:solidFill>
                  <a:srgbClr val="FFFFFF"/>
                </a:solidFill>
              </a:rPr>
              <a:t>Vos grands-parents sont nés dans un climat réchauffé d’environ +0,2 °C.Vos parents, autour de +0,5 °C. Vous, nés vers 2001, dans un monde déjà à environ +0,8 à +0,9 °C. En 2026, à 25 ans, vous vivez déjà dans un climat proche de +1,3 °C.Si vous avez un enfant vers 2030, il naîtra dans un climat autour de +1,5 °C. Cet enfant pourrait voir naître son premier petit-enfant dans un climat entre +1,7 et +3,0 °C. Et ce petit-enfant pourrait partir à la retraite dans un climat situé entre +2 et +5 °C. Autrement dit : ce que nous appelons encore « changement climatique » n’est pas un horizon lointain. C’est déjà le climat de votre jeunesse, et ce sera le cadre de vie complet des générations qui viennent.</a:t>
            </a:r>
            <a:endParaRPr lang="fr-FR" sz="1300" b="1">
              <a:solidFill>
                <a:srgbClr val="FFFFFF"/>
              </a:solidFill>
              <a:latin typeface="Calibri"/>
            </a:endParaRPr>
          </a:p>
        </p:txBody>
      </p:sp>
      <p:sp>
        <p:nvSpPr>
          <p:cNvPr id="3" name="Espace réservé du numéro de diapositive 2">
            <a:extLst>
              <a:ext uri="{FF2B5EF4-FFF2-40B4-BE49-F238E27FC236}">
                <a16:creationId xmlns:a16="http://schemas.microsoft.com/office/drawing/2014/main" id="{5C1D36AE-2AA1-4102-A2D4-6C3178985CB9}"/>
              </a:ext>
            </a:extLst>
          </p:cNvPr>
          <p:cNvSpPr>
            <a:spLocks noGrp="1"/>
          </p:cNvSpPr>
          <p:nvPr>
            <p:ph type="sldNum" sz="quarter" idx="4"/>
          </p:nvPr>
        </p:nvSpPr>
        <p:spPr/>
        <p:txBody>
          <a:bodyPr/>
          <a:lstStyle/>
          <a:p>
            <a:fld id="{9981E6DC-ACA4-4CC4-B142-EC9DBA1C6CBA}" type="slidenum">
              <a:rPr lang="en-US" smtClean="0"/>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Des risques en cascade, des territoires en péril</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1188720"/>
            <a:ext cx="11247120" cy="230832"/>
          </a:xfrm>
          <a:prstGeom prst="rect">
            <a:avLst/>
          </a:prstGeom>
          <a:noFill/>
        </p:spPr>
        <p:txBody>
          <a:bodyPr wrap="square" lIns="0" tIns="0" rIns="0" bIns="0" anchor="t">
            <a:spAutoFit/>
          </a:bodyPr>
          <a:lstStyle/>
          <a:p>
            <a:pPr algn="l"/>
            <a:r>
              <a:rPr lang="fr-FR" sz="1500" b="0" i="1">
                <a:solidFill>
                  <a:srgbClr val="404040"/>
                </a:solidFill>
                <a:latin typeface="Calibri"/>
              </a:rPr>
              <a:t>Pourquoi le cadre traditionnel de la prévention des risques ne suffit plus aujourd'hui</a:t>
            </a:r>
          </a:p>
        </p:txBody>
      </p:sp>
      <p:sp>
        <p:nvSpPr>
          <p:cNvPr id="12" name="Rectangle 11"/>
          <p:cNvSpPr/>
          <p:nvPr/>
        </p:nvSpPr>
        <p:spPr>
          <a:xfrm>
            <a:off x="365760" y="1783080"/>
            <a:ext cx="5669280" cy="4160520"/>
          </a:xfrm>
          <a:prstGeom prst="rect">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3" name="TextBox 12"/>
          <p:cNvSpPr txBox="1"/>
          <p:nvPr/>
        </p:nvSpPr>
        <p:spPr>
          <a:xfrm>
            <a:off x="640080" y="1920240"/>
            <a:ext cx="5303520" cy="2970044"/>
          </a:xfrm>
          <a:prstGeom prst="rect">
            <a:avLst/>
          </a:prstGeom>
          <a:noFill/>
        </p:spPr>
        <p:txBody>
          <a:bodyPr wrap="square" lIns="0" tIns="0" rIns="0" bIns="0" anchor="t">
            <a:spAutoFit/>
          </a:bodyPr>
          <a:lstStyle/>
          <a:p>
            <a:pPr algn="l">
              <a:spcAft>
                <a:spcPts val="800"/>
              </a:spcAft>
            </a:pPr>
            <a:r>
              <a:rPr lang="fr-FR" b="1" i="0">
                <a:solidFill>
                  <a:srgbClr val="FFFFFF"/>
                </a:solidFill>
                <a:latin typeface="Calibri"/>
              </a:rPr>
              <a:t>RISQUES PHYSIQUES</a:t>
            </a:r>
          </a:p>
          <a:p>
            <a:pPr algn="l">
              <a:spcAft>
                <a:spcPts val="1600"/>
              </a:spcAft>
            </a:pPr>
            <a:r>
              <a:rPr lang="fr-FR" sz="1400" b="0" i="0">
                <a:solidFill>
                  <a:srgbClr val="FFFFFF"/>
                </a:solidFill>
                <a:latin typeface="Calibri"/>
              </a:rPr>
              <a:t>Effets du changement climatique, érosion de la biodiversité, épuisement des ressources se CUMULENT, générant des risques de crises majeures sur les territoires.</a:t>
            </a:r>
          </a:p>
          <a:p>
            <a:pPr algn="l">
              <a:spcAft>
                <a:spcPts val="600"/>
              </a:spcAft>
            </a:pPr>
            <a:r>
              <a:rPr lang="fr-FR" sz="1400" b="1" i="0">
                <a:solidFill>
                  <a:srgbClr val="FFFFFF"/>
                </a:solidFill>
                <a:latin typeface="Calibri"/>
              </a:rPr>
              <a:t>Sur le littoral, ces cumuls sont visibles :</a:t>
            </a:r>
          </a:p>
          <a:p>
            <a:pPr algn="l">
              <a:spcAft>
                <a:spcPts val="400"/>
              </a:spcAft>
            </a:pPr>
            <a:r>
              <a:rPr lang="fr-FR" sz="1400" b="0">
                <a:solidFill>
                  <a:srgbClr val="FFFFFF"/>
                </a:solidFill>
                <a:latin typeface="Calibri"/>
              </a:rPr>
              <a:t>• </a:t>
            </a:r>
            <a:r>
              <a:rPr lang="fr-FR" sz="1400" b="0" i="0">
                <a:solidFill>
                  <a:srgbClr val="FFFFFF"/>
                </a:solidFill>
                <a:latin typeface="Calibri"/>
              </a:rPr>
              <a:t>Élévation du niveau marin + tempête + crue concomitante (cf. Xynthia 2010)</a:t>
            </a:r>
          </a:p>
          <a:p>
            <a:pPr algn="l">
              <a:spcAft>
                <a:spcPts val="400"/>
              </a:spcAft>
            </a:pPr>
            <a:r>
              <a:rPr lang="fr-FR" sz="1400" b="0">
                <a:solidFill>
                  <a:srgbClr val="FFFFFF"/>
                </a:solidFill>
                <a:latin typeface="Calibri"/>
              </a:rPr>
              <a:t>• </a:t>
            </a:r>
            <a:r>
              <a:rPr lang="fr-FR" sz="1400" b="0" i="0">
                <a:solidFill>
                  <a:srgbClr val="FFFFFF"/>
                </a:solidFill>
                <a:latin typeface="Calibri"/>
              </a:rPr>
              <a:t>Érosion + acidification des océans + perte de biodiversité marine</a:t>
            </a:r>
          </a:p>
          <a:p>
            <a:pPr algn="l">
              <a:spcAft>
                <a:spcPts val="400"/>
              </a:spcAft>
            </a:pPr>
            <a:r>
              <a:rPr lang="fr-FR" sz="1400" b="0">
                <a:solidFill>
                  <a:srgbClr val="FFFFFF"/>
                </a:solidFill>
                <a:latin typeface="Calibri"/>
              </a:rPr>
              <a:t>• </a:t>
            </a:r>
            <a:r>
              <a:rPr lang="fr-FR" sz="1400" b="0" i="0">
                <a:solidFill>
                  <a:srgbClr val="FFFFFF"/>
                </a:solidFill>
                <a:latin typeface="Calibri"/>
              </a:rPr>
              <a:t>Tempête + rupture de réseau électrique (33 000 foyers Loire-Atlantique, Ciaran)</a:t>
            </a:r>
          </a:p>
          <a:p>
            <a:pPr algn="l"/>
            <a:r>
              <a:rPr lang="fr-FR" sz="1400" b="0">
                <a:solidFill>
                  <a:srgbClr val="FFFFFF"/>
                </a:solidFill>
                <a:latin typeface="Calibri"/>
              </a:rPr>
              <a:t>• </a:t>
            </a:r>
            <a:r>
              <a:rPr lang="fr-FR" sz="1400" b="0" i="0">
                <a:solidFill>
                  <a:srgbClr val="FFFFFF"/>
                </a:solidFill>
                <a:latin typeface="Calibri"/>
              </a:rPr>
              <a:t>Submersion + intrusion saline → eau potable + agriculture maraîchère</a:t>
            </a:r>
          </a:p>
        </p:txBody>
      </p:sp>
      <p:sp>
        <p:nvSpPr>
          <p:cNvPr id="14" name="Rectangle 13"/>
          <p:cNvSpPr/>
          <p:nvPr/>
        </p:nvSpPr>
        <p:spPr>
          <a:xfrm>
            <a:off x="6172200" y="1783080"/>
            <a:ext cx="5669280" cy="4160520"/>
          </a:xfrm>
          <a:prstGeom prst="rect">
            <a:avLst/>
          </a:prstGeom>
          <a:solidFill>
            <a:srgbClr val="E86E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5" name="TextBox 14"/>
          <p:cNvSpPr txBox="1"/>
          <p:nvPr/>
        </p:nvSpPr>
        <p:spPr>
          <a:xfrm>
            <a:off x="6446520" y="1920240"/>
            <a:ext cx="5303520" cy="3400931"/>
          </a:xfrm>
          <a:prstGeom prst="rect">
            <a:avLst/>
          </a:prstGeom>
          <a:noFill/>
        </p:spPr>
        <p:txBody>
          <a:bodyPr wrap="square" lIns="0" tIns="0" rIns="0" bIns="0" anchor="t">
            <a:spAutoFit/>
          </a:bodyPr>
          <a:lstStyle/>
          <a:p>
            <a:pPr algn="l">
              <a:spcAft>
                <a:spcPts val="800"/>
              </a:spcAft>
            </a:pPr>
            <a:r>
              <a:rPr lang="fr-FR" b="1" i="0">
                <a:solidFill>
                  <a:srgbClr val="FFFFFF"/>
                </a:solidFill>
                <a:latin typeface="Calibri"/>
              </a:rPr>
              <a:t>RISQUES « DE TRANSITION »</a:t>
            </a:r>
          </a:p>
          <a:p>
            <a:pPr algn="l">
              <a:spcAft>
                <a:spcPts val="1600"/>
              </a:spcAft>
            </a:pPr>
            <a:r>
              <a:rPr lang="fr-FR" sz="1400" b="0" i="0">
                <a:solidFill>
                  <a:srgbClr val="FFFFFF"/>
                </a:solidFill>
                <a:latin typeface="Calibri"/>
              </a:rPr>
              <a:t>L'inévitable transition écologique ou bas carbone implique une transformation profonde qui GÉNÈRE DE NOUVEAUX RISQUES sociaux et politiques.</a:t>
            </a:r>
          </a:p>
          <a:p>
            <a:pPr algn="l">
              <a:spcAft>
                <a:spcPts val="600"/>
              </a:spcAft>
            </a:pPr>
            <a:r>
              <a:rPr lang="fr-FR" sz="1400" b="1" i="0">
                <a:solidFill>
                  <a:srgbClr val="FFFFFF"/>
                </a:solidFill>
                <a:latin typeface="Calibri"/>
              </a:rPr>
              <a:t>Sur le littoral, exemples :</a:t>
            </a:r>
          </a:p>
          <a:p>
            <a:pPr algn="l">
              <a:spcAft>
                <a:spcPts val="400"/>
              </a:spcAft>
            </a:pPr>
            <a:r>
              <a:rPr lang="fr-FR" sz="1400" b="0">
                <a:solidFill>
                  <a:srgbClr val="FFFFFF"/>
                </a:solidFill>
                <a:latin typeface="Calibri"/>
              </a:rPr>
              <a:t>• </a:t>
            </a:r>
            <a:r>
              <a:rPr lang="fr-FR" sz="1400" b="0" i="0">
                <a:solidFill>
                  <a:srgbClr val="FFFFFF"/>
                </a:solidFill>
                <a:latin typeface="Calibri"/>
              </a:rPr>
              <a:t>Recul stratégique → délicate question de l'indemnisation et de l'acceptabilité sociale</a:t>
            </a:r>
          </a:p>
          <a:p>
            <a:pPr algn="l">
              <a:spcAft>
                <a:spcPts val="400"/>
              </a:spcAft>
            </a:pPr>
            <a:r>
              <a:rPr lang="fr-FR" sz="1400" b="0">
                <a:solidFill>
                  <a:srgbClr val="FFFFFF"/>
                </a:solidFill>
                <a:latin typeface="Calibri"/>
              </a:rPr>
              <a:t>• </a:t>
            </a:r>
            <a:r>
              <a:rPr lang="fr-FR" sz="1400" b="0" i="0">
                <a:solidFill>
                  <a:srgbClr val="FFFFFF"/>
                </a:solidFill>
                <a:latin typeface="Calibri"/>
              </a:rPr>
              <a:t>Reconversion d'une station balnéaire mono-saison → pertes d'emploi à court terme</a:t>
            </a:r>
          </a:p>
          <a:p>
            <a:pPr algn="l">
              <a:spcAft>
                <a:spcPts val="400"/>
              </a:spcAft>
            </a:pPr>
            <a:r>
              <a:rPr lang="fr-FR" sz="1400" b="0">
                <a:solidFill>
                  <a:srgbClr val="FFFFFF"/>
                </a:solidFill>
                <a:latin typeface="Calibri"/>
              </a:rPr>
              <a:t>• </a:t>
            </a:r>
            <a:r>
              <a:rPr lang="fr-FR" sz="1400" b="0" i="0">
                <a:solidFill>
                  <a:srgbClr val="FFFFFF"/>
                </a:solidFill>
                <a:latin typeface="Calibri"/>
              </a:rPr>
              <a:t>Refus assurantiel sur certaines zones → dévaluation immobilière, conflits sociaux</a:t>
            </a:r>
          </a:p>
          <a:p>
            <a:pPr algn="l"/>
            <a:r>
              <a:rPr lang="fr-FR" sz="1400" b="0">
                <a:solidFill>
                  <a:srgbClr val="FFFFFF"/>
                </a:solidFill>
                <a:latin typeface="Calibri"/>
              </a:rPr>
              <a:t>• </a:t>
            </a:r>
            <a:r>
              <a:rPr lang="fr-FR" sz="1400" b="0" i="0">
                <a:solidFill>
                  <a:srgbClr val="FFFFFF"/>
                </a:solidFill>
                <a:latin typeface="Calibri"/>
              </a:rPr>
              <a:t>Tension foncière entre logement permanent et résidence secondaire (cf. Loi Le Meur 2024)</a:t>
            </a:r>
          </a:p>
        </p:txBody>
      </p:sp>
      <p:sp>
        <p:nvSpPr>
          <p:cNvPr id="16" name="TextBox 15"/>
          <p:cNvSpPr txBox="1"/>
          <p:nvPr/>
        </p:nvSpPr>
        <p:spPr>
          <a:xfrm>
            <a:off x="365760" y="5989320"/>
            <a:ext cx="11430000" cy="153888"/>
          </a:xfrm>
          <a:prstGeom prst="rect">
            <a:avLst/>
          </a:prstGeom>
          <a:noFill/>
        </p:spPr>
        <p:txBody>
          <a:bodyPr wrap="square" lIns="0" tIns="0" rIns="0" bIns="0" anchor="t">
            <a:spAutoFit/>
          </a:bodyPr>
          <a:lstStyle/>
          <a:p>
            <a:pPr algn="ctr"/>
            <a:r>
              <a:rPr lang="fr-FR" sz="1000" b="0" i="1">
                <a:solidFill>
                  <a:srgbClr val="404040"/>
                </a:solidFill>
                <a:latin typeface="Calibri"/>
              </a:rPr>
              <a:t>Source : The Shift Project — Vers la résilience des territoires pour tenir le cap de la transition</a:t>
            </a:r>
          </a:p>
        </p:txBody>
      </p:sp>
      <p:sp>
        <p:nvSpPr>
          <p:cNvPr id="3" name="Espace réservé du numéro de diapositive 2">
            <a:extLst>
              <a:ext uri="{FF2B5EF4-FFF2-40B4-BE49-F238E27FC236}">
                <a16:creationId xmlns:a16="http://schemas.microsoft.com/office/drawing/2014/main" id="{36F074DA-301B-4352-8542-94B9E555580B}"/>
              </a:ext>
            </a:extLst>
          </p:cNvPr>
          <p:cNvSpPr>
            <a:spLocks noGrp="1"/>
          </p:cNvSpPr>
          <p:nvPr>
            <p:ph type="sldNum" sz="quarter" idx="4"/>
          </p:nvPr>
        </p:nvSpPr>
        <p:spPr/>
        <p:txBody>
          <a:bodyPr/>
          <a:lstStyle/>
          <a:p>
            <a:fld id="{9981E6DC-ACA4-4CC4-B142-EC9DBA1C6CBA}" type="slidenum">
              <a:rPr lang="en-US" smtClean="0"/>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dirty="0"/>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dirty="0">
                <a:solidFill>
                  <a:srgbClr val="1A1A1A"/>
                </a:solidFill>
                <a:latin typeface="Calibri"/>
              </a:rPr>
              <a:t>Pourquoi le cadre traditionnel ne suffit plus</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1229360"/>
            <a:ext cx="11247120" cy="215444"/>
          </a:xfrm>
          <a:prstGeom prst="rect">
            <a:avLst/>
          </a:prstGeom>
          <a:noFill/>
        </p:spPr>
        <p:txBody>
          <a:bodyPr wrap="square" lIns="0" tIns="0" rIns="0" bIns="0" anchor="t">
            <a:spAutoFit/>
          </a:bodyPr>
          <a:lstStyle/>
          <a:p>
            <a:pPr algn="l"/>
            <a:r>
              <a:rPr lang="fr-FR" sz="1400" b="0" i="1" dirty="0">
                <a:solidFill>
                  <a:srgbClr val="404040"/>
                </a:solidFill>
                <a:latin typeface="Calibri"/>
              </a:rPr>
              <a:t>Cinq constats qui obligent à repenser la prévention des risques</a:t>
            </a:r>
          </a:p>
        </p:txBody>
      </p:sp>
      <p:sp>
        <p:nvSpPr>
          <p:cNvPr id="12" name="Rectangle 11"/>
          <p:cNvSpPr/>
          <p:nvPr/>
        </p:nvSpPr>
        <p:spPr>
          <a:xfrm>
            <a:off x="365760" y="1783080"/>
            <a:ext cx="777240" cy="77724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dirty="0"/>
          </a:p>
        </p:txBody>
      </p:sp>
      <p:sp>
        <p:nvSpPr>
          <p:cNvPr id="13" name="TextBox 12"/>
          <p:cNvSpPr txBox="1"/>
          <p:nvPr/>
        </p:nvSpPr>
        <p:spPr>
          <a:xfrm>
            <a:off x="365760" y="2002423"/>
            <a:ext cx="777240" cy="338554"/>
          </a:xfrm>
          <a:prstGeom prst="rect">
            <a:avLst/>
          </a:prstGeom>
          <a:noFill/>
        </p:spPr>
        <p:txBody>
          <a:bodyPr wrap="square" lIns="0" tIns="0" rIns="0" bIns="0" anchor="ctr">
            <a:spAutoFit/>
          </a:bodyPr>
          <a:lstStyle/>
          <a:p>
            <a:pPr algn="ctr"/>
            <a:r>
              <a:rPr lang="fr-FR" sz="2200" b="1" i="0" dirty="0">
                <a:solidFill>
                  <a:srgbClr val="FFFFFF"/>
                </a:solidFill>
                <a:latin typeface="Calibri"/>
              </a:rPr>
              <a:t>01</a:t>
            </a:r>
          </a:p>
        </p:txBody>
      </p:sp>
      <p:sp>
        <p:nvSpPr>
          <p:cNvPr id="14" name="Rectangle 13"/>
          <p:cNvSpPr/>
          <p:nvPr/>
        </p:nvSpPr>
        <p:spPr>
          <a:xfrm>
            <a:off x="1188720" y="1783080"/>
            <a:ext cx="106070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400" dirty="0"/>
          </a:p>
        </p:txBody>
      </p:sp>
      <p:sp>
        <p:nvSpPr>
          <p:cNvPr id="15" name="TextBox 14"/>
          <p:cNvSpPr txBox="1"/>
          <p:nvPr/>
        </p:nvSpPr>
        <p:spPr>
          <a:xfrm>
            <a:off x="1325880" y="1828800"/>
            <a:ext cx="10424160" cy="487313"/>
          </a:xfrm>
          <a:prstGeom prst="rect">
            <a:avLst/>
          </a:prstGeom>
          <a:noFill/>
        </p:spPr>
        <p:txBody>
          <a:bodyPr wrap="square" lIns="0" tIns="0" rIns="0" bIns="0" anchor="t">
            <a:spAutoFit/>
          </a:bodyPr>
          <a:lstStyle/>
          <a:p>
            <a:pPr algn="l">
              <a:spcAft>
                <a:spcPts val="200"/>
              </a:spcAft>
            </a:pPr>
            <a:r>
              <a:rPr lang="fr-FR" sz="1600" b="1" i="0" dirty="0">
                <a:solidFill>
                  <a:srgbClr val="1E2D5C"/>
                </a:solidFill>
                <a:latin typeface="Calibri"/>
              </a:rPr>
              <a:t>L'aléa de référence n'est plus stationnaire</a:t>
            </a:r>
          </a:p>
          <a:p>
            <a:pPr algn="l"/>
            <a:r>
              <a:rPr lang="fr-FR" sz="1400" b="0" i="0" dirty="0">
                <a:solidFill>
                  <a:srgbClr val="1A1A1A"/>
                </a:solidFill>
                <a:latin typeface="Calibri"/>
              </a:rPr>
              <a:t>Le passé n'est plus le bon guide pour l'avenir. Les crues, tempêtes et canicules s'intensifient et se cumulent à un rythme nouveau.</a:t>
            </a:r>
          </a:p>
        </p:txBody>
      </p:sp>
      <p:sp>
        <p:nvSpPr>
          <p:cNvPr id="16" name="Rectangle 15"/>
          <p:cNvSpPr/>
          <p:nvPr/>
        </p:nvSpPr>
        <p:spPr>
          <a:xfrm>
            <a:off x="365760" y="2651760"/>
            <a:ext cx="777240" cy="77724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dirty="0"/>
          </a:p>
        </p:txBody>
      </p:sp>
      <p:sp>
        <p:nvSpPr>
          <p:cNvPr id="17" name="TextBox 16"/>
          <p:cNvSpPr txBox="1"/>
          <p:nvPr/>
        </p:nvSpPr>
        <p:spPr>
          <a:xfrm>
            <a:off x="365760" y="2871103"/>
            <a:ext cx="777240" cy="338554"/>
          </a:xfrm>
          <a:prstGeom prst="rect">
            <a:avLst/>
          </a:prstGeom>
          <a:noFill/>
        </p:spPr>
        <p:txBody>
          <a:bodyPr wrap="square" lIns="0" tIns="0" rIns="0" bIns="0" anchor="ctr">
            <a:spAutoFit/>
          </a:bodyPr>
          <a:lstStyle/>
          <a:p>
            <a:pPr algn="ctr"/>
            <a:r>
              <a:rPr lang="fr-FR" sz="2200" b="1" i="0" dirty="0">
                <a:solidFill>
                  <a:srgbClr val="FFFFFF"/>
                </a:solidFill>
                <a:latin typeface="Calibri"/>
              </a:rPr>
              <a:t>02</a:t>
            </a:r>
          </a:p>
        </p:txBody>
      </p:sp>
      <p:sp>
        <p:nvSpPr>
          <p:cNvPr id="18" name="Rectangle 17"/>
          <p:cNvSpPr/>
          <p:nvPr/>
        </p:nvSpPr>
        <p:spPr>
          <a:xfrm>
            <a:off x="1188720" y="2651760"/>
            <a:ext cx="106070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400" dirty="0"/>
          </a:p>
        </p:txBody>
      </p:sp>
      <p:sp>
        <p:nvSpPr>
          <p:cNvPr id="19" name="TextBox 18"/>
          <p:cNvSpPr txBox="1"/>
          <p:nvPr/>
        </p:nvSpPr>
        <p:spPr>
          <a:xfrm>
            <a:off x="1325880" y="2697479"/>
            <a:ext cx="10424160" cy="487313"/>
          </a:xfrm>
          <a:prstGeom prst="rect">
            <a:avLst/>
          </a:prstGeom>
          <a:noFill/>
        </p:spPr>
        <p:txBody>
          <a:bodyPr wrap="square" lIns="0" tIns="0" rIns="0" bIns="0" anchor="t">
            <a:spAutoFit/>
          </a:bodyPr>
          <a:lstStyle/>
          <a:p>
            <a:pPr algn="l">
              <a:spcAft>
                <a:spcPts val="200"/>
              </a:spcAft>
            </a:pPr>
            <a:r>
              <a:rPr lang="fr-FR" sz="1600" b="1" i="0" dirty="0">
                <a:solidFill>
                  <a:srgbClr val="1E2D5C"/>
                </a:solidFill>
                <a:latin typeface="Calibri"/>
              </a:rPr>
              <a:t>L'incertitude est devenue radicale</a:t>
            </a:r>
          </a:p>
          <a:p>
            <a:pPr algn="l"/>
            <a:r>
              <a:rPr lang="fr-FR" sz="1400" b="0" i="0" dirty="0">
                <a:solidFill>
                  <a:srgbClr val="1A1A1A"/>
                </a:solidFill>
                <a:latin typeface="Calibri"/>
              </a:rPr>
              <a:t>On ne sait plus dire avec précision ce qu'il va se passer en 2050 ou 2100. Il faut savoir agir DANS l'incertitude — pas l'éliminer.</a:t>
            </a:r>
          </a:p>
        </p:txBody>
      </p:sp>
      <p:sp>
        <p:nvSpPr>
          <p:cNvPr id="20" name="Rectangle 19"/>
          <p:cNvSpPr/>
          <p:nvPr/>
        </p:nvSpPr>
        <p:spPr>
          <a:xfrm>
            <a:off x="365760" y="3520439"/>
            <a:ext cx="777240" cy="77724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dirty="0"/>
          </a:p>
        </p:txBody>
      </p:sp>
      <p:sp>
        <p:nvSpPr>
          <p:cNvPr id="21" name="TextBox 20"/>
          <p:cNvSpPr txBox="1"/>
          <p:nvPr/>
        </p:nvSpPr>
        <p:spPr>
          <a:xfrm>
            <a:off x="365760" y="3739782"/>
            <a:ext cx="777240" cy="338554"/>
          </a:xfrm>
          <a:prstGeom prst="rect">
            <a:avLst/>
          </a:prstGeom>
          <a:noFill/>
        </p:spPr>
        <p:txBody>
          <a:bodyPr wrap="square" lIns="0" tIns="0" rIns="0" bIns="0" anchor="ctr">
            <a:spAutoFit/>
          </a:bodyPr>
          <a:lstStyle/>
          <a:p>
            <a:pPr algn="ctr"/>
            <a:r>
              <a:rPr lang="fr-FR" sz="2200" b="1" i="0" dirty="0">
                <a:solidFill>
                  <a:srgbClr val="FFFFFF"/>
                </a:solidFill>
                <a:latin typeface="Calibri"/>
              </a:rPr>
              <a:t>03</a:t>
            </a:r>
          </a:p>
        </p:txBody>
      </p:sp>
      <p:sp>
        <p:nvSpPr>
          <p:cNvPr id="22" name="Rectangle 21"/>
          <p:cNvSpPr/>
          <p:nvPr/>
        </p:nvSpPr>
        <p:spPr>
          <a:xfrm>
            <a:off x="1188720" y="3520439"/>
            <a:ext cx="106070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400" dirty="0"/>
          </a:p>
        </p:txBody>
      </p:sp>
      <p:sp>
        <p:nvSpPr>
          <p:cNvPr id="23" name="TextBox 22"/>
          <p:cNvSpPr txBox="1"/>
          <p:nvPr/>
        </p:nvSpPr>
        <p:spPr>
          <a:xfrm>
            <a:off x="1325880" y="3566159"/>
            <a:ext cx="10424160" cy="487313"/>
          </a:xfrm>
          <a:prstGeom prst="rect">
            <a:avLst/>
          </a:prstGeom>
          <a:noFill/>
        </p:spPr>
        <p:txBody>
          <a:bodyPr wrap="square" lIns="0" tIns="0" rIns="0" bIns="0" anchor="t">
            <a:spAutoFit/>
          </a:bodyPr>
          <a:lstStyle/>
          <a:p>
            <a:pPr algn="l">
              <a:spcAft>
                <a:spcPts val="200"/>
              </a:spcAft>
            </a:pPr>
            <a:r>
              <a:rPr lang="fr-FR" sz="1600" b="1" i="0" dirty="0">
                <a:solidFill>
                  <a:srgbClr val="1E2D5C"/>
                </a:solidFill>
                <a:latin typeface="Calibri"/>
              </a:rPr>
              <a:t>Les risques se cumulent en cascade</a:t>
            </a:r>
          </a:p>
          <a:p>
            <a:pPr algn="l"/>
            <a:r>
              <a:rPr lang="fr-FR" sz="1400" b="0" i="0" dirty="0">
                <a:solidFill>
                  <a:srgbClr val="1A1A1A"/>
                </a:solidFill>
                <a:latin typeface="Calibri"/>
              </a:rPr>
              <a:t>Tempête + crue concomitante + coupure d'électricité + chaîne d'approvisionnement perturbée. La défaillance d'un seul réseau emporte tout.</a:t>
            </a:r>
          </a:p>
        </p:txBody>
      </p:sp>
      <p:sp>
        <p:nvSpPr>
          <p:cNvPr id="24" name="Rectangle 23"/>
          <p:cNvSpPr/>
          <p:nvPr/>
        </p:nvSpPr>
        <p:spPr>
          <a:xfrm>
            <a:off x="365760" y="4389120"/>
            <a:ext cx="777240" cy="77724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dirty="0"/>
          </a:p>
        </p:txBody>
      </p:sp>
      <p:sp>
        <p:nvSpPr>
          <p:cNvPr id="25" name="TextBox 24"/>
          <p:cNvSpPr txBox="1"/>
          <p:nvPr/>
        </p:nvSpPr>
        <p:spPr>
          <a:xfrm>
            <a:off x="365760" y="4608463"/>
            <a:ext cx="777240" cy="338554"/>
          </a:xfrm>
          <a:prstGeom prst="rect">
            <a:avLst/>
          </a:prstGeom>
          <a:noFill/>
        </p:spPr>
        <p:txBody>
          <a:bodyPr wrap="square" lIns="0" tIns="0" rIns="0" bIns="0" anchor="ctr">
            <a:spAutoFit/>
          </a:bodyPr>
          <a:lstStyle/>
          <a:p>
            <a:pPr algn="ctr"/>
            <a:r>
              <a:rPr lang="fr-FR" sz="2200" b="1" i="0" dirty="0">
                <a:solidFill>
                  <a:srgbClr val="FFFFFF"/>
                </a:solidFill>
                <a:latin typeface="Calibri"/>
              </a:rPr>
              <a:t>04</a:t>
            </a:r>
          </a:p>
        </p:txBody>
      </p:sp>
      <p:sp>
        <p:nvSpPr>
          <p:cNvPr id="26" name="Rectangle 25"/>
          <p:cNvSpPr/>
          <p:nvPr/>
        </p:nvSpPr>
        <p:spPr>
          <a:xfrm>
            <a:off x="1188720" y="4389120"/>
            <a:ext cx="106070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400" dirty="0"/>
          </a:p>
        </p:txBody>
      </p:sp>
      <p:sp>
        <p:nvSpPr>
          <p:cNvPr id="27" name="TextBox 26"/>
          <p:cNvSpPr txBox="1"/>
          <p:nvPr/>
        </p:nvSpPr>
        <p:spPr>
          <a:xfrm>
            <a:off x="1325880" y="4434840"/>
            <a:ext cx="10424160" cy="487313"/>
          </a:xfrm>
          <a:prstGeom prst="rect">
            <a:avLst/>
          </a:prstGeom>
          <a:noFill/>
        </p:spPr>
        <p:txBody>
          <a:bodyPr wrap="square" lIns="0" tIns="0" rIns="0" bIns="0" anchor="t">
            <a:spAutoFit/>
          </a:bodyPr>
          <a:lstStyle/>
          <a:p>
            <a:pPr algn="l">
              <a:spcAft>
                <a:spcPts val="200"/>
              </a:spcAft>
            </a:pPr>
            <a:r>
              <a:rPr lang="fr-FR" sz="1600" b="1" i="0" dirty="0">
                <a:solidFill>
                  <a:srgbClr val="1E2D5C"/>
                </a:solidFill>
                <a:latin typeface="Calibri"/>
              </a:rPr>
              <a:t>La transition elle-même crée des risques</a:t>
            </a:r>
          </a:p>
          <a:p>
            <a:pPr algn="l"/>
            <a:r>
              <a:rPr lang="fr-FR" sz="1400" b="0" i="0" dirty="0">
                <a:solidFill>
                  <a:srgbClr val="1A1A1A"/>
                </a:solidFill>
                <a:latin typeface="Calibri"/>
              </a:rPr>
              <a:t>Recul stratégique, refus assurantiel, dévalorisation immobilière, conflits sociaux. Ces sujets sont devant nous, pas derrière.</a:t>
            </a:r>
          </a:p>
        </p:txBody>
      </p:sp>
      <p:sp>
        <p:nvSpPr>
          <p:cNvPr id="28" name="Rectangle 27"/>
          <p:cNvSpPr/>
          <p:nvPr/>
        </p:nvSpPr>
        <p:spPr>
          <a:xfrm>
            <a:off x="365760" y="5257800"/>
            <a:ext cx="777240" cy="77724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dirty="0"/>
          </a:p>
        </p:txBody>
      </p:sp>
      <p:sp>
        <p:nvSpPr>
          <p:cNvPr id="29" name="TextBox 28"/>
          <p:cNvSpPr txBox="1"/>
          <p:nvPr/>
        </p:nvSpPr>
        <p:spPr>
          <a:xfrm>
            <a:off x="365760" y="5477143"/>
            <a:ext cx="777240" cy="338554"/>
          </a:xfrm>
          <a:prstGeom prst="rect">
            <a:avLst/>
          </a:prstGeom>
          <a:noFill/>
        </p:spPr>
        <p:txBody>
          <a:bodyPr wrap="square" lIns="0" tIns="0" rIns="0" bIns="0" anchor="ctr">
            <a:spAutoFit/>
          </a:bodyPr>
          <a:lstStyle/>
          <a:p>
            <a:pPr algn="ctr"/>
            <a:r>
              <a:rPr lang="fr-FR" sz="2200" b="1" i="0" dirty="0">
                <a:solidFill>
                  <a:srgbClr val="FFFFFF"/>
                </a:solidFill>
                <a:latin typeface="Calibri"/>
              </a:rPr>
              <a:t>05</a:t>
            </a:r>
          </a:p>
        </p:txBody>
      </p:sp>
      <p:sp>
        <p:nvSpPr>
          <p:cNvPr id="30" name="Rectangle 29"/>
          <p:cNvSpPr/>
          <p:nvPr/>
        </p:nvSpPr>
        <p:spPr>
          <a:xfrm>
            <a:off x="1188720" y="5257800"/>
            <a:ext cx="106070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400" dirty="0"/>
          </a:p>
        </p:txBody>
      </p:sp>
      <p:sp>
        <p:nvSpPr>
          <p:cNvPr id="31" name="TextBox 30"/>
          <p:cNvSpPr txBox="1"/>
          <p:nvPr/>
        </p:nvSpPr>
        <p:spPr>
          <a:xfrm>
            <a:off x="1325880" y="5303520"/>
            <a:ext cx="10424160" cy="487313"/>
          </a:xfrm>
          <a:prstGeom prst="rect">
            <a:avLst/>
          </a:prstGeom>
          <a:noFill/>
        </p:spPr>
        <p:txBody>
          <a:bodyPr wrap="square" lIns="0" tIns="0" rIns="0" bIns="0" anchor="t">
            <a:spAutoFit/>
          </a:bodyPr>
          <a:lstStyle/>
          <a:p>
            <a:pPr algn="l">
              <a:spcAft>
                <a:spcPts val="200"/>
              </a:spcAft>
            </a:pPr>
            <a:r>
              <a:rPr lang="fr-FR" sz="1600" b="1" i="0" dirty="0">
                <a:solidFill>
                  <a:srgbClr val="1E2D5C"/>
                </a:solidFill>
                <a:latin typeface="Calibri"/>
              </a:rPr>
              <a:t>On ne peut pas tout protéger</a:t>
            </a:r>
          </a:p>
          <a:p>
            <a:pPr algn="l"/>
            <a:r>
              <a:rPr lang="fr-FR" sz="1400" b="0" i="0" dirty="0">
                <a:solidFill>
                  <a:srgbClr val="1A1A1A"/>
                </a:solidFill>
                <a:latin typeface="Calibri"/>
              </a:rPr>
              <a:t>L'illusion du « zéro risque » a vécu. Il faut choisir collectivement ce que l'on protège, ce que l'on accepte de perdre, ce que l'on transforme.</a:t>
            </a:r>
          </a:p>
        </p:txBody>
      </p:sp>
      <p:sp>
        <p:nvSpPr>
          <p:cNvPr id="32" name="TextBox 31"/>
          <p:cNvSpPr txBox="1"/>
          <p:nvPr/>
        </p:nvSpPr>
        <p:spPr>
          <a:xfrm>
            <a:off x="365760" y="6080760"/>
            <a:ext cx="11430000" cy="200055"/>
          </a:xfrm>
          <a:prstGeom prst="rect">
            <a:avLst/>
          </a:prstGeom>
          <a:noFill/>
        </p:spPr>
        <p:txBody>
          <a:bodyPr wrap="square" lIns="0" tIns="0" rIns="0" bIns="0" anchor="t">
            <a:spAutoFit/>
          </a:bodyPr>
          <a:lstStyle/>
          <a:p>
            <a:pPr algn="ctr"/>
            <a:r>
              <a:rPr lang="fr-FR" sz="1300" b="1" i="1" dirty="0">
                <a:solidFill>
                  <a:srgbClr val="E86E55"/>
                </a:solidFill>
                <a:latin typeface="Calibri"/>
              </a:rPr>
              <a:t>→ La résilience n'est pas un mot à la mode. C'est le seul cadre qui prend au sérieux ces cinq constats à la fois.</a:t>
            </a:r>
          </a:p>
        </p:txBody>
      </p:sp>
      <p:sp>
        <p:nvSpPr>
          <p:cNvPr id="3" name="Espace réservé du numéro de diapositive 2">
            <a:extLst>
              <a:ext uri="{FF2B5EF4-FFF2-40B4-BE49-F238E27FC236}">
                <a16:creationId xmlns:a16="http://schemas.microsoft.com/office/drawing/2014/main" id="{D3389E17-D963-49C2-B007-4BF54A2B7336}"/>
              </a:ext>
            </a:extLst>
          </p:cNvPr>
          <p:cNvSpPr>
            <a:spLocks noGrp="1"/>
          </p:cNvSpPr>
          <p:nvPr>
            <p:ph type="sldNum" sz="quarter" idx="4"/>
          </p:nvPr>
        </p:nvSpPr>
        <p:spPr/>
        <p:txBody>
          <a:bodyPr/>
          <a:lstStyle/>
          <a:p>
            <a:fld id="{9981E6DC-ACA4-4CC4-B142-EC9DBA1C6CBA}" type="slidenum">
              <a:rPr lang="en-US" smtClean="0"/>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65760" y="3657600"/>
            <a:ext cx="1554480" cy="128016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3657600"/>
            <a:ext cx="1554480" cy="1280160"/>
          </a:xfrm>
          <a:prstGeom prst="rect">
            <a:avLst/>
          </a:prstGeom>
          <a:noFill/>
        </p:spPr>
        <p:txBody>
          <a:bodyPr wrap="square" lIns="0" tIns="0" rIns="0" bIns="0" anchor="ctr">
            <a:spAutoFit/>
          </a:bodyPr>
          <a:lstStyle/>
          <a:p>
            <a:pPr algn="ctr"/>
            <a:r>
              <a:rPr sz="4400" b="1" i="0">
                <a:solidFill>
                  <a:srgbClr val="FFFFFF"/>
                </a:solidFill>
                <a:latin typeface="Calibri"/>
              </a:rPr>
              <a:t>2.</a:t>
            </a:r>
          </a:p>
        </p:txBody>
      </p:sp>
      <p:sp>
        <p:nvSpPr>
          <p:cNvPr id="9" name="Rectangle 8"/>
          <p:cNvSpPr/>
          <p:nvPr/>
        </p:nvSpPr>
        <p:spPr>
          <a:xfrm>
            <a:off x="2011680" y="3657600"/>
            <a:ext cx="9784080" cy="128016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377440" y="3657600"/>
            <a:ext cx="9144000" cy="1280160"/>
          </a:xfrm>
          <a:prstGeom prst="rect">
            <a:avLst/>
          </a:prstGeom>
          <a:noFill/>
        </p:spPr>
        <p:txBody>
          <a:bodyPr wrap="square" lIns="0" tIns="0" rIns="0" bIns="0" anchor="ctr">
            <a:spAutoFit/>
          </a:bodyPr>
          <a:lstStyle/>
          <a:p>
            <a:pPr algn="l"/>
            <a:r>
              <a:rPr sz="3400" b="1" i="0">
                <a:solidFill>
                  <a:srgbClr val="FFFFFF"/>
                </a:solidFill>
                <a:latin typeface="Calibri"/>
              </a:rPr>
              <a:t>Du risque à la résilience — concepts</a:t>
            </a:r>
          </a:p>
        </p:txBody>
      </p:sp>
      <p:cxnSp>
        <p:nvCxnSpPr>
          <p:cNvPr id="11" name="Connector 10"/>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3" name="Espace réservé du numéro de diapositive 2">
            <a:extLst>
              <a:ext uri="{FF2B5EF4-FFF2-40B4-BE49-F238E27FC236}">
                <a16:creationId xmlns:a16="http://schemas.microsoft.com/office/drawing/2014/main" id="{18D36B9C-6AA6-4B59-90F6-285B89C103B5}"/>
              </a:ext>
            </a:extLst>
          </p:cNvPr>
          <p:cNvSpPr>
            <a:spLocks noGrp="1"/>
          </p:cNvSpPr>
          <p:nvPr>
            <p:ph type="sldNum" sz="quarter" idx="4"/>
          </p:nvPr>
        </p:nvSpPr>
        <p:spPr/>
        <p:txBody>
          <a:bodyPr/>
          <a:lstStyle/>
          <a:p>
            <a:fld id="{9981E6DC-ACA4-4CC4-B142-EC9DBA1C6CBA}" type="slidenum">
              <a:rPr lang="en-US" smtClean="0"/>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14600" y="201168"/>
            <a:ext cx="9509760" cy="713232"/>
          </a:xfrm>
          <a:prstGeom prst="rect">
            <a:avLst/>
          </a:prstGeom>
          <a:noFill/>
        </p:spPr>
        <p:txBody>
          <a:bodyPr wrap="square" lIns="0" tIns="0" rIns="0" bIns="0" anchor="ctr">
            <a:spAutoFit/>
          </a:bodyPr>
          <a:lstStyle/>
          <a:p>
            <a:pPr algn="l"/>
            <a:r>
              <a:rPr sz="2600" b="1" i="0">
                <a:solidFill>
                  <a:srgbClr val="1A1A1A"/>
                </a:solidFill>
                <a:latin typeface="Calibri"/>
              </a:rPr>
              <a:t>Définitions — risque majeur</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65760" y="1188720"/>
            <a:ext cx="11430000" cy="109728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1280160"/>
            <a:ext cx="10972800" cy="914400"/>
          </a:xfrm>
          <a:prstGeom prst="rect">
            <a:avLst/>
          </a:prstGeom>
          <a:noFill/>
        </p:spPr>
        <p:txBody>
          <a:bodyPr wrap="square" lIns="0" tIns="0" rIns="0" bIns="0" anchor="t">
            <a:spAutoFit/>
          </a:bodyPr>
          <a:lstStyle/>
          <a:p>
            <a:pPr algn="l">
              <a:spcAft>
                <a:spcPts val="400"/>
              </a:spcAft>
            </a:pPr>
            <a:r>
              <a:rPr sz="1600" b="1" i="0">
                <a:solidFill>
                  <a:srgbClr val="328088"/>
                </a:solidFill>
                <a:latin typeface="Calibri"/>
              </a:rPr>
              <a:t>Risque majeur</a:t>
            </a:r>
          </a:p>
          <a:p>
            <a:pPr algn="l"/>
            <a:r>
              <a:rPr sz="1300" b="0" i="0">
                <a:solidFill>
                  <a:srgbClr val="1A1A1A"/>
                </a:solidFill>
                <a:latin typeface="Calibri"/>
              </a:rPr>
              <a:t>Risque lié à un aléa, d'origine naturelle ou anthropique, dont les effets prévisibles mettent en jeu un grand nombre de personnes, occasionnent des dommages importants et dépassent les capacités de réaction de la société.</a:t>
            </a:r>
          </a:p>
        </p:txBody>
      </p:sp>
      <p:sp>
        <p:nvSpPr>
          <p:cNvPr id="13" name="TextBox 12"/>
          <p:cNvSpPr txBox="1"/>
          <p:nvPr/>
        </p:nvSpPr>
        <p:spPr>
          <a:xfrm>
            <a:off x="365760" y="2514600"/>
            <a:ext cx="11430000" cy="365760"/>
          </a:xfrm>
          <a:prstGeom prst="rect">
            <a:avLst/>
          </a:prstGeom>
          <a:noFill/>
        </p:spPr>
        <p:txBody>
          <a:bodyPr wrap="square" lIns="0" tIns="0" rIns="0" bIns="0" anchor="t">
            <a:spAutoFit/>
          </a:bodyPr>
          <a:lstStyle/>
          <a:p>
            <a:pPr algn="l"/>
            <a:r>
              <a:rPr sz="1300" b="1" i="0">
                <a:solidFill>
                  <a:srgbClr val="1A1A1A"/>
                </a:solidFill>
                <a:latin typeface="Calibri"/>
              </a:rPr>
              <a:t>Huit risques naturels prévisibles pour lesquels l'État élabore des PPR (article L. 562-1 du code de l'environnement)</a:t>
            </a:r>
          </a:p>
        </p:txBody>
      </p:sp>
      <p:sp>
        <p:nvSpPr>
          <p:cNvPr id="16" name="TextBox 15"/>
          <p:cNvSpPr txBox="1"/>
          <p:nvPr/>
        </p:nvSpPr>
        <p:spPr>
          <a:xfrm>
            <a:off x="182880" y="4160520"/>
            <a:ext cx="1463040" cy="548640"/>
          </a:xfrm>
          <a:prstGeom prst="rect">
            <a:avLst/>
          </a:prstGeom>
          <a:noFill/>
        </p:spPr>
        <p:txBody>
          <a:bodyPr wrap="square" lIns="0" tIns="0" rIns="0" bIns="0" anchor="t">
            <a:spAutoFit/>
          </a:bodyPr>
          <a:lstStyle/>
          <a:p>
            <a:pPr algn="ctr"/>
            <a:r>
              <a:rPr sz="1100" b="1" i="0">
                <a:solidFill>
                  <a:srgbClr val="6B216B"/>
                </a:solidFill>
                <a:latin typeface="Calibri"/>
              </a:rPr>
              <a:t>Inondations</a:t>
            </a:r>
          </a:p>
        </p:txBody>
      </p:sp>
      <p:sp>
        <p:nvSpPr>
          <p:cNvPr id="19" name="TextBox 18"/>
          <p:cNvSpPr txBox="1"/>
          <p:nvPr/>
        </p:nvSpPr>
        <p:spPr>
          <a:xfrm>
            <a:off x="1600199" y="4160520"/>
            <a:ext cx="1463040" cy="548640"/>
          </a:xfrm>
          <a:prstGeom prst="rect">
            <a:avLst/>
          </a:prstGeom>
          <a:noFill/>
        </p:spPr>
        <p:txBody>
          <a:bodyPr wrap="square" lIns="0" tIns="0" rIns="0" bIns="0" anchor="t">
            <a:spAutoFit/>
          </a:bodyPr>
          <a:lstStyle/>
          <a:p>
            <a:pPr algn="ctr"/>
            <a:r>
              <a:rPr sz="1100" b="1" i="0">
                <a:solidFill>
                  <a:srgbClr val="6B216B"/>
                </a:solidFill>
                <a:latin typeface="Calibri"/>
              </a:rPr>
              <a:t>Séismes</a:t>
            </a:r>
          </a:p>
        </p:txBody>
      </p:sp>
      <p:sp>
        <p:nvSpPr>
          <p:cNvPr id="22" name="TextBox 21"/>
          <p:cNvSpPr txBox="1"/>
          <p:nvPr/>
        </p:nvSpPr>
        <p:spPr>
          <a:xfrm>
            <a:off x="3017520" y="4160520"/>
            <a:ext cx="1463040" cy="548640"/>
          </a:xfrm>
          <a:prstGeom prst="rect">
            <a:avLst/>
          </a:prstGeom>
          <a:noFill/>
        </p:spPr>
        <p:txBody>
          <a:bodyPr wrap="square" lIns="0" tIns="0" rIns="0" bIns="0" anchor="t">
            <a:spAutoFit/>
          </a:bodyPr>
          <a:lstStyle/>
          <a:p>
            <a:pPr algn="ctr"/>
            <a:r>
              <a:rPr sz="1100" b="1" i="0">
                <a:solidFill>
                  <a:srgbClr val="6B216B"/>
                </a:solidFill>
                <a:latin typeface="Calibri"/>
              </a:rPr>
              <a:t>Éruptions
volcaniques</a:t>
            </a:r>
          </a:p>
        </p:txBody>
      </p:sp>
      <p:sp>
        <p:nvSpPr>
          <p:cNvPr id="25" name="TextBox 24"/>
          <p:cNvSpPr txBox="1"/>
          <p:nvPr/>
        </p:nvSpPr>
        <p:spPr>
          <a:xfrm>
            <a:off x="4434840" y="4160520"/>
            <a:ext cx="1463040" cy="548640"/>
          </a:xfrm>
          <a:prstGeom prst="rect">
            <a:avLst/>
          </a:prstGeom>
          <a:noFill/>
        </p:spPr>
        <p:txBody>
          <a:bodyPr wrap="square" lIns="0" tIns="0" rIns="0" bIns="0" anchor="t">
            <a:spAutoFit/>
          </a:bodyPr>
          <a:lstStyle/>
          <a:p>
            <a:pPr algn="ctr"/>
            <a:r>
              <a:rPr sz="1100" b="1" i="0">
                <a:solidFill>
                  <a:srgbClr val="6B216B"/>
                </a:solidFill>
                <a:latin typeface="Calibri"/>
              </a:rPr>
              <a:t>Mouvements
de terrain</a:t>
            </a:r>
          </a:p>
        </p:txBody>
      </p:sp>
      <p:sp>
        <p:nvSpPr>
          <p:cNvPr id="28" name="TextBox 27"/>
          <p:cNvSpPr txBox="1"/>
          <p:nvPr/>
        </p:nvSpPr>
        <p:spPr>
          <a:xfrm>
            <a:off x="5852159" y="4160520"/>
            <a:ext cx="1463040" cy="548640"/>
          </a:xfrm>
          <a:prstGeom prst="rect">
            <a:avLst/>
          </a:prstGeom>
          <a:noFill/>
        </p:spPr>
        <p:txBody>
          <a:bodyPr wrap="square" lIns="0" tIns="0" rIns="0" bIns="0" anchor="t">
            <a:spAutoFit/>
          </a:bodyPr>
          <a:lstStyle/>
          <a:p>
            <a:pPr algn="ctr"/>
            <a:r>
              <a:rPr sz="1100" b="1" i="0">
                <a:solidFill>
                  <a:srgbClr val="6B216B"/>
                </a:solidFill>
                <a:latin typeface="Calibri"/>
              </a:rPr>
              <a:t>Avalanches</a:t>
            </a:r>
          </a:p>
        </p:txBody>
      </p:sp>
      <p:sp>
        <p:nvSpPr>
          <p:cNvPr id="31" name="TextBox 30"/>
          <p:cNvSpPr txBox="1"/>
          <p:nvPr/>
        </p:nvSpPr>
        <p:spPr>
          <a:xfrm>
            <a:off x="7269480" y="4160520"/>
            <a:ext cx="1463040" cy="548640"/>
          </a:xfrm>
          <a:prstGeom prst="rect">
            <a:avLst/>
          </a:prstGeom>
          <a:noFill/>
        </p:spPr>
        <p:txBody>
          <a:bodyPr wrap="square" lIns="0" tIns="0" rIns="0" bIns="0" anchor="t">
            <a:spAutoFit/>
          </a:bodyPr>
          <a:lstStyle/>
          <a:p>
            <a:pPr algn="ctr"/>
            <a:r>
              <a:rPr sz="1100" b="1" i="0">
                <a:solidFill>
                  <a:srgbClr val="6B216B"/>
                </a:solidFill>
                <a:latin typeface="Calibri"/>
              </a:rPr>
              <a:t>Incendies
de forêt</a:t>
            </a:r>
          </a:p>
        </p:txBody>
      </p:sp>
      <p:sp>
        <p:nvSpPr>
          <p:cNvPr id="34" name="TextBox 33"/>
          <p:cNvSpPr txBox="1"/>
          <p:nvPr/>
        </p:nvSpPr>
        <p:spPr>
          <a:xfrm>
            <a:off x="8686800" y="4160520"/>
            <a:ext cx="1463040" cy="548640"/>
          </a:xfrm>
          <a:prstGeom prst="rect">
            <a:avLst/>
          </a:prstGeom>
          <a:noFill/>
        </p:spPr>
        <p:txBody>
          <a:bodyPr wrap="square" lIns="0" tIns="0" rIns="0" bIns="0" anchor="t">
            <a:spAutoFit/>
          </a:bodyPr>
          <a:lstStyle/>
          <a:p>
            <a:pPr algn="ctr"/>
            <a:r>
              <a:rPr sz="1100" b="1" i="0">
                <a:solidFill>
                  <a:srgbClr val="6B216B"/>
                </a:solidFill>
                <a:latin typeface="Calibri"/>
              </a:rPr>
              <a:t>Cyclones</a:t>
            </a:r>
          </a:p>
        </p:txBody>
      </p:sp>
      <p:sp>
        <p:nvSpPr>
          <p:cNvPr id="37" name="TextBox 36"/>
          <p:cNvSpPr txBox="1"/>
          <p:nvPr/>
        </p:nvSpPr>
        <p:spPr>
          <a:xfrm>
            <a:off x="10104120" y="4160520"/>
            <a:ext cx="1463040" cy="548640"/>
          </a:xfrm>
          <a:prstGeom prst="rect">
            <a:avLst/>
          </a:prstGeom>
          <a:noFill/>
        </p:spPr>
        <p:txBody>
          <a:bodyPr wrap="square" lIns="0" tIns="0" rIns="0" bIns="0" anchor="t">
            <a:spAutoFit/>
          </a:bodyPr>
          <a:lstStyle/>
          <a:p>
            <a:pPr algn="ctr"/>
            <a:r>
              <a:rPr sz="1100" b="1" i="0">
                <a:solidFill>
                  <a:srgbClr val="6B216B"/>
                </a:solidFill>
                <a:latin typeface="Calibri"/>
              </a:rPr>
              <a:t>Tempêtes</a:t>
            </a:r>
          </a:p>
        </p:txBody>
      </p:sp>
      <p:sp>
        <p:nvSpPr>
          <p:cNvPr id="38" name="Rectangle 37"/>
          <p:cNvSpPr/>
          <p:nvPr/>
        </p:nvSpPr>
        <p:spPr>
          <a:xfrm>
            <a:off x="365760" y="5212080"/>
            <a:ext cx="11430000" cy="118872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0080" y="5303520"/>
            <a:ext cx="10972800" cy="1097280"/>
          </a:xfrm>
          <a:prstGeom prst="rect">
            <a:avLst/>
          </a:prstGeom>
          <a:noFill/>
        </p:spPr>
        <p:txBody>
          <a:bodyPr wrap="square" lIns="0" tIns="0" rIns="0" bIns="0" anchor="t">
            <a:spAutoFit/>
          </a:bodyPr>
          <a:lstStyle/>
          <a:p>
            <a:pPr algn="l">
              <a:spcAft>
                <a:spcPts val="400"/>
              </a:spcAft>
            </a:pPr>
            <a:r>
              <a:rPr sz="1300" b="1" i="0">
                <a:solidFill>
                  <a:srgbClr val="FFFFFF"/>
                </a:solidFill>
                <a:latin typeface="Calibri"/>
              </a:rPr>
              <a:t>Sur le littoral, ce sont surtout :</a:t>
            </a:r>
          </a:p>
          <a:p>
            <a:pPr algn="l">
              <a:spcAft>
                <a:spcPts val="600"/>
              </a:spcAft>
            </a:pPr>
            <a:r>
              <a:rPr sz="1300" b="0" i="0">
                <a:solidFill>
                  <a:srgbClr val="FFFFFF"/>
                </a:solidFill>
                <a:latin typeface="Calibri"/>
              </a:rPr>
              <a:t>Inondations (par submersion marine, par débordement de cours d'eau, par ruissellement)  ·  Tempêtes  ·  Cyclones (outre-mer)  ·  Mouvements de terrain (érosion côtière, falaises)  ·  Tsunamis (Méditerranée, outre-mer)</a:t>
            </a:r>
          </a:p>
          <a:p>
            <a:pPr algn="l"/>
            <a:r>
              <a:rPr sz="1300" b="0" i="1">
                <a:solidFill>
                  <a:srgbClr val="FFFFFF"/>
                </a:solidFill>
                <a:latin typeface="Calibri"/>
              </a:rPr>
              <a:t>Et de plus en plus : combinaisons de plusieurs aléas qui s'enchaînent ou se renforcent.</a:t>
            </a:r>
          </a:p>
        </p:txBody>
      </p:sp>
      <p:pic>
        <p:nvPicPr>
          <p:cNvPr id="66" name="Image 65">
            <a:extLst>
              <a:ext uri="{FF2B5EF4-FFF2-40B4-BE49-F238E27FC236}">
                <a16:creationId xmlns:a16="http://schemas.microsoft.com/office/drawing/2014/main" id="{F38FDDAA-49CD-458F-9171-2D6C51459868}"/>
              </a:ext>
            </a:extLst>
          </p:cNvPr>
          <p:cNvPicPr>
            <a:picLocks noChangeAspect="1"/>
          </p:cNvPicPr>
          <p:nvPr/>
        </p:nvPicPr>
        <p:blipFill>
          <a:blip r:embed="rId2"/>
          <a:stretch>
            <a:fillRect/>
          </a:stretch>
        </p:blipFill>
        <p:spPr>
          <a:xfrm>
            <a:off x="414528" y="2880360"/>
            <a:ext cx="1220400" cy="1220400"/>
          </a:xfrm>
          <a:prstGeom prst="rect">
            <a:avLst/>
          </a:prstGeom>
        </p:spPr>
      </p:pic>
      <p:pic>
        <p:nvPicPr>
          <p:cNvPr id="68" name="Image 67">
            <a:extLst>
              <a:ext uri="{FF2B5EF4-FFF2-40B4-BE49-F238E27FC236}">
                <a16:creationId xmlns:a16="http://schemas.microsoft.com/office/drawing/2014/main" id="{DD767506-DE9B-427F-8408-4F15B1587E14}"/>
              </a:ext>
            </a:extLst>
          </p:cNvPr>
          <p:cNvPicPr>
            <a:picLocks noChangeAspect="1"/>
          </p:cNvPicPr>
          <p:nvPr/>
        </p:nvPicPr>
        <p:blipFill>
          <a:blip r:embed="rId3"/>
          <a:stretch>
            <a:fillRect/>
          </a:stretch>
        </p:blipFill>
        <p:spPr>
          <a:xfrm>
            <a:off x="1832632" y="2880360"/>
            <a:ext cx="1220400" cy="1220400"/>
          </a:xfrm>
          <a:prstGeom prst="rect">
            <a:avLst/>
          </a:prstGeom>
        </p:spPr>
      </p:pic>
      <p:pic>
        <p:nvPicPr>
          <p:cNvPr id="74" name="Image 73">
            <a:extLst>
              <a:ext uri="{FF2B5EF4-FFF2-40B4-BE49-F238E27FC236}">
                <a16:creationId xmlns:a16="http://schemas.microsoft.com/office/drawing/2014/main" id="{582ABE62-F28D-46FC-B261-5B8E47B6BC49}"/>
              </a:ext>
            </a:extLst>
          </p:cNvPr>
          <p:cNvPicPr>
            <a:picLocks noChangeAspect="1"/>
          </p:cNvPicPr>
          <p:nvPr/>
        </p:nvPicPr>
        <p:blipFill>
          <a:blip r:embed="rId4"/>
          <a:stretch>
            <a:fillRect/>
          </a:stretch>
        </p:blipFill>
        <p:spPr>
          <a:xfrm>
            <a:off x="3250736" y="2880960"/>
            <a:ext cx="1219200" cy="1219200"/>
          </a:xfrm>
          <a:prstGeom prst="rect">
            <a:avLst/>
          </a:prstGeom>
        </p:spPr>
      </p:pic>
      <p:pic>
        <p:nvPicPr>
          <p:cNvPr id="76" name="Image 75">
            <a:extLst>
              <a:ext uri="{FF2B5EF4-FFF2-40B4-BE49-F238E27FC236}">
                <a16:creationId xmlns:a16="http://schemas.microsoft.com/office/drawing/2014/main" id="{9D9A70A9-DEBF-4A48-A723-228C440620BF}"/>
              </a:ext>
            </a:extLst>
          </p:cNvPr>
          <p:cNvPicPr>
            <a:picLocks noChangeAspect="1"/>
          </p:cNvPicPr>
          <p:nvPr/>
        </p:nvPicPr>
        <p:blipFill>
          <a:blip r:embed="rId5"/>
          <a:stretch>
            <a:fillRect/>
          </a:stretch>
        </p:blipFill>
        <p:spPr>
          <a:xfrm>
            <a:off x="4667640" y="2880960"/>
            <a:ext cx="1219200" cy="1219200"/>
          </a:xfrm>
          <a:prstGeom prst="rect">
            <a:avLst/>
          </a:prstGeom>
        </p:spPr>
      </p:pic>
      <p:pic>
        <p:nvPicPr>
          <p:cNvPr id="78" name="Image 77">
            <a:extLst>
              <a:ext uri="{FF2B5EF4-FFF2-40B4-BE49-F238E27FC236}">
                <a16:creationId xmlns:a16="http://schemas.microsoft.com/office/drawing/2014/main" id="{D85DCE8A-B7F3-4260-B1F7-C7E160BF7501}"/>
              </a:ext>
            </a:extLst>
          </p:cNvPr>
          <p:cNvPicPr>
            <a:picLocks noChangeAspect="1"/>
          </p:cNvPicPr>
          <p:nvPr/>
        </p:nvPicPr>
        <p:blipFill>
          <a:blip r:embed="rId6"/>
          <a:stretch>
            <a:fillRect/>
          </a:stretch>
        </p:blipFill>
        <p:spPr>
          <a:xfrm>
            <a:off x="6084544" y="2880960"/>
            <a:ext cx="1219200" cy="1219200"/>
          </a:xfrm>
          <a:prstGeom prst="rect">
            <a:avLst/>
          </a:prstGeom>
        </p:spPr>
      </p:pic>
      <p:pic>
        <p:nvPicPr>
          <p:cNvPr id="80" name="Image 79">
            <a:extLst>
              <a:ext uri="{FF2B5EF4-FFF2-40B4-BE49-F238E27FC236}">
                <a16:creationId xmlns:a16="http://schemas.microsoft.com/office/drawing/2014/main" id="{03D707BB-DE97-409A-92F1-2562A4F7B3CB}"/>
              </a:ext>
            </a:extLst>
          </p:cNvPr>
          <p:cNvPicPr>
            <a:picLocks noChangeAspect="1"/>
          </p:cNvPicPr>
          <p:nvPr/>
        </p:nvPicPr>
        <p:blipFill>
          <a:blip r:embed="rId7"/>
          <a:stretch>
            <a:fillRect/>
          </a:stretch>
        </p:blipFill>
        <p:spPr>
          <a:xfrm>
            <a:off x="7501448" y="2880960"/>
            <a:ext cx="1219200" cy="1219200"/>
          </a:xfrm>
          <a:prstGeom prst="rect">
            <a:avLst/>
          </a:prstGeom>
        </p:spPr>
      </p:pic>
      <p:pic>
        <p:nvPicPr>
          <p:cNvPr id="82" name="Image 81">
            <a:extLst>
              <a:ext uri="{FF2B5EF4-FFF2-40B4-BE49-F238E27FC236}">
                <a16:creationId xmlns:a16="http://schemas.microsoft.com/office/drawing/2014/main" id="{BFCFE4D5-280B-4337-9357-EF72D27166C8}"/>
              </a:ext>
            </a:extLst>
          </p:cNvPr>
          <p:cNvPicPr>
            <a:picLocks noChangeAspect="1"/>
          </p:cNvPicPr>
          <p:nvPr/>
        </p:nvPicPr>
        <p:blipFill>
          <a:blip r:embed="rId8"/>
          <a:stretch>
            <a:fillRect/>
          </a:stretch>
        </p:blipFill>
        <p:spPr>
          <a:xfrm>
            <a:off x="8918352" y="2880960"/>
            <a:ext cx="1219200" cy="1219200"/>
          </a:xfrm>
          <a:prstGeom prst="rect">
            <a:avLst/>
          </a:prstGeom>
        </p:spPr>
      </p:pic>
      <p:pic>
        <p:nvPicPr>
          <p:cNvPr id="84" name="Image 83">
            <a:extLst>
              <a:ext uri="{FF2B5EF4-FFF2-40B4-BE49-F238E27FC236}">
                <a16:creationId xmlns:a16="http://schemas.microsoft.com/office/drawing/2014/main" id="{86EC8470-CF4E-4659-9855-C9E36F63893F}"/>
              </a:ext>
            </a:extLst>
          </p:cNvPr>
          <p:cNvPicPr>
            <a:picLocks noChangeAspect="1"/>
          </p:cNvPicPr>
          <p:nvPr/>
        </p:nvPicPr>
        <p:blipFill>
          <a:blip r:embed="rId9"/>
          <a:stretch>
            <a:fillRect/>
          </a:stretch>
        </p:blipFill>
        <p:spPr>
          <a:xfrm>
            <a:off x="10335258" y="2880960"/>
            <a:ext cx="1219200" cy="1219200"/>
          </a:xfrm>
          <a:prstGeom prst="rect">
            <a:avLst/>
          </a:prstGeom>
        </p:spPr>
      </p:pic>
      <p:sp>
        <p:nvSpPr>
          <p:cNvPr id="3" name="Espace réservé du numéro de diapositive 2">
            <a:extLst>
              <a:ext uri="{FF2B5EF4-FFF2-40B4-BE49-F238E27FC236}">
                <a16:creationId xmlns:a16="http://schemas.microsoft.com/office/drawing/2014/main" id="{C7A6A80E-1FD6-4A4F-88F6-831F3287691D}"/>
              </a:ext>
            </a:extLst>
          </p:cNvPr>
          <p:cNvSpPr>
            <a:spLocks noGrp="1"/>
          </p:cNvSpPr>
          <p:nvPr>
            <p:ph type="sldNum" sz="quarter" idx="4"/>
          </p:nvPr>
        </p:nvSpPr>
        <p:spPr/>
        <p:txBody>
          <a:bodyPr/>
          <a:lstStyle/>
          <a:p>
            <a:fld id="{9981E6DC-ACA4-4CC4-B142-EC9DBA1C6CBA}" type="slidenum">
              <a:rPr lang="en-US" smtClean="0"/>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14600" y="201168"/>
            <a:ext cx="9509760" cy="713232"/>
          </a:xfrm>
          <a:prstGeom prst="rect">
            <a:avLst/>
          </a:prstGeom>
          <a:noFill/>
        </p:spPr>
        <p:txBody>
          <a:bodyPr wrap="square" lIns="0" tIns="0" rIns="0" bIns="0" anchor="ctr">
            <a:spAutoFit/>
          </a:bodyPr>
          <a:lstStyle/>
          <a:p>
            <a:pPr algn="l"/>
            <a:r>
              <a:rPr sz="2600" b="1" i="0">
                <a:solidFill>
                  <a:srgbClr val="1A1A1A"/>
                </a:solidFill>
                <a:latin typeface="Calibri"/>
              </a:rPr>
              <a:t>Du couple aléa × enjeu… au triptyque aléa × exposition × vulnérabilité</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59664" y="1239520"/>
            <a:ext cx="11430000" cy="1920240"/>
          </a:xfrm>
          <a:prstGeom prst="rect">
            <a:avLst/>
          </a:prstGeom>
          <a:solidFill>
            <a:srgbClr val="FFFFFF"/>
          </a:solidFill>
          <a:ln w="12700">
            <a:solidFill>
              <a:srgbClr val="C0C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1280160"/>
            <a:ext cx="365760" cy="365760"/>
          </a:xfrm>
          <a:prstGeom prst="rect">
            <a:avLst/>
          </a:prstGeom>
          <a:noFill/>
        </p:spPr>
        <p:txBody>
          <a:bodyPr wrap="square" lIns="0" tIns="0" rIns="0" bIns="0" anchor="t">
            <a:spAutoFit/>
          </a:bodyPr>
          <a:lstStyle/>
          <a:p>
            <a:pPr algn="l"/>
            <a:r>
              <a:rPr sz="1100" b="1" i="0">
                <a:solidFill>
                  <a:srgbClr val="404040"/>
                </a:solidFill>
                <a:latin typeface="Calibri"/>
              </a:rPr>
              <a:t>Hier</a:t>
            </a:r>
          </a:p>
        </p:txBody>
      </p:sp>
      <p:sp>
        <p:nvSpPr>
          <p:cNvPr id="13" name="TextBox 12"/>
          <p:cNvSpPr txBox="1"/>
          <p:nvPr/>
        </p:nvSpPr>
        <p:spPr>
          <a:xfrm>
            <a:off x="640080" y="1508760"/>
            <a:ext cx="2377440" cy="320040"/>
          </a:xfrm>
          <a:prstGeom prst="rect">
            <a:avLst/>
          </a:prstGeom>
          <a:noFill/>
        </p:spPr>
        <p:txBody>
          <a:bodyPr wrap="square" lIns="0" tIns="0" rIns="0" bIns="0" anchor="t">
            <a:spAutoFit/>
          </a:bodyPr>
          <a:lstStyle/>
          <a:p>
            <a:pPr algn="ctr"/>
            <a:r>
              <a:rPr sz="1400" b="1" i="0">
                <a:solidFill>
                  <a:srgbClr val="1E2D5C"/>
                </a:solidFill>
                <a:latin typeface="Calibri"/>
              </a:rPr>
              <a:t>ALÉA</a:t>
            </a:r>
          </a:p>
        </p:txBody>
      </p:sp>
      <p:sp>
        <p:nvSpPr>
          <p:cNvPr id="14" name="TextBox 13"/>
          <p:cNvSpPr txBox="1"/>
          <p:nvPr/>
        </p:nvSpPr>
        <p:spPr>
          <a:xfrm>
            <a:off x="640080" y="1828800"/>
            <a:ext cx="2377440" cy="777240"/>
          </a:xfrm>
          <a:prstGeom prst="rect">
            <a:avLst/>
          </a:prstGeom>
          <a:noFill/>
        </p:spPr>
        <p:txBody>
          <a:bodyPr wrap="square" lIns="0" tIns="0" rIns="0" bIns="0" anchor="t">
            <a:spAutoFit/>
          </a:bodyPr>
          <a:lstStyle/>
          <a:p>
            <a:pPr algn="ctr"/>
            <a:r>
              <a:rPr sz="1000" b="0" i="0">
                <a:solidFill>
                  <a:srgbClr val="1A1A1A"/>
                </a:solidFill>
                <a:latin typeface="Calibri"/>
              </a:rPr>
              <a:t>Phénomène, naturel ou technologique, plus ou moins probable sur un espace donné.</a:t>
            </a:r>
          </a:p>
        </p:txBody>
      </p:sp>
      <p:sp>
        <p:nvSpPr>
          <p:cNvPr id="15" name="TextBox 14"/>
          <p:cNvSpPr txBox="1"/>
          <p:nvPr/>
        </p:nvSpPr>
        <p:spPr>
          <a:xfrm>
            <a:off x="640080" y="2606040"/>
            <a:ext cx="2377440" cy="365760"/>
          </a:xfrm>
          <a:prstGeom prst="rect">
            <a:avLst/>
          </a:prstGeom>
          <a:noFill/>
        </p:spPr>
        <p:txBody>
          <a:bodyPr wrap="square" lIns="0" tIns="0" rIns="0" bIns="0" anchor="t">
            <a:spAutoFit/>
          </a:bodyPr>
          <a:lstStyle/>
          <a:p>
            <a:pPr algn="ctr"/>
            <a:r>
              <a:rPr sz="1000" b="0" i="1">
                <a:solidFill>
                  <a:srgbClr val="404040"/>
                </a:solidFill>
                <a:latin typeface="Calibri"/>
              </a:rPr>
              <a:t>Ex. : une submersion marine</a:t>
            </a:r>
          </a:p>
        </p:txBody>
      </p:sp>
      <p:sp>
        <p:nvSpPr>
          <p:cNvPr id="16" name="TextBox 15"/>
          <p:cNvSpPr txBox="1"/>
          <p:nvPr/>
        </p:nvSpPr>
        <p:spPr>
          <a:xfrm>
            <a:off x="3017520" y="1554480"/>
            <a:ext cx="365760" cy="1463040"/>
          </a:xfrm>
          <a:prstGeom prst="rect">
            <a:avLst/>
          </a:prstGeom>
          <a:noFill/>
        </p:spPr>
        <p:txBody>
          <a:bodyPr wrap="square" lIns="0" tIns="0" rIns="0" bIns="0" anchor="ctr">
            <a:spAutoFit/>
          </a:bodyPr>
          <a:lstStyle/>
          <a:p>
            <a:pPr algn="ctr"/>
            <a:r>
              <a:rPr sz="3600" b="1" i="0">
                <a:solidFill>
                  <a:srgbClr val="404040"/>
                </a:solidFill>
                <a:latin typeface="Calibri"/>
              </a:rPr>
              <a:t>×</a:t>
            </a:r>
          </a:p>
        </p:txBody>
      </p:sp>
      <p:sp>
        <p:nvSpPr>
          <p:cNvPr id="17" name="TextBox 16"/>
          <p:cNvSpPr txBox="1"/>
          <p:nvPr/>
        </p:nvSpPr>
        <p:spPr>
          <a:xfrm>
            <a:off x="3383279" y="1508760"/>
            <a:ext cx="2377440" cy="320040"/>
          </a:xfrm>
          <a:prstGeom prst="rect">
            <a:avLst/>
          </a:prstGeom>
          <a:noFill/>
        </p:spPr>
        <p:txBody>
          <a:bodyPr wrap="square" lIns="0" tIns="0" rIns="0" bIns="0" anchor="t">
            <a:spAutoFit/>
          </a:bodyPr>
          <a:lstStyle/>
          <a:p>
            <a:pPr algn="ctr"/>
            <a:r>
              <a:rPr sz="1400" b="1" i="0">
                <a:solidFill>
                  <a:srgbClr val="1E2D5C"/>
                </a:solidFill>
                <a:latin typeface="Calibri"/>
              </a:rPr>
              <a:t>ENJEU</a:t>
            </a:r>
          </a:p>
        </p:txBody>
      </p:sp>
      <p:sp>
        <p:nvSpPr>
          <p:cNvPr id="18" name="TextBox 17"/>
          <p:cNvSpPr txBox="1"/>
          <p:nvPr/>
        </p:nvSpPr>
        <p:spPr>
          <a:xfrm>
            <a:off x="3383279" y="1828800"/>
            <a:ext cx="2377440" cy="777240"/>
          </a:xfrm>
          <a:prstGeom prst="rect">
            <a:avLst/>
          </a:prstGeom>
          <a:noFill/>
        </p:spPr>
        <p:txBody>
          <a:bodyPr wrap="square" lIns="0" tIns="0" rIns="0" bIns="0" anchor="t">
            <a:spAutoFit/>
          </a:bodyPr>
          <a:lstStyle/>
          <a:p>
            <a:pPr algn="ctr"/>
            <a:r>
              <a:rPr sz="1000" b="0" i="0">
                <a:solidFill>
                  <a:srgbClr val="1A1A1A"/>
                </a:solidFill>
                <a:latin typeface="Calibri"/>
              </a:rPr>
              <a:t>Personnes, biens, activités, patrimoine, etc. exposés à l'aléa.</a:t>
            </a:r>
          </a:p>
        </p:txBody>
      </p:sp>
      <p:sp>
        <p:nvSpPr>
          <p:cNvPr id="19" name="TextBox 18"/>
          <p:cNvSpPr txBox="1"/>
          <p:nvPr/>
        </p:nvSpPr>
        <p:spPr>
          <a:xfrm>
            <a:off x="3383279" y="2606040"/>
            <a:ext cx="2377440" cy="365760"/>
          </a:xfrm>
          <a:prstGeom prst="rect">
            <a:avLst/>
          </a:prstGeom>
          <a:noFill/>
        </p:spPr>
        <p:txBody>
          <a:bodyPr wrap="square" lIns="0" tIns="0" rIns="0" bIns="0" anchor="t">
            <a:spAutoFit/>
          </a:bodyPr>
          <a:lstStyle/>
          <a:p>
            <a:pPr algn="ctr"/>
            <a:r>
              <a:rPr sz="1000" b="0" i="1">
                <a:solidFill>
                  <a:srgbClr val="404040"/>
                </a:solidFill>
                <a:latin typeface="Calibri"/>
              </a:rPr>
              <a:t>Ex. : une zone urbanisée du littoral</a:t>
            </a:r>
          </a:p>
        </p:txBody>
      </p:sp>
      <p:sp>
        <p:nvSpPr>
          <p:cNvPr id="20" name="TextBox 19"/>
          <p:cNvSpPr txBox="1"/>
          <p:nvPr/>
        </p:nvSpPr>
        <p:spPr>
          <a:xfrm>
            <a:off x="5760720" y="1554480"/>
            <a:ext cx="365760" cy="1463040"/>
          </a:xfrm>
          <a:prstGeom prst="rect">
            <a:avLst/>
          </a:prstGeom>
          <a:noFill/>
        </p:spPr>
        <p:txBody>
          <a:bodyPr wrap="square" lIns="0" tIns="0" rIns="0" bIns="0" anchor="ctr">
            <a:spAutoFit/>
          </a:bodyPr>
          <a:lstStyle/>
          <a:p>
            <a:pPr algn="ctr"/>
            <a:r>
              <a:rPr sz="3600" b="1" i="0">
                <a:solidFill>
                  <a:srgbClr val="404040"/>
                </a:solidFill>
                <a:latin typeface="Calibri"/>
              </a:rPr>
              <a:t>=</a:t>
            </a:r>
          </a:p>
        </p:txBody>
      </p:sp>
      <p:sp>
        <p:nvSpPr>
          <p:cNvPr id="21" name="TextBox 20"/>
          <p:cNvSpPr txBox="1"/>
          <p:nvPr/>
        </p:nvSpPr>
        <p:spPr>
          <a:xfrm>
            <a:off x="6126480" y="1508760"/>
            <a:ext cx="2377440" cy="320040"/>
          </a:xfrm>
          <a:prstGeom prst="rect">
            <a:avLst/>
          </a:prstGeom>
          <a:noFill/>
        </p:spPr>
        <p:txBody>
          <a:bodyPr wrap="square" lIns="0" tIns="0" rIns="0" bIns="0" anchor="t">
            <a:spAutoFit/>
          </a:bodyPr>
          <a:lstStyle/>
          <a:p>
            <a:pPr algn="ctr"/>
            <a:r>
              <a:rPr sz="1400" b="1" i="0">
                <a:solidFill>
                  <a:srgbClr val="1E2D5C"/>
                </a:solidFill>
                <a:latin typeface="Calibri"/>
              </a:rPr>
              <a:t>RISQUE</a:t>
            </a:r>
          </a:p>
        </p:txBody>
      </p:sp>
      <p:sp>
        <p:nvSpPr>
          <p:cNvPr id="22" name="TextBox 21"/>
          <p:cNvSpPr txBox="1"/>
          <p:nvPr/>
        </p:nvSpPr>
        <p:spPr>
          <a:xfrm>
            <a:off x="6126480" y="1828800"/>
            <a:ext cx="2377440" cy="777240"/>
          </a:xfrm>
          <a:prstGeom prst="rect">
            <a:avLst/>
          </a:prstGeom>
          <a:noFill/>
        </p:spPr>
        <p:txBody>
          <a:bodyPr wrap="square" lIns="0" tIns="0" rIns="0" bIns="0" anchor="t">
            <a:spAutoFit/>
          </a:bodyPr>
          <a:lstStyle/>
          <a:p>
            <a:pPr algn="ctr"/>
            <a:r>
              <a:rPr sz="1000" b="0" i="0">
                <a:solidFill>
                  <a:srgbClr val="1A1A1A"/>
                </a:solidFill>
                <a:latin typeface="Calibri"/>
              </a:rPr>
              <a:t>Conjugaison de l'aléa et de l'enjeu exposé.</a:t>
            </a:r>
          </a:p>
        </p:txBody>
      </p:sp>
      <p:sp>
        <p:nvSpPr>
          <p:cNvPr id="23" name="TextBox 22"/>
          <p:cNvSpPr txBox="1"/>
          <p:nvPr/>
        </p:nvSpPr>
        <p:spPr>
          <a:xfrm>
            <a:off x="6126480" y="2606040"/>
            <a:ext cx="2377440" cy="365760"/>
          </a:xfrm>
          <a:prstGeom prst="rect">
            <a:avLst/>
          </a:prstGeom>
          <a:noFill/>
        </p:spPr>
        <p:txBody>
          <a:bodyPr wrap="square" lIns="0" tIns="0" rIns="0" bIns="0" anchor="t">
            <a:spAutoFit/>
          </a:bodyPr>
          <a:lstStyle/>
          <a:p>
            <a:pPr algn="ctr"/>
            <a:r>
              <a:rPr sz="1000" b="0" i="1">
                <a:solidFill>
                  <a:srgbClr val="404040"/>
                </a:solidFill>
                <a:latin typeface="Calibri"/>
              </a:rPr>
              <a:t>Ex. : conséquences de la submersion sur la zone urbanisée</a:t>
            </a:r>
          </a:p>
        </p:txBody>
      </p:sp>
      <p:sp>
        <p:nvSpPr>
          <p:cNvPr id="24" name="TextBox 23"/>
          <p:cNvSpPr txBox="1"/>
          <p:nvPr/>
        </p:nvSpPr>
        <p:spPr>
          <a:xfrm>
            <a:off x="5029200" y="3154680"/>
            <a:ext cx="2103120" cy="365760"/>
          </a:xfrm>
          <a:prstGeom prst="rect">
            <a:avLst/>
          </a:prstGeom>
          <a:noFill/>
        </p:spPr>
        <p:txBody>
          <a:bodyPr wrap="square" lIns="0" tIns="0" rIns="0" bIns="0" anchor="t">
            <a:spAutoFit/>
          </a:bodyPr>
          <a:lstStyle/>
          <a:p>
            <a:pPr algn="ctr"/>
            <a:r>
              <a:rPr sz="1400" b="1" i="0">
                <a:solidFill>
                  <a:srgbClr val="E86E55"/>
                </a:solidFill>
                <a:latin typeface="Calibri"/>
              </a:rPr>
              <a:t>▼  AUJOURD'HUI</a:t>
            </a:r>
          </a:p>
        </p:txBody>
      </p:sp>
      <p:sp>
        <p:nvSpPr>
          <p:cNvPr id="25" name="Rectangle 24"/>
          <p:cNvSpPr/>
          <p:nvPr/>
        </p:nvSpPr>
        <p:spPr>
          <a:xfrm>
            <a:off x="365760" y="3611880"/>
            <a:ext cx="11430000" cy="224028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 y="3749039"/>
            <a:ext cx="2377440" cy="365760"/>
          </a:xfrm>
          <a:prstGeom prst="rect">
            <a:avLst/>
          </a:prstGeom>
          <a:noFill/>
        </p:spPr>
        <p:txBody>
          <a:bodyPr wrap="square" lIns="0" tIns="0" rIns="0" bIns="0" anchor="t">
            <a:spAutoFit/>
          </a:bodyPr>
          <a:lstStyle/>
          <a:p>
            <a:pPr algn="ctr"/>
            <a:r>
              <a:rPr sz="1500" b="1" i="0">
                <a:solidFill>
                  <a:srgbClr val="FFFFFF"/>
                </a:solidFill>
                <a:latin typeface="Calibri"/>
              </a:rPr>
              <a:t>ALÉA</a:t>
            </a:r>
          </a:p>
        </p:txBody>
      </p:sp>
      <p:sp>
        <p:nvSpPr>
          <p:cNvPr id="27" name="TextBox 26"/>
          <p:cNvSpPr txBox="1"/>
          <p:nvPr/>
        </p:nvSpPr>
        <p:spPr>
          <a:xfrm>
            <a:off x="640080" y="4160520"/>
            <a:ext cx="2377440" cy="914400"/>
          </a:xfrm>
          <a:prstGeom prst="rect">
            <a:avLst/>
          </a:prstGeom>
          <a:noFill/>
        </p:spPr>
        <p:txBody>
          <a:bodyPr wrap="square" lIns="0" tIns="0" rIns="0" bIns="0" anchor="t">
            <a:spAutoFit/>
          </a:bodyPr>
          <a:lstStyle/>
          <a:p>
            <a:pPr algn="ctr"/>
            <a:r>
              <a:rPr sz="1100" b="0" i="0">
                <a:solidFill>
                  <a:srgbClr val="FFFFFF"/>
                </a:solidFill>
                <a:latin typeface="Calibri"/>
              </a:rPr>
              <a:t>Le phénomène et son évolution dans un climat en mutation.</a:t>
            </a:r>
          </a:p>
        </p:txBody>
      </p:sp>
      <p:sp>
        <p:nvSpPr>
          <p:cNvPr id="28" name="TextBox 27"/>
          <p:cNvSpPr txBox="1"/>
          <p:nvPr/>
        </p:nvSpPr>
        <p:spPr>
          <a:xfrm>
            <a:off x="640080" y="5074920"/>
            <a:ext cx="2377440" cy="731520"/>
          </a:xfrm>
          <a:prstGeom prst="rect">
            <a:avLst/>
          </a:prstGeom>
          <a:noFill/>
        </p:spPr>
        <p:txBody>
          <a:bodyPr wrap="square" lIns="0" tIns="0" rIns="0" bIns="0" anchor="t">
            <a:spAutoFit/>
          </a:bodyPr>
          <a:lstStyle/>
          <a:p>
            <a:pPr algn="ctr"/>
            <a:r>
              <a:rPr sz="1100" b="0" i="1">
                <a:solidFill>
                  <a:srgbClr val="FFFFFF"/>
                </a:solidFill>
                <a:latin typeface="Calibri"/>
              </a:rPr>
              <a:t>+ fréquent, + intense, + imprévisible</a:t>
            </a:r>
          </a:p>
        </p:txBody>
      </p:sp>
      <p:sp>
        <p:nvSpPr>
          <p:cNvPr id="29" name="TextBox 28"/>
          <p:cNvSpPr txBox="1"/>
          <p:nvPr/>
        </p:nvSpPr>
        <p:spPr>
          <a:xfrm>
            <a:off x="3017520" y="3749039"/>
            <a:ext cx="365760" cy="2011680"/>
          </a:xfrm>
          <a:prstGeom prst="rect">
            <a:avLst/>
          </a:prstGeom>
          <a:noFill/>
        </p:spPr>
        <p:txBody>
          <a:bodyPr wrap="square" lIns="0" tIns="0" rIns="0" bIns="0" anchor="ctr">
            <a:spAutoFit/>
          </a:bodyPr>
          <a:lstStyle/>
          <a:p>
            <a:pPr algn="ctr"/>
            <a:r>
              <a:rPr sz="3600" b="1" i="0">
                <a:solidFill>
                  <a:srgbClr val="FFFFFF"/>
                </a:solidFill>
                <a:latin typeface="Calibri"/>
              </a:rPr>
              <a:t>×</a:t>
            </a:r>
          </a:p>
        </p:txBody>
      </p:sp>
      <p:sp>
        <p:nvSpPr>
          <p:cNvPr id="30" name="TextBox 29"/>
          <p:cNvSpPr txBox="1"/>
          <p:nvPr/>
        </p:nvSpPr>
        <p:spPr>
          <a:xfrm>
            <a:off x="3383279" y="3749039"/>
            <a:ext cx="2377440" cy="365760"/>
          </a:xfrm>
          <a:prstGeom prst="rect">
            <a:avLst/>
          </a:prstGeom>
          <a:noFill/>
        </p:spPr>
        <p:txBody>
          <a:bodyPr wrap="square" lIns="0" tIns="0" rIns="0" bIns="0" anchor="t">
            <a:spAutoFit/>
          </a:bodyPr>
          <a:lstStyle/>
          <a:p>
            <a:pPr algn="ctr"/>
            <a:r>
              <a:rPr sz="1500" b="1" i="0">
                <a:solidFill>
                  <a:srgbClr val="FFFFFF"/>
                </a:solidFill>
                <a:latin typeface="Calibri"/>
              </a:rPr>
              <a:t>EXPOSITION</a:t>
            </a:r>
          </a:p>
        </p:txBody>
      </p:sp>
      <p:sp>
        <p:nvSpPr>
          <p:cNvPr id="31" name="TextBox 30"/>
          <p:cNvSpPr txBox="1"/>
          <p:nvPr/>
        </p:nvSpPr>
        <p:spPr>
          <a:xfrm>
            <a:off x="3383279" y="4160520"/>
            <a:ext cx="2377440" cy="914400"/>
          </a:xfrm>
          <a:prstGeom prst="rect">
            <a:avLst/>
          </a:prstGeom>
          <a:noFill/>
        </p:spPr>
        <p:txBody>
          <a:bodyPr wrap="square" lIns="0" tIns="0" rIns="0" bIns="0" anchor="t">
            <a:spAutoFit/>
          </a:bodyPr>
          <a:lstStyle/>
          <a:p>
            <a:pPr algn="ctr"/>
            <a:r>
              <a:rPr sz="1100" b="0" i="0">
                <a:solidFill>
                  <a:srgbClr val="FFFFFF"/>
                </a:solidFill>
                <a:latin typeface="Calibri"/>
              </a:rPr>
              <a:t>Les biens, personnes, activités présents là où l'aléa peut se produire.</a:t>
            </a:r>
          </a:p>
        </p:txBody>
      </p:sp>
      <p:sp>
        <p:nvSpPr>
          <p:cNvPr id="32" name="TextBox 31"/>
          <p:cNvSpPr txBox="1"/>
          <p:nvPr/>
        </p:nvSpPr>
        <p:spPr>
          <a:xfrm>
            <a:off x="3383279" y="5074920"/>
            <a:ext cx="2377440" cy="731520"/>
          </a:xfrm>
          <a:prstGeom prst="rect">
            <a:avLst/>
          </a:prstGeom>
          <a:noFill/>
        </p:spPr>
        <p:txBody>
          <a:bodyPr wrap="square" lIns="0" tIns="0" rIns="0" bIns="0" anchor="t">
            <a:spAutoFit/>
          </a:bodyPr>
          <a:lstStyle/>
          <a:p>
            <a:pPr algn="ctr"/>
            <a:r>
              <a:rPr sz="1100" b="0" i="1">
                <a:solidFill>
                  <a:srgbClr val="FFFFFF"/>
                </a:solidFill>
                <a:latin typeface="Calibri"/>
              </a:rPr>
              <a:t>Conséquence directe de l'urbanisation et des choix d'aménagement</a:t>
            </a:r>
          </a:p>
        </p:txBody>
      </p:sp>
      <p:sp>
        <p:nvSpPr>
          <p:cNvPr id="33" name="TextBox 32"/>
          <p:cNvSpPr txBox="1"/>
          <p:nvPr/>
        </p:nvSpPr>
        <p:spPr>
          <a:xfrm>
            <a:off x="5760720" y="3749039"/>
            <a:ext cx="365760" cy="2011680"/>
          </a:xfrm>
          <a:prstGeom prst="rect">
            <a:avLst/>
          </a:prstGeom>
          <a:noFill/>
        </p:spPr>
        <p:txBody>
          <a:bodyPr wrap="square" lIns="0" tIns="0" rIns="0" bIns="0" anchor="ctr">
            <a:spAutoFit/>
          </a:bodyPr>
          <a:lstStyle/>
          <a:p>
            <a:pPr algn="ctr"/>
            <a:r>
              <a:rPr sz="3600" b="1" i="0">
                <a:solidFill>
                  <a:srgbClr val="FFFFFF"/>
                </a:solidFill>
                <a:latin typeface="Calibri"/>
              </a:rPr>
              <a:t>×</a:t>
            </a:r>
          </a:p>
        </p:txBody>
      </p:sp>
      <p:sp>
        <p:nvSpPr>
          <p:cNvPr id="34" name="TextBox 33"/>
          <p:cNvSpPr txBox="1"/>
          <p:nvPr/>
        </p:nvSpPr>
        <p:spPr>
          <a:xfrm>
            <a:off x="6126480" y="3749039"/>
            <a:ext cx="2377440" cy="365760"/>
          </a:xfrm>
          <a:prstGeom prst="rect">
            <a:avLst/>
          </a:prstGeom>
          <a:noFill/>
        </p:spPr>
        <p:txBody>
          <a:bodyPr wrap="square" lIns="0" tIns="0" rIns="0" bIns="0" anchor="t">
            <a:spAutoFit/>
          </a:bodyPr>
          <a:lstStyle/>
          <a:p>
            <a:pPr algn="ctr"/>
            <a:r>
              <a:rPr sz="1500" b="1" i="0">
                <a:solidFill>
                  <a:srgbClr val="FFFFFF"/>
                </a:solidFill>
                <a:latin typeface="Calibri"/>
              </a:rPr>
              <a:t>VULNÉRABILITÉ</a:t>
            </a:r>
          </a:p>
        </p:txBody>
      </p:sp>
      <p:sp>
        <p:nvSpPr>
          <p:cNvPr id="35" name="TextBox 34"/>
          <p:cNvSpPr txBox="1"/>
          <p:nvPr/>
        </p:nvSpPr>
        <p:spPr>
          <a:xfrm>
            <a:off x="6126480" y="4160520"/>
            <a:ext cx="2377440" cy="914400"/>
          </a:xfrm>
          <a:prstGeom prst="rect">
            <a:avLst/>
          </a:prstGeom>
          <a:noFill/>
        </p:spPr>
        <p:txBody>
          <a:bodyPr wrap="square" lIns="0" tIns="0" rIns="0" bIns="0" anchor="t">
            <a:spAutoFit/>
          </a:bodyPr>
          <a:lstStyle/>
          <a:p>
            <a:pPr algn="ctr"/>
            <a:r>
              <a:rPr sz="1100" b="0" i="0">
                <a:solidFill>
                  <a:srgbClr val="FFFFFF"/>
                </a:solidFill>
                <a:latin typeface="Calibri"/>
              </a:rPr>
              <a:t>Capacité (ou non) à encaisser, à se relever, à se transformer.</a:t>
            </a:r>
          </a:p>
        </p:txBody>
      </p:sp>
      <p:sp>
        <p:nvSpPr>
          <p:cNvPr id="36" name="TextBox 35"/>
          <p:cNvSpPr txBox="1"/>
          <p:nvPr/>
        </p:nvSpPr>
        <p:spPr>
          <a:xfrm>
            <a:off x="6126480" y="5074920"/>
            <a:ext cx="2377440" cy="731520"/>
          </a:xfrm>
          <a:prstGeom prst="rect">
            <a:avLst/>
          </a:prstGeom>
          <a:noFill/>
        </p:spPr>
        <p:txBody>
          <a:bodyPr wrap="square" lIns="0" tIns="0" rIns="0" bIns="0" anchor="t">
            <a:spAutoFit/>
          </a:bodyPr>
          <a:lstStyle/>
          <a:p>
            <a:pPr algn="ctr"/>
            <a:r>
              <a:rPr sz="1100" b="0" i="1">
                <a:solidFill>
                  <a:srgbClr val="FFFFFF"/>
                </a:solidFill>
                <a:latin typeface="Calibri"/>
              </a:rPr>
              <a:t>Sociale, économique, technique, organisationnelle</a:t>
            </a:r>
          </a:p>
        </p:txBody>
      </p:sp>
      <p:sp>
        <p:nvSpPr>
          <p:cNvPr id="37" name="TextBox 36"/>
          <p:cNvSpPr txBox="1"/>
          <p:nvPr/>
        </p:nvSpPr>
        <p:spPr>
          <a:xfrm>
            <a:off x="365760" y="5989320"/>
            <a:ext cx="11430000" cy="411480"/>
          </a:xfrm>
          <a:prstGeom prst="rect">
            <a:avLst/>
          </a:prstGeom>
          <a:noFill/>
        </p:spPr>
        <p:txBody>
          <a:bodyPr wrap="square" lIns="0" tIns="0" rIns="0" bIns="0" anchor="t">
            <a:spAutoFit/>
          </a:bodyPr>
          <a:lstStyle/>
          <a:p>
            <a:pPr algn="ctr"/>
            <a:r>
              <a:rPr sz="1400" b="1" i="1">
                <a:solidFill>
                  <a:srgbClr val="E86E55"/>
                </a:solidFill>
                <a:latin typeface="Calibri"/>
              </a:rPr>
              <a:t>→  La résilience se construit en agissant sur les TROIS termes — pas seulement sur l'aléa, qu'on ne maîtrise pas.</a:t>
            </a:r>
          </a:p>
        </p:txBody>
      </p:sp>
      <p:sp>
        <p:nvSpPr>
          <p:cNvPr id="38" name="TextBox 19">
            <a:extLst>
              <a:ext uri="{FF2B5EF4-FFF2-40B4-BE49-F238E27FC236}">
                <a16:creationId xmlns:a16="http://schemas.microsoft.com/office/drawing/2014/main" id="{A671D440-9184-42CA-8DEC-C264185929BC}"/>
              </a:ext>
            </a:extLst>
          </p:cNvPr>
          <p:cNvSpPr txBox="1"/>
          <p:nvPr/>
        </p:nvSpPr>
        <p:spPr>
          <a:xfrm>
            <a:off x="8310880" y="4366121"/>
            <a:ext cx="365760" cy="553998"/>
          </a:xfrm>
          <a:prstGeom prst="rect">
            <a:avLst/>
          </a:prstGeom>
          <a:noFill/>
        </p:spPr>
        <p:txBody>
          <a:bodyPr wrap="square" lIns="0" tIns="0" rIns="0" bIns="0" anchor="ctr">
            <a:spAutoFit/>
          </a:bodyPr>
          <a:lstStyle/>
          <a:p>
            <a:pPr algn="ctr"/>
            <a:r>
              <a:rPr sz="3600" b="1" i="0">
                <a:solidFill>
                  <a:schemeClr val="bg1"/>
                </a:solidFill>
                <a:latin typeface="Calibri"/>
              </a:rPr>
              <a:t>=</a:t>
            </a:r>
          </a:p>
        </p:txBody>
      </p:sp>
      <p:sp>
        <p:nvSpPr>
          <p:cNvPr id="39" name="TextBox 20">
            <a:extLst>
              <a:ext uri="{FF2B5EF4-FFF2-40B4-BE49-F238E27FC236}">
                <a16:creationId xmlns:a16="http://schemas.microsoft.com/office/drawing/2014/main" id="{FDCA89BC-F7AC-4231-938B-F65FECED9976}"/>
              </a:ext>
            </a:extLst>
          </p:cNvPr>
          <p:cNvSpPr txBox="1"/>
          <p:nvPr/>
        </p:nvSpPr>
        <p:spPr>
          <a:xfrm>
            <a:off x="8676640" y="3865880"/>
            <a:ext cx="2377440" cy="215444"/>
          </a:xfrm>
          <a:prstGeom prst="rect">
            <a:avLst/>
          </a:prstGeom>
          <a:noFill/>
        </p:spPr>
        <p:txBody>
          <a:bodyPr wrap="square" lIns="0" tIns="0" rIns="0" bIns="0" anchor="t">
            <a:spAutoFit/>
          </a:bodyPr>
          <a:lstStyle/>
          <a:p>
            <a:pPr algn="ctr"/>
            <a:r>
              <a:rPr sz="1400" b="1" i="0">
                <a:solidFill>
                  <a:schemeClr val="bg1"/>
                </a:solidFill>
                <a:latin typeface="Calibri"/>
              </a:rPr>
              <a:t>RISQUE</a:t>
            </a:r>
          </a:p>
        </p:txBody>
      </p:sp>
      <p:sp>
        <p:nvSpPr>
          <p:cNvPr id="40" name="TextBox 21">
            <a:extLst>
              <a:ext uri="{FF2B5EF4-FFF2-40B4-BE49-F238E27FC236}">
                <a16:creationId xmlns:a16="http://schemas.microsoft.com/office/drawing/2014/main" id="{55AA78BD-1055-4DE3-84FF-A7CC7CD93BE1}"/>
              </a:ext>
            </a:extLst>
          </p:cNvPr>
          <p:cNvSpPr txBox="1"/>
          <p:nvPr/>
        </p:nvSpPr>
        <p:spPr>
          <a:xfrm>
            <a:off x="8676640" y="4185920"/>
            <a:ext cx="2377440" cy="153888"/>
          </a:xfrm>
          <a:prstGeom prst="rect">
            <a:avLst/>
          </a:prstGeom>
          <a:noFill/>
        </p:spPr>
        <p:txBody>
          <a:bodyPr wrap="square" lIns="0" tIns="0" rIns="0" bIns="0" anchor="t">
            <a:spAutoFit/>
          </a:bodyPr>
          <a:lstStyle/>
          <a:p>
            <a:pPr algn="ctr"/>
            <a:r>
              <a:rPr sz="1000" b="0" i="0">
                <a:solidFill>
                  <a:schemeClr val="bg1"/>
                </a:solidFill>
                <a:latin typeface="Calibri"/>
              </a:rPr>
              <a:t>Conjugaison de l'aléa et de l'enjeu exposé.</a:t>
            </a:r>
          </a:p>
        </p:txBody>
      </p:sp>
      <p:sp>
        <p:nvSpPr>
          <p:cNvPr id="41" name="TextBox 22">
            <a:extLst>
              <a:ext uri="{FF2B5EF4-FFF2-40B4-BE49-F238E27FC236}">
                <a16:creationId xmlns:a16="http://schemas.microsoft.com/office/drawing/2014/main" id="{8CDD595C-097E-4955-9FA1-81DA3A4C9DAE}"/>
              </a:ext>
            </a:extLst>
          </p:cNvPr>
          <p:cNvSpPr txBox="1"/>
          <p:nvPr/>
        </p:nvSpPr>
        <p:spPr>
          <a:xfrm>
            <a:off x="8676640" y="4963160"/>
            <a:ext cx="2377440" cy="307777"/>
          </a:xfrm>
          <a:prstGeom prst="rect">
            <a:avLst/>
          </a:prstGeom>
          <a:noFill/>
        </p:spPr>
        <p:txBody>
          <a:bodyPr wrap="square" lIns="0" tIns="0" rIns="0" bIns="0" anchor="t">
            <a:spAutoFit/>
          </a:bodyPr>
          <a:lstStyle/>
          <a:p>
            <a:pPr algn="ctr"/>
            <a:r>
              <a:rPr sz="1000" b="0" i="1">
                <a:solidFill>
                  <a:schemeClr val="bg1"/>
                </a:solidFill>
                <a:latin typeface="Calibri"/>
              </a:rPr>
              <a:t>Ex. : conséquences de la submersion sur la zone urbanisée</a:t>
            </a:r>
          </a:p>
        </p:txBody>
      </p:sp>
      <p:sp>
        <p:nvSpPr>
          <p:cNvPr id="3" name="Espace réservé du numéro de diapositive 2">
            <a:extLst>
              <a:ext uri="{FF2B5EF4-FFF2-40B4-BE49-F238E27FC236}">
                <a16:creationId xmlns:a16="http://schemas.microsoft.com/office/drawing/2014/main" id="{2F586A28-8A95-4F09-9E6C-FC26E63F8CC8}"/>
              </a:ext>
            </a:extLst>
          </p:cNvPr>
          <p:cNvSpPr>
            <a:spLocks noGrp="1"/>
          </p:cNvSpPr>
          <p:nvPr>
            <p:ph type="sldNum" sz="quarter" idx="4"/>
          </p:nvPr>
        </p:nvSpPr>
        <p:spPr/>
        <p:txBody>
          <a:bodyPr/>
          <a:lstStyle/>
          <a:p>
            <a:fld id="{9981E6DC-ACA4-4CC4-B142-EC9DBA1C6CBA}" type="slidenum">
              <a:rPr lang="en-US" smtClean="0"/>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14600" y="201168"/>
            <a:ext cx="9509760" cy="713232"/>
          </a:xfrm>
          <a:prstGeom prst="rect">
            <a:avLst/>
          </a:prstGeom>
          <a:noFill/>
        </p:spPr>
        <p:txBody>
          <a:bodyPr wrap="square" lIns="0" tIns="0" rIns="0" bIns="0" anchor="ctr">
            <a:spAutoFit/>
          </a:bodyPr>
          <a:lstStyle/>
          <a:p>
            <a:pPr algn="l"/>
            <a:r>
              <a:rPr sz="2600" b="1" i="0">
                <a:solidFill>
                  <a:srgbClr val="1A1A1A"/>
                </a:solidFill>
                <a:latin typeface="Calibri"/>
              </a:rPr>
              <a:t>La résilience — définition opérationnelle</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65760" y="1188720"/>
            <a:ext cx="11430000" cy="201168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1371600"/>
            <a:ext cx="10698480" cy="1828800"/>
          </a:xfrm>
          <a:prstGeom prst="rect">
            <a:avLst/>
          </a:prstGeom>
          <a:noFill/>
        </p:spPr>
        <p:txBody>
          <a:bodyPr wrap="square" lIns="0" tIns="0" rIns="0" bIns="0" anchor="t">
            <a:spAutoFit/>
          </a:bodyPr>
          <a:lstStyle/>
          <a:p>
            <a:pPr algn="l">
              <a:spcAft>
                <a:spcPts val="600"/>
              </a:spcAft>
            </a:pPr>
            <a:r>
              <a:rPr sz="1400" b="1" i="0">
                <a:solidFill>
                  <a:srgbClr val="FFFFFF"/>
                </a:solidFill>
                <a:latin typeface="Calibri"/>
              </a:rPr>
              <a:t>RÉSILIENCE</a:t>
            </a:r>
          </a:p>
          <a:p>
            <a:pPr algn="l">
              <a:spcAft>
                <a:spcPts val="800"/>
              </a:spcAft>
            </a:pPr>
            <a:r>
              <a:rPr sz="1700" b="0" i="1">
                <a:solidFill>
                  <a:srgbClr val="FFFFFF"/>
                </a:solidFill>
                <a:latin typeface="Calibri"/>
              </a:rPr>
              <a:t>Capacité d'un territoire ou d'un système à faire face à une perturbation, à l'absorber, à maintenir tout ou partie de sa structure et de ses fonctions, à se relever et se reconstruire — si possible en tirant les leçons de l'expérience vécue.</a:t>
            </a:r>
          </a:p>
          <a:p>
            <a:pPr algn="l"/>
            <a:r>
              <a:rPr sz="1100" b="0" i="1">
                <a:solidFill>
                  <a:srgbClr val="FFFFFF"/>
                </a:solidFill>
                <a:latin typeface="Calibri"/>
              </a:rPr>
              <a:t>Source : Mission IGEDD/IGA/IGSC, rapport « Plans de résilience pour les Alpes françaises », décembre 2025</a:t>
            </a:r>
          </a:p>
        </p:txBody>
      </p:sp>
      <p:sp>
        <p:nvSpPr>
          <p:cNvPr id="13" name="Rectangle 12"/>
          <p:cNvSpPr/>
          <p:nvPr/>
        </p:nvSpPr>
        <p:spPr>
          <a:xfrm>
            <a:off x="365760" y="3520440"/>
            <a:ext cx="2743200" cy="45720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3520440"/>
            <a:ext cx="2743200" cy="457200"/>
          </a:xfrm>
          <a:prstGeom prst="rect">
            <a:avLst/>
          </a:prstGeom>
          <a:noFill/>
        </p:spPr>
        <p:txBody>
          <a:bodyPr wrap="square" lIns="0" tIns="0" rIns="0" bIns="0" anchor="ctr">
            <a:spAutoFit/>
          </a:bodyPr>
          <a:lstStyle/>
          <a:p>
            <a:pPr algn="ctr"/>
            <a:r>
              <a:rPr sz="1300" b="1" i="0">
                <a:solidFill>
                  <a:srgbClr val="FFFFFF"/>
                </a:solidFill>
                <a:latin typeface="Calibri"/>
              </a:rPr>
              <a:t>ANTICIPER</a:t>
            </a:r>
          </a:p>
        </p:txBody>
      </p:sp>
      <p:sp>
        <p:nvSpPr>
          <p:cNvPr id="15" name="Rectangle 14"/>
          <p:cNvSpPr/>
          <p:nvPr/>
        </p:nvSpPr>
        <p:spPr>
          <a:xfrm>
            <a:off x="365760" y="3977639"/>
            <a:ext cx="2743200" cy="201168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6" name="TextBox 15"/>
          <p:cNvSpPr txBox="1"/>
          <p:nvPr/>
        </p:nvSpPr>
        <p:spPr>
          <a:xfrm>
            <a:off x="502920" y="4069080"/>
            <a:ext cx="2468880" cy="984885"/>
          </a:xfrm>
          <a:prstGeom prst="rect">
            <a:avLst/>
          </a:prstGeom>
          <a:noFill/>
        </p:spPr>
        <p:txBody>
          <a:bodyPr wrap="square" lIns="0" tIns="0" rIns="0" bIns="0" anchor="t">
            <a:spAutoFit/>
          </a:bodyPr>
          <a:lstStyle/>
          <a:p>
            <a:pPr algn="l"/>
            <a:r>
              <a:rPr sz="1600" b="0" i="0">
                <a:solidFill>
                  <a:srgbClr val="1A1A1A"/>
                </a:solidFill>
                <a:latin typeface="Calibri"/>
              </a:rPr>
              <a:t>Connaître, surveiller, projeter dans un climat qui change. Ne plus se baser uniquement sur l'aléa de référence du passé.</a:t>
            </a:r>
          </a:p>
        </p:txBody>
      </p:sp>
      <p:sp>
        <p:nvSpPr>
          <p:cNvPr id="17" name="Rectangle 16"/>
          <p:cNvSpPr/>
          <p:nvPr/>
        </p:nvSpPr>
        <p:spPr>
          <a:xfrm>
            <a:off x="3246120" y="3520440"/>
            <a:ext cx="2743200" cy="45720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46120" y="3520440"/>
            <a:ext cx="2743200" cy="457200"/>
          </a:xfrm>
          <a:prstGeom prst="rect">
            <a:avLst/>
          </a:prstGeom>
          <a:noFill/>
        </p:spPr>
        <p:txBody>
          <a:bodyPr wrap="square" lIns="0" tIns="0" rIns="0" bIns="0" anchor="ctr">
            <a:spAutoFit/>
          </a:bodyPr>
          <a:lstStyle/>
          <a:p>
            <a:pPr algn="ctr"/>
            <a:r>
              <a:rPr sz="1300" b="1" i="0">
                <a:solidFill>
                  <a:srgbClr val="FFFFFF"/>
                </a:solidFill>
                <a:latin typeface="Calibri"/>
              </a:rPr>
              <a:t>ABSORBER</a:t>
            </a:r>
          </a:p>
        </p:txBody>
      </p:sp>
      <p:sp>
        <p:nvSpPr>
          <p:cNvPr id="19" name="Rectangle 18"/>
          <p:cNvSpPr/>
          <p:nvPr/>
        </p:nvSpPr>
        <p:spPr>
          <a:xfrm>
            <a:off x="3246120" y="3977639"/>
            <a:ext cx="2743200" cy="201168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0" name="TextBox 19"/>
          <p:cNvSpPr txBox="1"/>
          <p:nvPr/>
        </p:nvSpPr>
        <p:spPr>
          <a:xfrm>
            <a:off x="3383279" y="4069080"/>
            <a:ext cx="2468880" cy="1477328"/>
          </a:xfrm>
          <a:prstGeom prst="rect">
            <a:avLst/>
          </a:prstGeom>
          <a:noFill/>
        </p:spPr>
        <p:txBody>
          <a:bodyPr wrap="square" lIns="0" tIns="0" rIns="0" bIns="0" anchor="t">
            <a:spAutoFit/>
          </a:bodyPr>
          <a:lstStyle/>
          <a:p>
            <a:pPr algn="l"/>
            <a:r>
              <a:rPr sz="1600" b="0" i="0">
                <a:solidFill>
                  <a:srgbClr val="1A1A1A"/>
                </a:solidFill>
                <a:latin typeface="Calibri"/>
              </a:rPr>
              <a:t>Encaisser le choc en préservant les fonctions essentielles : continuité des services, sécurité des personnes, accessibilité du territoire.</a:t>
            </a:r>
          </a:p>
        </p:txBody>
      </p:sp>
      <p:sp>
        <p:nvSpPr>
          <p:cNvPr id="21" name="Rectangle 20"/>
          <p:cNvSpPr/>
          <p:nvPr/>
        </p:nvSpPr>
        <p:spPr>
          <a:xfrm>
            <a:off x="6126479" y="3520440"/>
            <a:ext cx="2743200" cy="45720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26479" y="3520440"/>
            <a:ext cx="2743200" cy="457200"/>
          </a:xfrm>
          <a:prstGeom prst="rect">
            <a:avLst/>
          </a:prstGeom>
          <a:noFill/>
        </p:spPr>
        <p:txBody>
          <a:bodyPr wrap="square" lIns="0" tIns="0" rIns="0" bIns="0" anchor="ctr">
            <a:spAutoFit/>
          </a:bodyPr>
          <a:lstStyle/>
          <a:p>
            <a:pPr algn="ctr"/>
            <a:r>
              <a:rPr sz="1300" b="1" i="0">
                <a:solidFill>
                  <a:srgbClr val="FFFFFF"/>
                </a:solidFill>
                <a:latin typeface="Calibri"/>
              </a:rPr>
              <a:t>REBONDIR</a:t>
            </a:r>
          </a:p>
        </p:txBody>
      </p:sp>
      <p:sp>
        <p:nvSpPr>
          <p:cNvPr id="23" name="Rectangle 22"/>
          <p:cNvSpPr/>
          <p:nvPr/>
        </p:nvSpPr>
        <p:spPr>
          <a:xfrm>
            <a:off x="6126479" y="3977639"/>
            <a:ext cx="2743200" cy="201168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4" name="TextBox 23"/>
          <p:cNvSpPr txBox="1"/>
          <p:nvPr/>
        </p:nvSpPr>
        <p:spPr>
          <a:xfrm>
            <a:off x="6263640" y="4069080"/>
            <a:ext cx="2468880" cy="1231106"/>
          </a:xfrm>
          <a:prstGeom prst="rect">
            <a:avLst/>
          </a:prstGeom>
          <a:noFill/>
        </p:spPr>
        <p:txBody>
          <a:bodyPr wrap="square" lIns="0" tIns="0" rIns="0" bIns="0" anchor="t">
            <a:spAutoFit/>
          </a:bodyPr>
          <a:lstStyle/>
          <a:p>
            <a:pPr algn="l"/>
            <a:r>
              <a:rPr sz="1600" b="0" i="0">
                <a:solidFill>
                  <a:srgbClr val="1A1A1A"/>
                </a:solidFill>
                <a:latin typeface="Calibri"/>
              </a:rPr>
              <a:t>Se relever vite. Le relèvement n'est pas le retour à l'état antérieur — c'est l'occasion de ne pas reproduire la vulnérabilité.</a:t>
            </a:r>
          </a:p>
        </p:txBody>
      </p:sp>
      <p:sp>
        <p:nvSpPr>
          <p:cNvPr id="25" name="Rectangle 24"/>
          <p:cNvSpPr/>
          <p:nvPr/>
        </p:nvSpPr>
        <p:spPr>
          <a:xfrm>
            <a:off x="9006840" y="3520440"/>
            <a:ext cx="2743200" cy="45720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006840" y="3520440"/>
            <a:ext cx="2743200" cy="457200"/>
          </a:xfrm>
          <a:prstGeom prst="rect">
            <a:avLst/>
          </a:prstGeom>
          <a:noFill/>
        </p:spPr>
        <p:txBody>
          <a:bodyPr wrap="square" lIns="0" tIns="0" rIns="0" bIns="0" anchor="ctr">
            <a:spAutoFit/>
          </a:bodyPr>
          <a:lstStyle/>
          <a:p>
            <a:pPr algn="ctr"/>
            <a:r>
              <a:rPr sz="1300" b="1" i="0">
                <a:solidFill>
                  <a:srgbClr val="FFFFFF"/>
                </a:solidFill>
                <a:latin typeface="Calibri"/>
              </a:rPr>
              <a:t>SE TRANSFORMER</a:t>
            </a:r>
          </a:p>
        </p:txBody>
      </p:sp>
      <p:sp>
        <p:nvSpPr>
          <p:cNvPr id="27" name="Rectangle 26"/>
          <p:cNvSpPr/>
          <p:nvPr/>
        </p:nvSpPr>
        <p:spPr>
          <a:xfrm>
            <a:off x="9006840" y="3977639"/>
            <a:ext cx="2743200" cy="201168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8" name="TextBox 27"/>
          <p:cNvSpPr txBox="1"/>
          <p:nvPr/>
        </p:nvSpPr>
        <p:spPr>
          <a:xfrm>
            <a:off x="9144000" y="4069080"/>
            <a:ext cx="2468880" cy="1231106"/>
          </a:xfrm>
          <a:prstGeom prst="rect">
            <a:avLst/>
          </a:prstGeom>
          <a:noFill/>
        </p:spPr>
        <p:txBody>
          <a:bodyPr wrap="square" lIns="0" tIns="0" rIns="0" bIns="0" anchor="t">
            <a:spAutoFit/>
          </a:bodyPr>
          <a:lstStyle/>
          <a:p>
            <a:pPr algn="l"/>
            <a:r>
              <a:rPr sz="1600" b="0" i="0">
                <a:solidFill>
                  <a:srgbClr val="1A1A1A"/>
                </a:solidFill>
                <a:latin typeface="Calibri"/>
              </a:rPr>
              <a:t>Accepter parfois d'abandonner un modèle devenu inadapté (mono-activité, urbanisation en zone exposée…).</a:t>
            </a:r>
          </a:p>
        </p:txBody>
      </p:sp>
      <p:sp>
        <p:nvSpPr>
          <p:cNvPr id="29" name="TextBox 28"/>
          <p:cNvSpPr txBox="1"/>
          <p:nvPr/>
        </p:nvSpPr>
        <p:spPr>
          <a:xfrm>
            <a:off x="365760" y="6080760"/>
            <a:ext cx="11430000" cy="365760"/>
          </a:xfrm>
          <a:prstGeom prst="rect">
            <a:avLst/>
          </a:prstGeom>
          <a:noFill/>
        </p:spPr>
        <p:txBody>
          <a:bodyPr wrap="square" lIns="0" tIns="0" rIns="0" bIns="0" anchor="t">
            <a:spAutoFit/>
          </a:bodyPr>
          <a:lstStyle/>
          <a:p>
            <a:pPr algn="ctr"/>
            <a:r>
              <a:rPr sz="1200" b="0" i="1">
                <a:solidFill>
                  <a:srgbClr val="E86E55"/>
                </a:solidFill>
                <a:latin typeface="Calibri"/>
              </a:rPr>
              <a:t>Attention : résilience ≠ retour à l'identique. Une posture qui se contente de reconstruire à l'identique reproduit la vulnérabilité.</a:t>
            </a:r>
          </a:p>
        </p:txBody>
      </p:sp>
      <p:sp>
        <p:nvSpPr>
          <p:cNvPr id="3" name="Espace réservé du numéro de diapositive 2">
            <a:extLst>
              <a:ext uri="{FF2B5EF4-FFF2-40B4-BE49-F238E27FC236}">
                <a16:creationId xmlns:a16="http://schemas.microsoft.com/office/drawing/2014/main" id="{CB2A33CC-B1F8-44EB-B5C8-698C282C1D09}"/>
              </a:ext>
            </a:extLst>
          </p:cNvPr>
          <p:cNvSpPr>
            <a:spLocks noGrp="1"/>
          </p:cNvSpPr>
          <p:nvPr>
            <p:ph type="sldNum" sz="quarter" idx="4"/>
          </p:nvPr>
        </p:nvSpPr>
        <p:spPr/>
        <p:txBody>
          <a:bodyPr/>
          <a:lstStyle/>
          <a:p>
            <a:fld id="{9981E6DC-ACA4-4CC4-B142-EC9DBA1C6CBA}" type="slidenum">
              <a:rPr lang="en-US" smtClean="0"/>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14600" y="201168"/>
            <a:ext cx="9509760" cy="713232"/>
          </a:xfrm>
          <a:prstGeom prst="rect">
            <a:avLst/>
          </a:prstGeom>
          <a:noFill/>
        </p:spPr>
        <p:txBody>
          <a:bodyPr wrap="square" lIns="0" tIns="0" rIns="0" bIns="0" anchor="ctr">
            <a:spAutoFit/>
          </a:bodyPr>
          <a:lstStyle/>
          <a:p>
            <a:pPr algn="l"/>
            <a:r>
              <a:rPr sz="2600" b="1" i="0">
                <a:solidFill>
                  <a:srgbClr val="1A1A1A"/>
                </a:solidFill>
                <a:latin typeface="Calibri"/>
              </a:rPr>
              <a:t>Trois capacités, trois temps — comprendre la résilience</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1522363"/>
            <a:ext cx="11247120" cy="169277"/>
          </a:xfrm>
          <a:prstGeom prst="rect">
            <a:avLst/>
          </a:prstGeom>
          <a:noFill/>
        </p:spPr>
        <p:txBody>
          <a:bodyPr wrap="square" lIns="0" tIns="0" rIns="0" bIns="0" anchor="t">
            <a:spAutoFit/>
          </a:bodyPr>
          <a:lstStyle/>
          <a:p>
            <a:pPr algn="l"/>
            <a:r>
              <a:rPr sz="1100" b="0" i="1" dirty="0" err="1">
                <a:solidFill>
                  <a:srgbClr val="404040"/>
                </a:solidFill>
                <a:latin typeface="Calibri"/>
              </a:rPr>
              <a:t>Adapté</a:t>
            </a:r>
            <a:r>
              <a:rPr sz="1100" b="0" i="1" dirty="0">
                <a:solidFill>
                  <a:srgbClr val="404040"/>
                </a:solidFill>
                <a:latin typeface="Calibri"/>
              </a:rPr>
              <a:t> de </a:t>
            </a:r>
            <a:r>
              <a:rPr sz="1100" b="0" i="1" dirty="0" err="1">
                <a:solidFill>
                  <a:srgbClr val="404040"/>
                </a:solidFill>
                <a:latin typeface="Calibri"/>
              </a:rPr>
              <a:t>Tendall</a:t>
            </a:r>
            <a:r>
              <a:rPr sz="1100" b="0" i="1" dirty="0">
                <a:solidFill>
                  <a:srgbClr val="404040"/>
                </a:solidFill>
                <a:latin typeface="Calibri"/>
              </a:rPr>
              <a:t> et al. (2015)</a:t>
            </a:r>
          </a:p>
        </p:txBody>
      </p:sp>
      <p:sp>
        <p:nvSpPr>
          <p:cNvPr id="12" name="Rectangle 11"/>
          <p:cNvSpPr/>
          <p:nvPr/>
        </p:nvSpPr>
        <p:spPr>
          <a:xfrm>
            <a:off x="365760" y="1828800"/>
            <a:ext cx="3749039" cy="502920"/>
          </a:xfrm>
          <a:prstGeom prst="rect">
            <a:avLst/>
          </a:prstGeom>
          <a:solidFill>
            <a:srgbClr val="E100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 y="1828800"/>
            <a:ext cx="3749039" cy="502920"/>
          </a:xfrm>
          <a:prstGeom prst="rect">
            <a:avLst/>
          </a:prstGeom>
          <a:noFill/>
        </p:spPr>
        <p:txBody>
          <a:bodyPr wrap="square" lIns="0" tIns="0" rIns="0" bIns="0" anchor="ctr">
            <a:spAutoFit/>
          </a:bodyPr>
          <a:lstStyle/>
          <a:p>
            <a:pPr algn="ctr"/>
            <a:r>
              <a:rPr sz="1300" b="1" i="0">
                <a:solidFill>
                  <a:srgbClr val="FFFFFF"/>
                </a:solidFill>
                <a:latin typeface="Calibri"/>
              </a:rPr>
              <a:t>PERSISTANCE</a:t>
            </a:r>
          </a:p>
        </p:txBody>
      </p:sp>
      <p:sp>
        <p:nvSpPr>
          <p:cNvPr id="14" name="Rectangle 13"/>
          <p:cNvSpPr/>
          <p:nvPr/>
        </p:nvSpPr>
        <p:spPr>
          <a:xfrm>
            <a:off x="365760" y="2331720"/>
            <a:ext cx="3749039" cy="411480"/>
          </a:xfrm>
          <a:prstGeom prst="rect">
            <a:avLst/>
          </a:prstGeom>
          <a:solidFill>
            <a:srgbClr val="FFFFFF"/>
          </a:solidFill>
          <a:ln w="25400">
            <a:solidFill>
              <a:srgbClr val="E100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2331720"/>
            <a:ext cx="3749039" cy="411480"/>
          </a:xfrm>
          <a:prstGeom prst="rect">
            <a:avLst/>
          </a:prstGeom>
          <a:noFill/>
        </p:spPr>
        <p:txBody>
          <a:bodyPr wrap="square" lIns="0" tIns="0" rIns="0" bIns="0" anchor="ctr">
            <a:spAutoFit/>
          </a:bodyPr>
          <a:lstStyle/>
          <a:p>
            <a:pPr algn="ctr"/>
            <a:r>
              <a:rPr sz="1400" b="1" i="1">
                <a:solidFill>
                  <a:srgbClr val="E1000F"/>
                </a:solidFill>
                <a:latin typeface="Calibri"/>
              </a:rPr>
              <a:t>Encaisser</a:t>
            </a:r>
          </a:p>
        </p:txBody>
      </p:sp>
      <p:sp>
        <p:nvSpPr>
          <p:cNvPr id="16" name="Rectangle 15"/>
          <p:cNvSpPr/>
          <p:nvPr/>
        </p:nvSpPr>
        <p:spPr>
          <a:xfrm>
            <a:off x="365760" y="2788920"/>
            <a:ext cx="3749039" cy="228600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TextBox 16"/>
          <p:cNvSpPr txBox="1"/>
          <p:nvPr/>
        </p:nvSpPr>
        <p:spPr>
          <a:xfrm>
            <a:off x="502920" y="2926080"/>
            <a:ext cx="3474720" cy="1533753"/>
          </a:xfrm>
          <a:prstGeom prst="rect">
            <a:avLst/>
          </a:prstGeom>
          <a:noFill/>
        </p:spPr>
        <p:txBody>
          <a:bodyPr wrap="square" lIns="0" tIns="0" rIns="0" bIns="0" anchor="t">
            <a:spAutoFit/>
          </a:bodyPr>
          <a:lstStyle/>
          <a:p>
            <a:pPr algn="l">
              <a:spcAft>
                <a:spcPts val="1000"/>
              </a:spcAft>
            </a:pPr>
            <a:r>
              <a:rPr sz="1600" b="1" i="0">
                <a:solidFill>
                  <a:srgbClr val="1A1A1A"/>
                </a:solidFill>
                <a:latin typeface="Calibri"/>
              </a:rPr>
              <a:t>Capacité à RÉSISTER au choc et à conserver l'essentiel des fonctions.</a:t>
            </a:r>
          </a:p>
          <a:p>
            <a:pPr algn="l">
              <a:spcAft>
                <a:spcPts val="400"/>
              </a:spcAft>
            </a:pPr>
            <a:r>
              <a:rPr sz="1400" b="1" i="1">
                <a:solidFill>
                  <a:srgbClr val="E1000F"/>
                </a:solidFill>
                <a:latin typeface="Calibri"/>
              </a:rPr>
              <a:t>Sur le littoral :</a:t>
            </a:r>
          </a:p>
          <a:p>
            <a:pPr algn="l"/>
            <a:r>
              <a:rPr sz="1400" b="0" i="1">
                <a:solidFill>
                  <a:srgbClr val="1A1A1A"/>
                </a:solidFill>
                <a:latin typeface="Calibri"/>
              </a:rPr>
              <a:t>Cordon dunaire qui amortit la submersion. Bâtiment résistant au vent. Continuité d'activité de l'hôpital.</a:t>
            </a:r>
          </a:p>
        </p:txBody>
      </p:sp>
      <p:sp>
        <p:nvSpPr>
          <p:cNvPr id="18" name="Rectangle 17"/>
          <p:cNvSpPr/>
          <p:nvPr/>
        </p:nvSpPr>
        <p:spPr>
          <a:xfrm>
            <a:off x="4297680" y="1828800"/>
            <a:ext cx="3749039" cy="502920"/>
          </a:xfrm>
          <a:prstGeom prst="rect">
            <a:avLst/>
          </a:prstGeom>
          <a:solidFill>
            <a:srgbClr val="F5C8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297680" y="1828800"/>
            <a:ext cx="3749039" cy="502920"/>
          </a:xfrm>
          <a:prstGeom prst="rect">
            <a:avLst/>
          </a:prstGeom>
          <a:noFill/>
        </p:spPr>
        <p:txBody>
          <a:bodyPr wrap="square" lIns="0" tIns="0" rIns="0" bIns="0" anchor="ctr">
            <a:spAutoFit/>
          </a:bodyPr>
          <a:lstStyle/>
          <a:p>
            <a:pPr algn="ctr"/>
            <a:r>
              <a:rPr sz="1300" b="1" i="0">
                <a:solidFill>
                  <a:srgbClr val="FFFFFF"/>
                </a:solidFill>
                <a:latin typeface="Calibri"/>
              </a:rPr>
              <a:t>AJUSTEMENT PROGRESSIF</a:t>
            </a:r>
          </a:p>
        </p:txBody>
      </p:sp>
      <p:sp>
        <p:nvSpPr>
          <p:cNvPr id="20" name="Rectangle 19"/>
          <p:cNvSpPr/>
          <p:nvPr/>
        </p:nvSpPr>
        <p:spPr>
          <a:xfrm>
            <a:off x="4297680" y="2331720"/>
            <a:ext cx="3749039" cy="411480"/>
          </a:xfrm>
          <a:prstGeom prst="rect">
            <a:avLst/>
          </a:prstGeom>
          <a:solidFill>
            <a:srgbClr val="FFFFFF"/>
          </a:solidFill>
          <a:ln w="25400">
            <a:solidFill>
              <a:srgbClr val="F5C8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297680" y="2331720"/>
            <a:ext cx="3749039" cy="411480"/>
          </a:xfrm>
          <a:prstGeom prst="rect">
            <a:avLst/>
          </a:prstGeom>
          <a:noFill/>
        </p:spPr>
        <p:txBody>
          <a:bodyPr wrap="square" lIns="0" tIns="0" rIns="0" bIns="0" anchor="ctr">
            <a:spAutoFit/>
          </a:bodyPr>
          <a:lstStyle/>
          <a:p>
            <a:pPr algn="ctr"/>
            <a:r>
              <a:rPr sz="1400" b="1" i="1">
                <a:solidFill>
                  <a:srgbClr val="F5C842"/>
                </a:solidFill>
                <a:latin typeface="Calibri"/>
              </a:rPr>
              <a:t>S'adapter</a:t>
            </a:r>
          </a:p>
        </p:txBody>
      </p:sp>
      <p:sp>
        <p:nvSpPr>
          <p:cNvPr id="22" name="Rectangle 21"/>
          <p:cNvSpPr/>
          <p:nvPr/>
        </p:nvSpPr>
        <p:spPr>
          <a:xfrm>
            <a:off x="4297680" y="2788920"/>
            <a:ext cx="3749039" cy="228600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TextBox 22"/>
          <p:cNvSpPr txBox="1"/>
          <p:nvPr/>
        </p:nvSpPr>
        <p:spPr>
          <a:xfrm>
            <a:off x="4434840" y="2926080"/>
            <a:ext cx="3474720" cy="1779974"/>
          </a:xfrm>
          <a:prstGeom prst="rect">
            <a:avLst/>
          </a:prstGeom>
          <a:noFill/>
        </p:spPr>
        <p:txBody>
          <a:bodyPr wrap="square" lIns="0" tIns="0" rIns="0" bIns="0" anchor="t">
            <a:spAutoFit/>
          </a:bodyPr>
          <a:lstStyle/>
          <a:p>
            <a:pPr algn="l">
              <a:spcAft>
                <a:spcPts val="1000"/>
              </a:spcAft>
            </a:pPr>
            <a:r>
              <a:rPr sz="1600" b="1" i="0">
                <a:solidFill>
                  <a:srgbClr val="1A1A1A"/>
                </a:solidFill>
                <a:latin typeface="Calibri"/>
              </a:rPr>
              <a:t>Capacité à ABSORBER les perturbations et à RECOUVRER les fonctions essentielles.</a:t>
            </a:r>
          </a:p>
          <a:p>
            <a:pPr algn="l">
              <a:spcAft>
                <a:spcPts val="400"/>
              </a:spcAft>
            </a:pPr>
            <a:r>
              <a:rPr sz="1400" b="1" i="1">
                <a:solidFill>
                  <a:srgbClr val="F5C842"/>
                </a:solidFill>
                <a:latin typeface="Calibri"/>
              </a:rPr>
              <a:t>Sur le littoral :</a:t>
            </a:r>
          </a:p>
          <a:p>
            <a:pPr algn="l"/>
            <a:r>
              <a:rPr sz="1400" b="0" i="1">
                <a:solidFill>
                  <a:srgbClr val="1A1A1A"/>
                </a:solidFill>
                <a:latin typeface="Calibri"/>
              </a:rPr>
              <a:t>Hébergement d'urgence, secours, mobilité de crise, retour de l'eau et de l'électricité dans les jours qui suivent. PCS activé.</a:t>
            </a:r>
          </a:p>
        </p:txBody>
      </p:sp>
      <p:sp>
        <p:nvSpPr>
          <p:cNvPr id="24" name="Rectangle 23"/>
          <p:cNvSpPr/>
          <p:nvPr/>
        </p:nvSpPr>
        <p:spPr>
          <a:xfrm>
            <a:off x="8229600" y="1828800"/>
            <a:ext cx="3749039" cy="502920"/>
          </a:xfrm>
          <a:prstGeom prst="rect">
            <a:avLst/>
          </a:prstGeom>
          <a:solidFill>
            <a:srgbClr val="4A8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600" y="1828800"/>
            <a:ext cx="3749039" cy="502920"/>
          </a:xfrm>
          <a:prstGeom prst="rect">
            <a:avLst/>
          </a:prstGeom>
          <a:noFill/>
        </p:spPr>
        <p:txBody>
          <a:bodyPr wrap="square" lIns="0" tIns="0" rIns="0" bIns="0" anchor="ctr">
            <a:spAutoFit/>
          </a:bodyPr>
          <a:lstStyle/>
          <a:p>
            <a:pPr algn="ctr"/>
            <a:r>
              <a:rPr sz="1300" b="1" i="0">
                <a:solidFill>
                  <a:srgbClr val="FFFFFF"/>
                </a:solidFill>
                <a:latin typeface="Calibri"/>
              </a:rPr>
              <a:t>RÉPONSE TRANSFORMATRICE</a:t>
            </a:r>
          </a:p>
        </p:txBody>
      </p:sp>
      <p:sp>
        <p:nvSpPr>
          <p:cNvPr id="26" name="Rectangle 25"/>
          <p:cNvSpPr/>
          <p:nvPr/>
        </p:nvSpPr>
        <p:spPr>
          <a:xfrm>
            <a:off x="8229600" y="2331720"/>
            <a:ext cx="3749039" cy="411480"/>
          </a:xfrm>
          <a:prstGeom prst="rect">
            <a:avLst/>
          </a:prstGeom>
          <a:solidFill>
            <a:srgbClr val="FFFFFF"/>
          </a:solidFill>
          <a:ln w="25400">
            <a:solidFill>
              <a:srgbClr val="4A8C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0" y="2331720"/>
            <a:ext cx="3749039" cy="411480"/>
          </a:xfrm>
          <a:prstGeom prst="rect">
            <a:avLst/>
          </a:prstGeom>
          <a:noFill/>
        </p:spPr>
        <p:txBody>
          <a:bodyPr wrap="square" lIns="0" tIns="0" rIns="0" bIns="0" anchor="ctr">
            <a:spAutoFit/>
          </a:bodyPr>
          <a:lstStyle/>
          <a:p>
            <a:pPr algn="ctr"/>
            <a:r>
              <a:rPr sz="1400" b="1" i="1">
                <a:solidFill>
                  <a:srgbClr val="4A8C3C"/>
                </a:solidFill>
                <a:latin typeface="Calibri"/>
              </a:rPr>
              <a:t>Se transformer</a:t>
            </a:r>
          </a:p>
        </p:txBody>
      </p:sp>
      <p:sp>
        <p:nvSpPr>
          <p:cNvPr id="28" name="Rectangle 27"/>
          <p:cNvSpPr/>
          <p:nvPr/>
        </p:nvSpPr>
        <p:spPr>
          <a:xfrm>
            <a:off x="8229600" y="2788920"/>
            <a:ext cx="3749039" cy="228600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TextBox 28"/>
          <p:cNvSpPr txBox="1"/>
          <p:nvPr/>
        </p:nvSpPr>
        <p:spPr>
          <a:xfrm>
            <a:off x="8366760" y="2926080"/>
            <a:ext cx="3474720" cy="1749197"/>
          </a:xfrm>
          <a:prstGeom prst="rect">
            <a:avLst/>
          </a:prstGeom>
          <a:noFill/>
        </p:spPr>
        <p:txBody>
          <a:bodyPr wrap="square" lIns="0" tIns="0" rIns="0" bIns="0" anchor="t">
            <a:spAutoFit/>
          </a:bodyPr>
          <a:lstStyle/>
          <a:p>
            <a:pPr algn="l">
              <a:spcAft>
                <a:spcPts val="1000"/>
              </a:spcAft>
            </a:pPr>
            <a:r>
              <a:rPr sz="1600" b="1" i="0">
                <a:solidFill>
                  <a:srgbClr val="1A1A1A"/>
                </a:solidFill>
                <a:latin typeface="Calibri"/>
              </a:rPr>
              <a:t>Capacité à ÉVOLUER. Le territoire émerge changé — et plus solide qu'avant.</a:t>
            </a:r>
          </a:p>
          <a:p>
            <a:pPr algn="l">
              <a:spcAft>
                <a:spcPts val="400"/>
              </a:spcAft>
            </a:pPr>
            <a:r>
              <a:rPr sz="1400" b="1" i="1">
                <a:solidFill>
                  <a:srgbClr val="4A8C3C"/>
                </a:solidFill>
                <a:latin typeface="Calibri"/>
              </a:rPr>
              <a:t>Sur le littoral :</a:t>
            </a:r>
          </a:p>
          <a:p>
            <a:pPr algn="l"/>
            <a:r>
              <a:rPr sz="1400" b="0" i="1">
                <a:solidFill>
                  <a:srgbClr val="1A1A1A"/>
                </a:solidFill>
                <a:latin typeface="Calibri"/>
              </a:rPr>
              <a:t>Recomposition urbaine après Alex (Vallée de la Roya). Reconversion économique d'une station balnéaire. PLU(i) qui inscrit la résilience comme OAP.</a:t>
            </a:r>
          </a:p>
        </p:txBody>
      </p:sp>
      <p:sp>
        <p:nvSpPr>
          <p:cNvPr id="30" name="Rectangle 29"/>
          <p:cNvSpPr/>
          <p:nvPr/>
        </p:nvSpPr>
        <p:spPr>
          <a:xfrm>
            <a:off x="365760" y="5349240"/>
            <a:ext cx="11430000" cy="100584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 y="5440680"/>
            <a:ext cx="10972800" cy="914400"/>
          </a:xfrm>
          <a:prstGeom prst="rect">
            <a:avLst/>
          </a:prstGeom>
          <a:noFill/>
        </p:spPr>
        <p:txBody>
          <a:bodyPr wrap="square" lIns="0" tIns="0" rIns="0" bIns="0" anchor="t">
            <a:spAutoFit/>
          </a:bodyPr>
          <a:lstStyle/>
          <a:p>
            <a:pPr algn="l">
              <a:spcAft>
                <a:spcPts val="400"/>
              </a:spcAft>
            </a:pPr>
            <a:r>
              <a:rPr sz="1300" b="1" i="0">
                <a:solidFill>
                  <a:srgbClr val="FFFFFF"/>
                </a:solidFill>
                <a:latin typeface="Calibri"/>
              </a:rPr>
              <a:t>Une question à se poser pour chaque action de votre stratégie de résilience :</a:t>
            </a:r>
          </a:p>
          <a:p>
            <a:pPr algn="l"/>
            <a:r>
              <a:rPr sz="1200" b="0" i="1">
                <a:solidFill>
                  <a:srgbClr val="FFFFFF"/>
                </a:solidFill>
                <a:latin typeface="Calibri"/>
              </a:rPr>
              <a:t>Cette action vise-t-elle à PERSISTER (résister au choc), à S'AJUSTER (absorber et recouvrer), ou à SE TRANSFORMER ? Les trois temps sont nécessaires — un plan qui n'aurait que des actions de persistance reproduit la vulnérabilité.</a:t>
            </a:r>
          </a:p>
        </p:txBody>
      </p:sp>
      <p:sp>
        <p:nvSpPr>
          <p:cNvPr id="3" name="Espace réservé du numéro de diapositive 2">
            <a:extLst>
              <a:ext uri="{FF2B5EF4-FFF2-40B4-BE49-F238E27FC236}">
                <a16:creationId xmlns:a16="http://schemas.microsoft.com/office/drawing/2014/main" id="{E32D6264-DB56-4F8C-ABB1-7F41C4B4D6A0}"/>
              </a:ext>
            </a:extLst>
          </p:cNvPr>
          <p:cNvSpPr>
            <a:spLocks noGrp="1"/>
          </p:cNvSpPr>
          <p:nvPr>
            <p:ph type="sldNum" sz="quarter" idx="4"/>
          </p:nvPr>
        </p:nvSpPr>
        <p:spPr/>
        <p:txBody>
          <a:bodyPr/>
          <a:lstStyle/>
          <a:p>
            <a:fld id="{9981E6DC-ACA4-4CC4-B142-EC9DBA1C6CBA}" type="slidenum">
              <a:rPr lang="en-US" smtClean="0"/>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14600" y="201168"/>
            <a:ext cx="9509760" cy="713232"/>
          </a:xfrm>
          <a:prstGeom prst="rect">
            <a:avLst/>
          </a:prstGeom>
          <a:noFill/>
        </p:spPr>
        <p:txBody>
          <a:bodyPr wrap="square" lIns="0" tIns="0" rIns="0" bIns="0" anchor="ctr">
            <a:spAutoFit/>
          </a:bodyPr>
          <a:lstStyle/>
          <a:p>
            <a:pPr algn="l"/>
            <a:r>
              <a:rPr sz="2600" b="1" i="0">
                <a:solidFill>
                  <a:srgbClr val="1A1A1A"/>
                </a:solidFill>
                <a:latin typeface="Calibri"/>
              </a:rPr>
              <a:t>Quelques chiffres pour planter le décor</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1188720"/>
            <a:ext cx="11430000" cy="411480"/>
          </a:xfrm>
          <a:prstGeom prst="rect">
            <a:avLst/>
          </a:prstGeom>
          <a:noFill/>
        </p:spPr>
        <p:txBody>
          <a:bodyPr wrap="square" lIns="0" tIns="0" rIns="0" bIns="0" anchor="t">
            <a:spAutoFit/>
          </a:bodyPr>
          <a:lstStyle/>
          <a:p>
            <a:pPr algn="l"/>
            <a:r>
              <a:rPr sz="1500" b="0" i="1">
                <a:solidFill>
                  <a:srgbClr val="404040"/>
                </a:solidFill>
                <a:latin typeface="Calibri"/>
              </a:rPr>
              <a:t>Pourquoi parler aujourd'hui de résilience plutôt que seulement de prévention ?</a:t>
            </a:r>
          </a:p>
        </p:txBody>
      </p:sp>
      <p:sp>
        <p:nvSpPr>
          <p:cNvPr id="12" name="Rectangle 11"/>
          <p:cNvSpPr/>
          <p:nvPr/>
        </p:nvSpPr>
        <p:spPr>
          <a:xfrm>
            <a:off x="365760" y="1783080"/>
            <a:ext cx="2743200" cy="4251960"/>
          </a:xfrm>
          <a:prstGeom prst="rect">
            <a:avLst/>
          </a:prstGeom>
          <a:solidFill>
            <a:srgbClr val="FFFFFF"/>
          </a:solidFill>
          <a:ln w="25400">
            <a:solidFill>
              <a:srgbClr val="3280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65760" y="1783080"/>
            <a:ext cx="2743200" cy="50292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1783080"/>
            <a:ext cx="2743200" cy="502920"/>
          </a:xfrm>
          <a:prstGeom prst="rect">
            <a:avLst/>
          </a:prstGeom>
          <a:noFill/>
        </p:spPr>
        <p:txBody>
          <a:bodyPr wrap="square" lIns="0" tIns="0" rIns="0" bIns="0" anchor="ctr">
            <a:spAutoFit/>
          </a:bodyPr>
          <a:lstStyle/>
          <a:p>
            <a:pPr algn="ctr"/>
            <a:r>
              <a:rPr sz="1100" b="1" i="0">
                <a:solidFill>
                  <a:srgbClr val="FFFFFF"/>
                </a:solidFill>
                <a:latin typeface="Calibri"/>
              </a:rPr>
              <a:t>EN UN CHIFFRE</a:t>
            </a:r>
          </a:p>
        </p:txBody>
      </p:sp>
      <p:sp>
        <p:nvSpPr>
          <p:cNvPr id="15" name="TextBox 14"/>
          <p:cNvSpPr txBox="1"/>
          <p:nvPr/>
        </p:nvSpPr>
        <p:spPr>
          <a:xfrm>
            <a:off x="365760" y="2423160"/>
            <a:ext cx="2743200" cy="1371600"/>
          </a:xfrm>
          <a:prstGeom prst="rect">
            <a:avLst/>
          </a:prstGeom>
          <a:noFill/>
        </p:spPr>
        <p:txBody>
          <a:bodyPr wrap="square" lIns="0" tIns="0" rIns="0" bIns="0" anchor="ctr">
            <a:spAutoFit/>
          </a:bodyPr>
          <a:lstStyle/>
          <a:p>
            <a:pPr algn="ctr"/>
            <a:r>
              <a:rPr sz="4200" b="1" i="0">
                <a:solidFill>
                  <a:srgbClr val="328088"/>
                </a:solidFill>
                <a:latin typeface="Calibri"/>
              </a:rPr>
              <a:t>× 5</a:t>
            </a:r>
          </a:p>
        </p:txBody>
      </p:sp>
      <p:sp>
        <p:nvSpPr>
          <p:cNvPr id="16" name="TextBox 15"/>
          <p:cNvSpPr txBox="1"/>
          <p:nvPr/>
        </p:nvSpPr>
        <p:spPr>
          <a:xfrm>
            <a:off x="548640" y="3840480"/>
            <a:ext cx="2377440" cy="1463040"/>
          </a:xfrm>
          <a:prstGeom prst="rect">
            <a:avLst/>
          </a:prstGeom>
          <a:noFill/>
        </p:spPr>
        <p:txBody>
          <a:bodyPr wrap="square" lIns="0" tIns="0" rIns="0" bIns="0" anchor="t">
            <a:spAutoFit/>
          </a:bodyPr>
          <a:lstStyle/>
          <a:p>
            <a:pPr algn="ctr"/>
            <a:r>
              <a:rPr sz="1200" b="0" i="0">
                <a:solidFill>
                  <a:srgbClr val="1A1A1A"/>
                </a:solidFill>
                <a:latin typeface="Calibri"/>
              </a:rPr>
              <a:t>Le coût des catastrophes
naturelles a été multiplié par 5
en 15 ans en France</a:t>
            </a:r>
          </a:p>
        </p:txBody>
      </p:sp>
      <p:sp>
        <p:nvSpPr>
          <p:cNvPr id="17" name="TextBox 16"/>
          <p:cNvSpPr txBox="1"/>
          <p:nvPr/>
        </p:nvSpPr>
        <p:spPr>
          <a:xfrm>
            <a:off x="548640" y="5577840"/>
            <a:ext cx="2377440" cy="365760"/>
          </a:xfrm>
          <a:prstGeom prst="rect">
            <a:avLst/>
          </a:prstGeom>
          <a:noFill/>
        </p:spPr>
        <p:txBody>
          <a:bodyPr wrap="square" lIns="0" tIns="0" rIns="0" bIns="0" anchor="t">
            <a:spAutoFit/>
          </a:bodyPr>
          <a:lstStyle/>
          <a:p>
            <a:pPr algn="ctr"/>
            <a:r>
              <a:rPr sz="900" b="0" i="1">
                <a:solidFill>
                  <a:srgbClr val="404040"/>
                </a:solidFill>
                <a:latin typeface="Calibri"/>
              </a:rPr>
              <a:t>Source : France Assureurs / Cerema</a:t>
            </a:r>
          </a:p>
        </p:txBody>
      </p:sp>
      <p:sp>
        <p:nvSpPr>
          <p:cNvPr id="18" name="Rectangle 17"/>
          <p:cNvSpPr/>
          <p:nvPr/>
        </p:nvSpPr>
        <p:spPr>
          <a:xfrm>
            <a:off x="3246120" y="1783080"/>
            <a:ext cx="2743200" cy="4251960"/>
          </a:xfrm>
          <a:prstGeom prst="rect">
            <a:avLst/>
          </a:prstGeom>
          <a:solidFill>
            <a:srgbClr val="FFFFFF"/>
          </a:solidFill>
          <a:ln w="25400">
            <a:solidFill>
              <a:srgbClr val="4A8C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246120" y="1783080"/>
            <a:ext cx="2743200" cy="502920"/>
          </a:xfrm>
          <a:prstGeom prst="rect">
            <a:avLst/>
          </a:prstGeom>
          <a:solidFill>
            <a:srgbClr val="4A8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246120" y="1783080"/>
            <a:ext cx="2743200" cy="502920"/>
          </a:xfrm>
          <a:prstGeom prst="rect">
            <a:avLst/>
          </a:prstGeom>
          <a:noFill/>
        </p:spPr>
        <p:txBody>
          <a:bodyPr wrap="square" lIns="0" tIns="0" rIns="0" bIns="0" anchor="ctr">
            <a:spAutoFit/>
          </a:bodyPr>
          <a:lstStyle/>
          <a:p>
            <a:pPr algn="ctr"/>
            <a:r>
              <a:rPr sz="1100" b="1" i="0">
                <a:solidFill>
                  <a:srgbClr val="FFFFFF"/>
                </a:solidFill>
                <a:latin typeface="Calibri"/>
              </a:rPr>
              <a:t>EN UN CHIFFRE</a:t>
            </a:r>
          </a:p>
        </p:txBody>
      </p:sp>
      <p:sp>
        <p:nvSpPr>
          <p:cNvPr id="21" name="TextBox 20"/>
          <p:cNvSpPr txBox="1"/>
          <p:nvPr/>
        </p:nvSpPr>
        <p:spPr>
          <a:xfrm>
            <a:off x="3246120" y="2423160"/>
            <a:ext cx="2743200" cy="1371600"/>
          </a:xfrm>
          <a:prstGeom prst="rect">
            <a:avLst/>
          </a:prstGeom>
          <a:noFill/>
        </p:spPr>
        <p:txBody>
          <a:bodyPr wrap="square" lIns="0" tIns="0" rIns="0" bIns="0" anchor="ctr">
            <a:spAutoFit/>
          </a:bodyPr>
          <a:lstStyle/>
          <a:p>
            <a:pPr algn="ctr"/>
            <a:r>
              <a:rPr sz="4200" b="1" i="0">
                <a:solidFill>
                  <a:srgbClr val="4A8C3C"/>
                </a:solidFill>
                <a:latin typeface="Calibri"/>
              </a:rPr>
              <a:t>2/3</a:t>
            </a:r>
          </a:p>
        </p:txBody>
      </p:sp>
      <p:sp>
        <p:nvSpPr>
          <p:cNvPr id="22" name="TextBox 21"/>
          <p:cNvSpPr txBox="1"/>
          <p:nvPr/>
        </p:nvSpPr>
        <p:spPr>
          <a:xfrm>
            <a:off x="3429000" y="3840480"/>
            <a:ext cx="2377440" cy="1463040"/>
          </a:xfrm>
          <a:prstGeom prst="rect">
            <a:avLst/>
          </a:prstGeom>
          <a:noFill/>
        </p:spPr>
        <p:txBody>
          <a:bodyPr wrap="square" lIns="0" tIns="0" rIns="0" bIns="0" anchor="t">
            <a:spAutoFit/>
          </a:bodyPr>
          <a:lstStyle/>
          <a:p>
            <a:pPr algn="ctr"/>
            <a:r>
              <a:rPr sz="1200" b="0" i="0">
                <a:solidFill>
                  <a:srgbClr val="1A1A1A"/>
                </a:solidFill>
                <a:latin typeface="Calibri"/>
              </a:rPr>
              <a:t>Deux communes sur trois sont
concernées par au moins un
risque naturel</a:t>
            </a:r>
          </a:p>
        </p:txBody>
      </p:sp>
      <p:sp>
        <p:nvSpPr>
          <p:cNvPr id="23" name="TextBox 22"/>
          <p:cNvSpPr txBox="1"/>
          <p:nvPr/>
        </p:nvSpPr>
        <p:spPr>
          <a:xfrm>
            <a:off x="3429000" y="5577840"/>
            <a:ext cx="2377440" cy="365760"/>
          </a:xfrm>
          <a:prstGeom prst="rect">
            <a:avLst/>
          </a:prstGeom>
          <a:noFill/>
        </p:spPr>
        <p:txBody>
          <a:bodyPr wrap="square" lIns="0" tIns="0" rIns="0" bIns="0" anchor="t">
            <a:spAutoFit/>
          </a:bodyPr>
          <a:lstStyle/>
          <a:p>
            <a:pPr algn="ctr"/>
            <a:r>
              <a:rPr sz="900" b="0" i="1">
                <a:solidFill>
                  <a:srgbClr val="404040"/>
                </a:solidFill>
                <a:latin typeface="Calibri"/>
              </a:rPr>
              <a:t>Source : Géorisques / DGPR</a:t>
            </a:r>
          </a:p>
        </p:txBody>
      </p:sp>
      <p:sp>
        <p:nvSpPr>
          <p:cNvPr id="24" name="Rectangle 23"/>
          <p:cNvSpPr/>
          <p:nvPr/>
        </p:nvSpPr>
        <p:spPr>
          <a:xfrm>
            <a:off x="6126479" y="1783080"/>
            <a:ext cx="2743200" cy="4251960"/>
          </a:xfrm>
          <a:prstGeom prst="rect">
            <a:avLst/>
          </a:prstGeom>
          <a:solidFill>
            <a:srgbClr val="FFFFFF"/>
          </a:solidFill>
          <a:ln w="25400">
            <a:solidFill>
              <a:srgbClr val="E86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126479" y="1783080"/>
            <a:ext cx="2743200" cy="502920"/>
          </a:xfrm>
          <a:prstGeom prst="rect">
            <a:avLst/>
          </a:prstGeom>
          <a:solidFill>
            <a:srgbClr val="E86E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126479" y="1783080"/>
            <a:ext cx="2743200" cy="502920"/>
          </a:xfrm>
          <a:prstGeom prst="rect">
            <a:avLst/>
          </a:prstGeom>
          <a:noFill/>
        </p:spPr>
        <p:txBody>
          <a:bodyPr wrap="square" lIns="0" tIns="0" rIns="0" bIns="0" anchor="ctr">
            <a:spAutoFit/>
          </a:bodyPr>
          <a:lstStyle/>
          <a:p>
            <a:pPr algn="ctr"/>
            <a:r>
              <a:rPr sz="1100" b="1" i="0">
                <a:solidFill>
                  <a:srgbClr val="FFFFFF"/>
                </a:solidFill>
                <a:latin typeface="Calibri"/>
              </a:rPr>
              <a:t>EN UN CHIFFRE</a:t>
            </a:r>
          </a:p>
        </p:txBody>
      </p:sp>
      <p:sp>
        <p:nvSpPr>
          <p:cNvPr id="27" name="TextBox 26"/>
          <p:cNvSpPr txBox="1"/>
          <p:nvPr/>
        </p:nvSpPr>
        <p:spPr>
          <a:xfrm>
            <a:off x="6126479" y="2423160"/>
            <a:ext cx="2743200" cy="1371600"/>
          </a:xfrm>
          <a:prstGeom prst="rect">
            <a:avLst/>
          </a:prstGeom>
          <a:noFill/>
        </p:spPr>
        <p:txBody>
          <a:bodyPr wrap="square" lIns="0" tIns="0" rIns="0" bIns="0" anchor="ctr">
            <a:spAutoFit/>
          </a:bodyPr>
          <a:lstStyle/>
          <a:p>
            <a:pPr algn="ctr"/>
            <a:r>
              <a:rPr sz="4200" b="1" i="0">
                <a:solidFill>
                  <a:srgbClr val="E86E55"/>
                </a:solidFill>
                <a:latin typeface="Calibri"/>
              </a:rPr>
              <a:t>1 €  →  7 €</a:t>
            </a:r>
          </a:p>
        </p:txBody>
      </p:sp>
      <p:sp>
        <p:nvSpPr>
          <p:cNvPr id="28" name="TextBox 27"/>
          <p:cNvSpPr txBox="1"/>
          <p:nvPr/>
        </p:nvSpPr>
        <p:spPr>
          <a:xfrm>
            <a:off x="6309359" y="3840480"/>
            <a:ext cx="2377440" cy="1463040"/>
          </a:xfrm>
          <a:prstGeom prst="rect">
            <a:avLst/>
          </a:prstGeom>
          <a:noFill/>
        </p:spPr>
        <p:txBody>
          <a:bodyPr wrap="square" lIns="0" tIns="0" rIns="0" bIns="0" anchor="t">
            <a:spAutoFit/>
          </a:bodyPr>
          <a:lstStyle/>
          <a:p>
            <a:pPr algn="ctr"/>
            <a:r>
              <a:rPr sz="1200" b="0" i="0">
                <a:solidFill>
                  <a:srgbClr val="1A1A1A"/>
                </a:solidFill>
                <a:latin typeface="Calibri"/>
              </a:rPr>
              <a:t>1 € investi en prévention,
ce sont jusqu'à 7 €
économisés en réparation</a:t>
            </a:r>
          </a:p>
        </p:txBody>
      </p:sp>
      <p:sp>
        <p:nvSpPr>
          <p:cNvPr id="29" name="TextBox 28"/>
          <p:cNvSpPr txBox="1"/>
          <p:nvPr/>
        </p:nvSpPr>
        <p:spPr>
          <a:xfrm>
            <a:off x="6309359" y="5577840"/>
            <a:ext cx="2377440" cy="138499"/>
          </a:xfrm>
          <a:prstGeom prst="rect">
            <a:avLst/>
          </a:prstGeom>
          <a:noFill/>
        </p:spPr>
        <p:txBody>
          <a:bodyPr wrap="square" lIns="0" tIns="0" rIns="0" bIns="0" anchor="t">
            <a:spAutoFit/>
          </a:bodyPr>
          <a:lstStyle/>
          <a:p>
            <a:pPr algn="ctr"/>
            <a:r>
              <a:rPr sz="900" b="0" i="1" dirty="0">
                <a:solidFill>
                  <a:srgbClr val="404040"/>
                </a:solidFill>
                <a:latin typeface="Calibri"/>
              </a:rPr>
              <a:t>Source : OCDE / Banque </a:t>
            </a:r>
            <a:r>
              <a:rPr sz="900" b="0" i="1" dirty="0" err="1">
                <a:solidFill>
                  <a:srgbClr val="404040"/>
                </a:solidFill>
                <a:latin typeface="Calibri"/>
              </a:rPr>
              <a:t>mondiale</a:t>
            </a:r>
            <a:r>
              <a:rPr lang="fr-FR" sz="900" b="0" i="1" dirty="0">
                <a:solidFill>
                  <a:srgbClr val="404040"/>
                </a:solidFill>
                <a:latin typeface="Calibri"/>
              </a:rPr>
              <a:t> / CCR</a:t>
            </a:r>
            <a:endParaRPr sz="900" b="0" i="1" dirty="0">
              <a:solidFill>
                <a:srgbClr val="404040"/>
              </a:solidFill>
              <a:latin typeface="Calibri"/>
            </a:endParaRPr>
          </a:p>
        </p:txBody>
      </p:sp>
      <p:sp>
        <p:nvSpPr>
          <p:cNvPr id="30" name="Rectangle 29"/>
          <p:cNvSpPr/>
          <p:nvPr/>
        </p:nvSpPr>
        <p:spPr>
          <a:xfrm>
            <a:off x="9006840" y="1783080"/>
            <a:ext cx="2743200" cy="4251960"/>
          </a:xfrm>
          <a:prstGeom prst="rect">
            <a:avLst/>
          </a:prstGeom>
          <a:solidFill>
            <a:srgbClr val="FFFFFF"/>
          </a:solidFill>
          <a:ln w="25400">
            <a:solidFill>
              <a:srgbClr val="1E2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006840" y="1783080"/>
            <a:ext cx="2743200" cy="502920"/>
          </a:xfrm>
          <a:prstGeom prst="rect">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006840" y="1783080"/>
            <a:ext cx="2743200" cy="502920"/>
          </a:xfrm>
          <a:prstGeom prst="rect">
            <a:avLst/>
          </a:prstGeom>
          <a:noFill/>
        </p:spPr>
        <p:txBody>
          <a:bodyPr wrap="square" lIns="0" tIns="0" rIns="0" bIns="0" anchor="ctr">
            <a:spAutoFit/>
          </a:bodyPr>
          <a:lstStyle/>
          <a:p>
            <a:pPr algn="ctr"/>
            <a:r>
              <a:rPr sz="1100" b="1" i="0">
                <a:solidFill>
                  <a:srgbClr val="FFFFFF"/>
                </a:solidFill>
                <a:latin typeface="Calibri"/>
              </a:rPr>
              <a:t>EN UN CHIFFRE</a:t>
            </a:r>
          </a:p>
        </p:txBody>
      </p:sp>
      <p:sp>
        <p:nvSpPr>
          <p:cNvPr id="33" name="TextBox 32"/>
          <p:cNvSpPr txBox="1"/>
          <p:nvPr/>
        </p:nvSpPr>
        <p:spPr>
          <a:xfrm>
            <a:off x="9006840" y="2423160"/>
            <a:ext cx="2743200" cy="1371600"/>
          </a:xfrm>
          <a:prstGeom prst="rect">
            <a:avLst/>
          </a:prstGeom>
          <a:noFill/>
        </p:spPr>
        <p:txBody>
          <a:bodyPr wrap="square" lIns="0" tIns="0" rIns="0" bIns="0" anchor="ctr">
            <a:spAutoFit/>
          </a:bodyPr>
          <a:lstStyle/>
          <a:p>
            <a:pPr algn="ctr"/>
            <a:r>
              <a:rPr sz="4200" b="1" i="0">
                <a:solidFill>
                  <a:srgbClr val="1E2D5C"/>
                </a:solidFill>
                <a:latin typeface="Calibri"/>
              </a:rPr>
              <a:t>1,3 Md €</a:t>
            </a:r>
          </a:p>
        </p:txBody>
      </p:sp>
      <p:sp>
        <p:nvSpPr>
          <p:cNvPr id="34" name="TextBox 33"/>
          <p:cNvSpPr txBox="1"/>
          <p:nvPr/>
        </p:nvSpPr>
        <p:spPr>
          <a:xfrm>
            <a:off x="9189719" y="3840480"/>
            <a:ext cx="2377440" cy="1463040"/>
          </a:xfrm>
          <a:prstGeom prst="rect">
            <a:avLst/>
          </a:prstGeom>
          <a:noFill/>
        </p:spPr>
        <p:txBody>
          <a:bodyPr wrap="square" lIns="0" tIns="0" rIns="0" bIns="0" anchor="t">
            <a:spAutoFit/>
          </a:bodyPr>
          <a:lstStyle/>
          <a:p>
            <a:pPr algn="ctr"/>
            <a:r>
              <a:rPr sz="1200" b="0" i="0">
                <a:solidFill>
                  <a:srgbClr val="1A1A1A"/>
                </a:solidFill>
                <a:latin typeface="Calibri"/>
              </a:rPr>
              <a:t>Tempêtes Ciaran et Domingos
(novembre 2023) : 517 000
sinistres déclarés</a:t>
            </a:r>
          </a:p>
        </p:txBody>
      </p:sp>
      <p:sp>
        <p:nvSpPr>
          <p:cNvPr id="35" name="TextBox 34"/>
          <p:cNvSpPr txBox="1"/>
          <p:nvPr/>
        </p:nvSpPr>
        <p:spPr>
          <a:xfrm>
            <a:off x="9189719" y="5577840"/>
            <a:ext cx="2377440" cy="365760"/>
          </a:xfrm>
          <a:prstGeom prst="rect">
            <a:avLst/>
          </a:prstGeom>
          <a:noFill/>
        </p:spPr>
        <p:txBody>
          <a:bodyPr wrap="square" lIns="0" tIns="0" rIns="0" bIns="0" anchor="t">
            <a:spAutoFit/>
          </a:bodyPr>
          <a:lstStyle/>
          <a:p>
            <a:pPr algn="ctr"/>
            <a:r>
              <a:rPr sz="900" b="0" i="1">
                <a:solidFill>
                  <a:srgbClr val="404040"/>
                </a:solidFill>
                <a:latin typeface="Calibri"/>
              </a:rPr>
              <a:t>Source : France Assureurs</a:t>
            </a:r>
          </a:p>
        </p:txBody>
      </p:sp>
      <p:sp>
        <p:nvSpPr>
          <p:cNvPr id="36" name="TextBox 35"/>
          <p:cNvSpPr txBox="1"/>
          <p:nvPr/>
        </p:nvSpPr>
        <p:spPr>
          <a:xfrm>
            <a:off x="365760" y="6172200"/>
            <a:ext cx="11430000" cy="274320"/>
          </a:xfrm>
          <a:prstGeom prst="rect">
            <a:avLst/>
          </a:prstGeom>
          <a:noFill/>
        </p:spPr>
        <p:txBody>
          <a:bodyPr wrap="square" lIns="0" tIns="0" rIns="0" bIns="0" anchor="t">
            <a:spAutoFit/>
          </a:bodyPr>
          <a:lstStyle/>
          <a:p>
            <a:pPr algn="ctr"/>
            <a:r>
              <a:rPr sz="1300" b="1" i="1">
                <a:solidFill>
                  <a:srgbClr val="E86E55"/>
                </a:solidFill>
                <a:latin typeface="Calibri"/>
              </a:rPr>
              <a:t>→ La trajectoire actuelle n'est pas tenable budgétairement, ni socialement, ni pour les territoires.</a:t>
            </a:r>
          </a:p>
        </p:txBody>
      </p:sp>
      <p:sp>
        <p:nvSpPr>
          <p:cNvPr id="3" name="Espace réservé du numéro de diapositive 2">
            <a:extLst>
              <a:ext uri="{FF2B5EF4-FFF2-40B4-BE49-F238E27FC236}">
                <a16:creationId xmlns:a16="http://schemas.microsoft.com/office/drawing/2014/main" id="{A9FE66EF-4181-49C7-BF27-33BC35F7305D}"/>
              </a:ext>
            </a:extLst>
          </p:cNvPr>
          <p:cNvSpPr>
            <a:spLocks noGrp="1"/>
          </p:cNvSpPr>
          <p:nvPr>
            <p:ph type="sldNum" sz="quarter" idx="4"/>
          </p:nvPr>
        </p:nvSpPr>
        <p:spPr/>
        <p:txBody>
          <a:bodyPr/>
          <a:lstStyle/>
          <a:p>
            <a:fld id="{9981E6DC-ACA4-4CC4-B142-EC9DBA1C6CBA}" type="slidenum">
              <a:rPr lang="en-US" smtClean="0"/>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14600" y="201168"/>
            <a:ext cx="9509760" cy="713232"/>
          </a:xfrm>
          <a:prstGeom prst="rect">
            <a:avLst/>
          </a:prstGeom>
          <a:noFill/>
        </p:spPr>
        <p:txBody>
          <a:bodyPr wrap="square" lIns="0" tIns="0" rIns="0" bIns="0" anchor="ctr">
            <a:spAutoFit/>
          </a:bodyPr>
          <a:lstStyle/>
          <a:p>
            <a:pPr algn="l"/>
            <a:r>
              <a:rPr sz="2600" b="1" i="0">
                <a:solidFill>
                  <a:srgbClr val="1A1A1A"/>
                </a:solidFill>
                <a:latin typeface="Calibri"/>
              </a:rPr>
              <a:t>Études de cas — un dispositif à cinq voix</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1188720"/>
            <a:ext cx="11247120" cy="411480"/>
          </a:xfrm>
          <a:prstGeom prst="rect">
            <a:avLst/>
          </a:prstGeom>
          <a:noFill/>
        </p:spPr>
        <p:txBody>
          <a:bodyPr wrap="square" lIns="0" tIns="0" rIns="0" bIns="0" anchor="t">
            <a:spAutoFit/>
          </a:bodyPr>
          <a:lstStyle/>
          <a:p>
            <a:pPr algn="l"/>
            <a:r>
              <a:rPr sz="1400" b="0" i="1">
                <a:solidFill>
                  <a:srgbClr val="404040"/>
                </a:solidFill>
                <a:latin typeface="Calibri"/>
              </a:rPr>
              <a:t>Cinq groupes, cinq postures, le même territoire fictif : Anse-de-Goulven</a:t>
            </a:r>
          </a:p>
        </p:txBody>
      </p:sp>
      <p:sp>
        <p:nvSpPr>
          <p:cNvPr id="12" name="Rectangle 11"/>
          <p:cNvSpPr/>
          <p:nvPr/>
        </p:nvSpPr>
        <p:spPr>
          <a:xfrm>
            <a:off x="365760" y="1783080"/>
            <a:ext cx="2286000" cy="594360"/>
          </a:xfrm>
          <a:prstGeom prst="rect">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 y="1783080"/>
            <a:ext cx="2286000" cy="594360"/>
          </a:xfrm>
          <a:prstGeom prst="rect">
            <a:avLst/>
          </a:prstGeom>
          <a:noFill/>
        </p:spPr>
        <p:txBody>
          <a:bodyPr wrap="square" lIns="0" tIns="0" rIns="0" bIns="0" anchor="ctr">
            <a:spAutoFit/>
          </a:bodyPr>
          <a:lstStyle/>
          <a:p>
            <a:pPr algn="ctr"/>
            <a:r>
              <a:rPr sz="2200" b="1" i="0">
                <a:solidFill>
                  <a:srgbClr val="FFFFFF"/>
                </a:solidFill>
                <a:latin typeface="Calibri"/>
              </a:rPr>
              <a:t>G1</a:t>
            </a:r>
          </a:p>
        </p:txBody>
      </p:sp>
      <p:sp>
        <p:nvSpPr>
          <p:cNvPr id="14" name="Rectangle 13"/>
          <p:cNvSpPr/>
          <p:nvPr/>
        </p:nvSpPr>
        <p:spPr>
          <a:xfrm>
            <a:off x="365760" y="2377440"/>
            <a:ext cx="2286000" cy="914400"/>
          </a:xfrm>
          <a:prstGeom prst="rect">
            <a:avLst/>
          </a:prstGeom>
          <a:solidFill>
            <a:srgbClr val="FFFFFF"/>
          </a:solidFill>
          <a:ln w="19050">
            <a:solidFill>
              <a:srgbClr val="1E2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2423160"/>
            <a:ext cx="2194560" cy="868680"/>
          </a:xfrm>
          <a:prstGeom prst="rect">
            <a:avLst/>
          </a:prstGeom>
          <a:noFill/>
        </p:spPr>
        <p:txBody>
          <a:bodyPr wrap="square" lIns="0" tIns="0" rIns="0" bIns="0" anchor="ctr">
            <a:spAutoFit/>
          </a:bodyPr>
          <a:lstStyle/>
          <a:p>
            <a:pPr algn="ctr">
              <a:spcAft>
                <a:spcPts val="200"/>
              </a:spcAft>
            </a:pPr>
            <a:r>
              <a:rPr sz="1100" b="1" i="0">
                <a:solidFill>
                  <a:srgbClr val="1E2D5C"/>
                </a:solidFill>
                <a:latin typeface="Calibri"/>
              </a:rPr>
              <a:t>MISSION</a:t>
            </a:r>
          </a:p>
          <a:p>
            <a:pPr algn="ctr"/>
            <a:r>
              <a:rPr sz="1100" b="1" i="0">
                <a:solidFill>
                  <a:srgbClr val="1E2D5C"/>
                </a:solidFill>
                <a:latin typeface="Calibri"/>
              </a:rPr>
              <a:t>PRÉFECTORALE</a:t>
            </a:r>
          </a:p>
        </p:txBody>
      </p:sp>
      <p:sp>
        <p:nvSpPr>
          <p:cNvPr id="16" name="Rectangle 15"/>
          <p:cNvSpPr/>
          <p:nvPr/>
        </p:nvSpPr>
        <p:spPr>
          <a:xfrm>
            <a:off x="365760" y="3291840"/>
            <a:ext cx="2286000" cy="91440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8912" y="3337560"/>
            <a:ext cx="2139696" cy="868680"/>
          </a:xfrm>
          <a:prstGeom prst="rect">
            <a:avLst/>
          </a:prstGeom>
          <a:noFill/>
        </p:spPr>
        <p:txBody>
          <a:bodyPr wrap="square" lIns="0" tIns="0" rIns="0" bIns="0" anchor="ctr">
            <a:spAutoFit/>
          </a:bodyPr>
          <a:lstStyle/>
          <a:p>
            <a:pPr algn="ctr"/>
            <a:r>
              <a:rPr sz="1000" b="0" i="1">
                <a:solidFill>
                  <a:srgbClr val="1A1A1A"/>
                </a:solidFill>
                <a:latin typeface="Calibri"/>
              </a:rPr>
              <a:t>État (DDTM, DREAL, sous-préfet)</a:t>
            </a:r>
          </a:p>
        </p:txBody>
      </p:sp>
      <p:sp>
        <p:nvSpPr>
          <p:cNvPr id="18" name="Rectangle 17"/>
          <p:cNvSpPr/>
          <p:nvPr/>
        </p:nvSpPr>
        <p:spPr>
          <a:xfrm>
            <a:off x="365760" y="4251960"/>
            <a:ext cx="2286000" cy="960120"/>
          </a:xfrm>
          <a:prstGeom prst="rect">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8912" y="4297680"/>
            <a:ext cx="2139696" cy="868680"/>
          </a:xfrm>
          <a:prstGeom prst="rect">
            <a:avLst/>
          </a:prstGeom>
          <a:noFill/>
        </p:spPr>
        <p:txBody>
          <a:bodyPr wrap="square" lIns="0" tIns="0" rIns="0" bIns="0" anchor="ctr">
            <a:spAutoFit/>
          </a:bodyPr>
          <a:lstStyle/>
          <a:p>
            <a:pPr algn="ctr"/>
            <a:r>
              <a:rPr sz="1000" b="0" i="0">
                <a:solidFill>
                  <a:srgbClr val="FFFFFF"/>
                </a:solidFill>
                <a:latin typeface="Calibri"/>
              </a:rPr>
              <a:t>Sécurité publique, doctrines, équité</a:t>
            </a:r>
          </a:p>
        </p:txBody>
      </p:sp>
      <p:sp>
        <p:nvSpPr>
          <p:cNvPr id="20" name="Rectangle 19"/>
          <p:cNvSpPr/>
          <p:nvPr/>
        </p:nvSpPr>
        <p:spPr>
          <a:xfrm>
            <a:off x="2715768" y="1783080"/>
            <a:ext cx="2286000" cy="59436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15768" y="1783080"/>
            <a:ext cx="2286000" cy="594360"/>
          </a:xfrm>
          <a:prstGeom prst="rect">
            <a:avLst/>
          </a:prstGeom>
          <a:noFill/>
        </p:spPr>
        <p:txBody>
          <a:bodyPr wrap="square" lIns="0" tIns="0" rIns="0" bIns="0" anchor="ctr">
            <a:spAutoFit/>
          </a:bodyPr>
          <a:lstStyle/>
          <a:p>
            <a:pPr algn="ctr"/>
            <a:r>
              <a:rPr sz="2200" b="1" i="0">
                <a:solidFill>
                  <a:srgbClr val="FFFFFF"/>
                </a:solidFill>
                <a:latin typeface="Calibri"/>
              </a:rPr>
              <a:t>G2</a:t>
            </a:r>
          </a:p>
        </p:txBody>
      </p:sp>
      <p:sp>
        <p:nvSpPr>
          <p:cNvPr id="22" name="Rectangle 21"/>
          <p:cNvSpPr/>
          <p:nvPr/>
        </p:nvSpPr>
        <p:spPr>
          <a:xfrm>
            <a:off x="2715768" y="2377440"/>
            <a:ext cx="2286000" cy="914400"/>
          </a:xfrm>
          <a:prstGeom prst="rect">
            <a:avLst/>
          </a:prstGeom>
          <a:solidFill>
            <a:srgbClr val="FFFFFF"/>
          </a:solidFill>
          <a:ln w="19050">
            <a:solidFill>
              <a:srgbClr val="3280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761487" y="2423160"/>
            <a:ext cx="2194560" cy="868680"/>
          </a:xfrm>
          <a:prstGeom prst="rect">
            <a:avLst/>
          </a:prstGeom>
          <a:noFill/>
        </p:spPr>
        <p:txBody>
          <a:bodyPr wrap="square" lIns="0" tIns="0" rIns="0" bIns="0" anchor="ctr">
            <a:spAutoFit/>
          </a:bodyPr>
          <a:lstStyle/>
          <a:p>
            <a:pPr algn="ctr">
              <a:spcAft>
                <a:spcPts val="200"/>
              </a:spcAft>
            </a:pPr>
            <a:r>
              <a:rPr sz="1100" b="1" i="0">
                <a:solidFill>
                  <a:srgbClr val="328088"/>
                </a:solidFill>
                <a:latin typeface="Calibri"/>
              </a:rPr>
              <a:t>ÉQUIPE MUNICIPALE</a:t>
            </a:r>
          </a:p>
          <a:p>
            <a:pPr algn="ctr"/>
            <a:r>
              <a:rPr sz="1100" b="1" i="0">
                <a:solidFill>
                  <a:srgbClr val="328088"/>
                </a:solidFill>
                <a:latin typeface="Calibri"/>
              </a:rPr>
              <a:t>+ EPCI</a:t>
            </a:r>
          </a:p>
        </p:txBody>
      </p:sp>
      <p:sp>
        <p:nvSpPr>
          <p:cNvPr id="24" name="Rectangle 23"/>
          <p:cNvSpPr/>
          <p:nvPr/>
        </p:nvSpPr>
        <p:spPr>
          <a:xfrm>
            <a:off x="2715768" y="3291840"/>
            <a:ext cx="2286000" cy="91440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788920" y="3337560"/>
            <a:ext cx="2139696" cy="868680"/>
          </a:xfrm>
          <a:prstGeom prst="rect">
            <a:avLst/>
          </a:prstGeom>
          <a:noFill/>
        </p:spPr>
        <p:txBody>
          <a:bodyPr wrap="square" lIns="0" tIns="0" rIns="0" bIns="0" anchor="ctr">
            <a:spAutoFit/>
          </a:bodyPr>
          <a:lstStyle/>
          <a:p>
            <a:pPr algn="ctr"/>
            <a:r>
              <a:rPr sz="1000" b="0" i="1">
                <a:solidFill>
                  <a:srgbClr val="1A1A1A"/>
                </a:solidFill>
                <a:latin typeface="Calibri"/>
              </a:rPr>
              <a:t>Maire, DGS, élus, EPCI</a:t>
            </a:r>
          </a:p>
        </p:txBody>
      </p:sp>
      <p:sp>
        <p:nvSpPr>
          <p:cNvPr id="26" name="Rectangle 25"/>
          <p:cNvSpPr/>
          <p:nvPr/>
        </p:nvSpPr>
        <p:spPr>
          <a:xfrm>
            <a:off x="2715768" y="4251960"/>
            <a:ext cx="2286000" cy="96012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788920" y="4297680"/>
            <a:ext cx="2139696" cy="868680"/>
          </a:xfrm>
          <a:prstGeom prst="rect">
            <a:avLst/>
          </a:prstGeom>
          <a:noFill/>
        </p:spPr>
        <p:txBody>
          <a:bodyPr wrap="square" lIns="0" tIns="0" rIns="0" bIns="0" anchor="ctr">
            <a:spAutoFit/>
          </a:bodyPr>
          <a:lstStyle/>
          <a:p>
            <a:pPr algn="ctr"/>
            <a:r>
              <a:rPr sz="1000" b="0" i="0">
                <a:solidFill>
                  <a:srgbClr val="FFFFFF"/>
                </a:solidFill>
                <a:latin typeface="Calibri"/>
              </a:rPr>
              <a:t>Légitimité démocratique, attractivité, budget</a:t>
            </a:r>
          </a:p>
        </p:txBody>
      </p:sp>
      <p:sp>
        <p:nvSpPr>
          <p:cNvPr id="28" name="Rectangle 27"/>
          <p:cNvSpPr/>
          <p:nvPr/>
        </p:nvSpPr>
        <p:spPr>
          <a:xfrm>
            <a:off x="5065776" y="1783080"/>
            <a:ext cx="2286000" cy="594360"/>
          </a:xfrm>
          <a:prstGeom prst="rect">
            <a:avLst/>
          </a:prstGeom>
          <a:solidFill>
            <a:srgbClr val="5C8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65776" y="1783080"/>
            <a:ext cx="2286000" cy="594360"/>
          </a:xfrm>
          <a:prstGeom prst="rect">
            <a:avLst/>
          </a:prstGeom>
          <a:noFill/>
        </p:spPr>
        <p:txBody>
          <a:bodyPr wrap="square" lIns="0" tIns="0" rIns="0" bIns="0" anchor="ctr">
            <a:spAutoFit/>
          </a:bodyPr>
          <a:lstStyle/>
          <a:p>
            <a:pPr algn="ctr"/>
            <a:r>
              <a:rPr sz="2200" b="1" i="0">
                <a:solidFill>
                  <a:srgbClr val="FFFFFF"/>
                </a:solidFill>
                <a:latin typeface="Calibri"/>
              </a:rPr>
              <a:t>G3</a:t>
            </a:r>
          </a:p>
        </p:txBody>
      </p:sp>
      <p:sp>
        <p:nvSpPr>
          <p:cNvPr id="30" name="Rectangle 29"/>
          <p:cNvSpPr/>
          <p:nvPr/>
        </p:nvSpPr>
        <p:spPr>
          <a:xfrm>
            <a:off x="5065776" y="2377440"/>
            <a:ext cx="2286000" cy="914400"/>
          </a:xfrm>
          <a:prstGeom prst="rect">
            <a:avLst/>
          </a:prstGeom>
          <a:solidFill>
            <a:srgbClr val="FFFFFF"/>
          </a:solidFill>
          <a:ln w="19050">
            <a:solidFill>
              <a:srgbClr val="5C8A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111496" y="2423160"/>
            <a:ext cx="2194560" cy="868680"/>
          </a:xfrm>
          <a:prstGeom prst="rect">
            <a:avLst/>
          </a:prstGeom>
          <a:noFill/>
        </p:spPr>
        <p:txBody>
          <a:bodyPr wrap="square" lIns="0" tIns="0" rIns="0" bIns="0" anchor="ctr">
            <a:spAutoFit/>
          </a:bodyPr>
          <a:lstStyle/>
          <a:p>
            <a:pPr algn="ctr">
              <a:spcAft>
                <a:spcPts val="200"/>
              </a:spcAft>
            </a:pPr>
            <a:r>
              <a:rPr sz="1100" b="1" i="0">
                <a:solidFill>
                  <a:srgbClr val="5C8A4F"/>
                </a:solidFill>
                <a:latin typeface="Calibri"/>
              </a:rPr>
              <a:t>SYNDICAT MIXTE</a:t>
            </a:r>
          </a:p>
          <a:p>
            <a:pPr algn="ctr"/>
            <a:r>
              <a:rPr sz="1100" b="1" i="0">
                <a:solidFill>
                  <a:srgbClr val="5C8A4F"/>
                </a:solidFill>
                <a:latin typeface="Calibri"/>
              </a:rPr>
              <a:t>+ CONSERVATOIRE</a:t>
            </a:r>
          </a:p>
        </p:txBody>
      </p:sp>
      <p:sp>
        <p:nvSpPr>
          <p:cNvPr id="32" name="Rectangle 31"/>
          <p:cNvSpPr/>
          <p:nvPr/>
        </p:nvSpPr>
        <p:spPr>
          <a:xfrm>
            <a:off x="5065776" y="3291840"/>
            <a:ext cx="2286000" cy="91440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138928" y="3337560"/>
            <a:ext cx="2139696" cy="868680"/>
          </a:xfrm>
          <a:prstGeom prst="rect">
            <a:avLst/>
          </a:prstGeom>
          <a:noFill/>
        </p:spPr>
        <p:txBody>
          <a:bodyPr wrap="square" lIns="0" tIns="0" rIns="0" bIns="0" anchor="ctr">
            <a:spAutoFit/>
          </a:bodyPr>
          <a:lstStyle/>
          <a:p>
            <a:pPr algn="ctr"/>
            <a:r>
              <a:rPr sz="1000" b="0" i="1">
                <a:solidFill>
                  <a:srgbClr val="1A1A1A"/>
                </a:solidFill>
                <a:latin typeface="Calibri"/>
              </a:rPr>
              <a:t>Gemapi, Conservatoire, BRGM</a:t>
            </a:r>
          </a:p>
        </p:txBody>
      </p:sp>
      <p:sp>
        <p:nvSpPr>
          <p:cNvPr id="34" name="Rectangle 33"/>
          <p:cNvSpPr/>
          <p:nvPr/>
        </p:nvSpPr>
        <p:spPr>
          <a:xfrm>
            <a:off x="5065776" y="4251960"/>
            <a:ext cx="2286000" cy="960120"/>
          </a:xfrm>
          <a:prstGeom prst="rect">
            <a:avLst/>
          </a:prstGeom>
          <a:solidFill>
            <a:srgbClr val="5C8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138928" y="4297680"/>
            <a:ext cx="2139696" cy="868680"/>
          </a:xfrm>
          <a:prstGeom prst="rect">
            <a:avLst/>
          </a:prstGeom>
          <a:noFill/>
        </p:spPr>
        <p:txBody>
          <a:bodyPr wrap="square" lIns="0" tIns="0" rIns="0" bIns="0" anchor="ctr">
            <a:spAutoFit/>
          </a:bodyPr>
          <a:lstStyle/>
          <a:p>
            <a:pPr algn="ctr"/>
            <a:r>
              <a:rPr sz="1000" b="0" i="0">
                <a:solidFill>
                  <a:srgbClr val="FFFFFF"/>
                </a:solidFill>
                <a:latin typeface="Calibri"/>
              </a:rPr>
              <a:t>Continuité écologique, gestion physique</a:t>
            </a:r>
          </a:p>
        </p:txBody>
      </p:sp>
      <p:sp>
        <p:nvSpPr>
          <p:cNvPr id="36" name="Rectangle 35"/>
          <p:cNvSpPr/>
          <p:nvPr/>
        </p:nvSpPr>
        <p:spPr>
          <a:xfrm>
            <a:off x="7415783" y="1783080"/>
            <a:ext cx="2286000" cy="594360"/>
          </a:xfrm>
          <a:prstGeom prst="rect">
            <a:avLst/>
          </a:prstGeom>
          <a:solidFill>
            <a:srgbClr val="E86E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415783" y="1783080"/>
            <a:ext cx="2286000" cy="594360"/>
          </a:xfrm>
          <a:prstGeom prst="rect">
            <a:avLst/>
          </a:prstGeom>
          <a:noFill/>
        </p:spPr>
        <p:txBody>
          <a:bodyPr wrap="square" lIns="0" tIns="0" rIns="0" bIns="0" anchor="ctr">
            <a:spAutoFit/>
          </a:bodyPr>
          <a:lstStyle/>
          <a:p>
            <a:pPr algn="ctr"/>
            <a:r>
              <a:rPr sz="2200" b="1" i="0">
                <a:solidFill>
                  <a:srgbClr val="FFFFFF"/>
                </a:solidFill>
                <a:latin typeface="Calibri"/>
              </a:rPr>
              <a:t>G4</a:t>
            </a:r>
          </a:p>
        </p:txBody>
      </p:sp>
      <p:sp>
        <p:nvSpPr>
          <p:cNvPr id="38" name="Rectangle 37"/>
          <p:cNvSpPr/>
          <p:nvPr/>
        </p:nvSpPr>
        <p:spPr>
          <a:xfrm>
            <a:off x="7415783" y="2377440"/>
            <a:ext cx="2286000" cy="914400"/>
          </a:xfrm>
          <a:prstGeom prst="rect">
            <a:avLst/>
          </a:prstGeom>
          <a:solidFill>
            <a:srgbClr val="FFFFFF"/>
          </a:solidFill>
          <a:ln w="19050">
            <a:solidFill>
              <a:srgbClr val="E86E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461504" y="2423160"/>
            <a:ext cx="2194560" cy="868680"/>
          </a:xfrm>
          <a:prstGeom prst="rect">
            <a:avLst/>
          </a:prstGeom>
          <a:noFill/>
        </p:spPr>
        <p:txBody>
          <a:bodyPr wrap="square" lIns="0" tIns="0" rIns="0" bIns="0" anchor="ctr">
            <a:spAutoFit/>
          </a:bodyPr>
          <a:lstStyle/>
          <a:p>
            <a:pPr algn="ctr">
              <a:spcAft>
                <a:spcPts val="200"/>
              </a:spcAft>
            </a:pPr>
            <a:r>
              <a:rPr sz="1100" b="1" i="0">
                <a:solidFill>
                  <a:srgbClr val="E86E55"/>
                </a:solidFill>
                <a:latin typeface="Calibri"/>
              </a:rPr>
              <a:t>ACTEURS</a:t>
            </a:r>
          </a:p>
          <a:p>
            <a:pPr algn="ctr"/>
            <a:r>
              <a:rPr sz="1100" b="1" i="0">
                <a:solidFill>
                  <a:srgbClr val="E86E55"/>
                </a:solidFill>
                <a:latin typeface="Calibri"/>
              </a:rPr>
              <a:t>ÉCONOMIQUES</a:t>
            </a:r>
          </a:p>
        </p:txBody>
      </p:sp>
      <p:sp>
        <p:nvSpPr>
          <p:cNvPr id="40" name="Rectangle 39"/>
          <p:cNvSpPr/>
          <p:nvPr/>
        </p:nvSpPr>
        <p:spPr>
          <a:xfrm>
            <a:off x="7415783" y="3291840"/>
            <a:ext cx="2286000" cy="91440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488936" y="3337560"/>
            <a:ext cx="2139696" cy="868680"/>
          </a:xfrm>
          <a:prstGeom prst="rect">
            <a:avLst/>
          </a:prstGeom>
          <a:noFill/>
        </p:spPr>
        <p:txBody>
          <a:bodyPr wrap="square" lIns="0" tIns="0" rIns="0" bIns="0" anchor="ctr">
            <a:spAutoFit/>
          </a:bodyPr>
          <a:lstStyle/>
          <a:p>
            <a:pPr algn="ctr"/>
            <a:r>
              <a:rPr sz="1000" b="0" i="1">
                <a:solidFill>
                  <a:srgbClr val="1A1A1A"/>
                </a:solidFill>
                <a:latin typeface="Calibri"/>
              </a:rPr>
              <a:t>Conchyliculture, campings, PME, UCAP</a:t>
            </a:r>
          </a:p>
        </p:txBody>
      </p:sp>
      <p:sp>
        <p:nvSpPr>
          <p:cNvPr id="42" name="Rectangle 41"/>
          <p:cNvSpPr/>
          <p:nvPr/>
        </p:nvSpPr>
        <p:spPr>
          <a:xfrm>
            <a:off x="7415783" y="4251960"/>
            <a:ext cx="2286000" cy="960120"/>
          </a:xfrm>
          <a:prstGeom prst="rect">
            <a:avLst/>
          </a:prstGeom>
          <a:solidFill>
            <a:srgbClr val="E86E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488936" y="4297680"/>
            <a:ext cx="2139696" cy="868680"/>
          </a:xfrm>
          <a:prstGeom prst="rect">
            <a:avLst/>
          </a:prstGeom>
          <a:noFill/>
        </p:spPr>
        <p:txBody>
          <a:bodyPr wrap="square" lIns="0" tIns="0" rIns="0" bIns="0" anchor="ctr">
            <a:spAutoFit/>
          </a:bodyPr>
          <a:lstStyle/>
          <a:p>
            <a:pPr algn="ctr"/>
            <a:r>
              <a:rPr sz="1000" b="0" i="0">
                <a:solidFill>
                  <a:srgbClr val="FFFFFF"/>
                </a:solidFill>
                <a:latin typeface="Calibri"/>
              </a:rPr>
              <a:t>Continuité d'activité, emploi, saisonnalité</a:t>
            </a:r>
          </a:p>
        </p:txBody>
      </p:sp>
      <p:sp>
        <p:nvSpPr>
          <p:cNvPr id="44" name="Rectangle 43"/>
          <p:cNvSpPr/>
          <p:nvPr/>
        </p:nvSpPr>
        <p:spPr>
          <a:xfrm>
            <a:off x="9765792" y="1783080"/>
            <a:ext cx="2286000" cy="594360"/>
          </a:xfrm>
          <a:prstGeom prst="rect">
            <a:avLst/>
          </a:prstGeom>
          <a:solidFill>
            <a:srgbClr val="8E5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765792" y="1783080"/>
            <a:ext cx="2286000" cy="594360"/>
          </a:xfrm>
          <a:prstGeom prst="rect">
            <a:avLst/>
          </a:prstGeom>
          <a:noFill/>
        </p:spPr>
        <p:txBody>
          <a:bodyPr wrap="square" lIns="0" tIns="0" rIns="0" bIns="0" anchor="ctr">
            <a:spAutoFit/>
          </a:bodyPr>
          <a:lstStyle/>
          <a:p>
            <a:pPr algn="ctr"/>
            <a:r>
              <a:rPr sz="2200" b="1" i="0">
                <a:solidFill>
                  <a:srgbClr val="FFFFFF"/>
                </a:solidFill>
                <a:latin typeface="Calibri"/>
              </a:rPr>
              <a:t>G5</a:t>
            </a:r>
          </a:p>
        </p:txBody>
      </p:sp>
      <p:sp>
        <p:nvSpPr>
          <p:cNvPr id="46" name="Rectangle 45"/>
          <p:cNvSpPr/>
          <p:nvPr/>
        </p:nvSpPr>
        <p:spPr>
          <a:xfrm>
            <a:off x="9765792" y="2377440"/>
            <a:ext cx="2286000" cy="914400"/>
          </a:xfrm>
          <a:prstGeom prst="rect">
            <a:avLst/>
          </a:prstGeom>
          <a:solidFill>
            <a:srgbClr val="FFFFFF"/>
          </a:solidFill>
          <a:ln w="19050">
            <a:solidFill>
              <a:srgbClr val="8E5B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811512" y="2423160"/>
            <a:ext cx="2194560" cy="868680"/>
          </a:xfrm>
          <a:prstGeom prst="rect">
            <a:avLst/>
          </a:prstGeom>
          <a:noFill/>
        </p:spPr>
        <p:txBody>
          <a:bodyPr wrap="square" lIns="0" tIns="0" rIns="0" bIns="0" anchor="ctr">
            <a:spAutoFit/>
          </a:bodyPr>
          <a:lstStyle/>
          <a:p>
            <a:pPr algn="ctr">
              <a:spcAft>
                <a:spcPts val="200"/>
              </a:spcAft>
            </a:pPr>
            <a:r>
              <a:rPr sz="1100" b="1" i="0">
                <a:solidFill>
                  <a:srgbClr val="8E5BA8"/>
                </a:solidFill>
                <a:latin typeface="Calibri"/>
              </a:rPr>
              <a:t>SOCIÉTÉ</a:t>
            </a:r>
          </a:p>
          <a:p>
            <a:pPr algn="ctr"/>
            <a:r>
              <a:rPr sz="1100" b="1" i="0">
                <a:solidFill>
                  <a:srgbClr val="8E5BA8"/>
                </a:solidFill>
                <a:latin typeface="Calibri"/>
              </a:rPr>
              <a:t>CIVILE</a:t>
            </a:r>
          </a:p>
        </p:txBody>
      </p:sp>
      <p:sp>
        <p:nvSpPr>
          <p:cNvPr id="48" name="Rectangle 47"/>
          <p:cNvSpPr/>
          <p:nvPr/>
        </p:nvSpPr>
        <p:spPr>
          <a:xfrm>
            <a:off x="9765792" y="3291840"/>
            <a:ext cx="2286000" cy="91440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838944" y="3337560"/>
            <a:ext cx="2139696" cy="868680"/>
          </a:xfrm>
          <a:prstGeom prst="rect">
            <a:avLst/>
          </a:prstGeom>
          <a:noFill/>
        </p:spPr>
        <p:txBody>
          <a:bodyPr wrap="square" lIns="0" tIns="0" rIns="0" bIns="0" anchor="ctr">
            <a:spAutoFit/>
          </a:bodyPr>
          <a:lstStyle/>
          <a:p>
            <a:pPr algn="ctr"/>
            <a:r>
              <a:rPr sz="1000" b="0" i="1">
                <a:solidFill>
                  <a:srgbClr val="1A1A1A"/>
                </a:solidFill>
                <a:latin typeface="Calibri"/>
              </a:rPr>
              <a:t>Associations, ASA, RCSC à créer</a:t>
            </a:r>
          </a:p>
        </p:txBody>
      </p:sp>
      <p:sp>
        <p:nvSpPr>
          <p:cNvPr id="50" name="Rectangle 49"/>
          <p:cNvSpPr/>
          <p:nvPr/>
        </p:nvSpPr>
        <p:spPr>
          <a:xfrm>
            <a:off x="9765792" y="4251960"/>
            <a:ext cx="2286000" cy="960120"/>
          </a:xfrm>
          <a:prstGeom prst="rect">
            <a:avLst/>
          </a:prstGeom>
          <a:solidFill>
            <a:srgbClr val="8E5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838944" y="4297680"/>
            <a:ext cx="2139696" cy="868680"/>
          </a:xfrm>
          <a:prstGeom prst="rect">
            <a:avLst/>
          </a:prstGeom>
          <a:noFill/>
        </p:spPr>
        <p:txBody>
          <a:bodyPr wrap="square" lIns="0" tIns="0" rIns="0" bIns="0" anchor="ctr">
            <a:spAutoFit/>
          </a:bodyPr>
          <a:lstStyle/>
          <a:p>
            <a:pPr algn="ctr"/>
            <a:r>
              <a:rPr sz="1000" b="0" i="0">
                <a:solidFill>
                  <a:srgbClr val="FFFFFF"/>
                </a:solidFill>
                <a:latin typeface="Calibri"/>
              </a:rPr>
              <a:t>Démocratie participative, équité, mémoire</a:t>
            </a:r>
          </a:p>
        </p:txBody>
      </p:sp>
      <p:sp>
        <p:nvSpPr>
          <p:cNvPr id="52" name="Rectangle 51"/>
          <p:cNvSpPr/>
          <p:nvPr/>
        </p:nvSpPr>
        <p:spPr>
          <a:xfrm>
            <a:off x="365760" y="5349240"/>
            <a:ext cx="11430000" cy="1005840"/>
          </a:xfrm>
          <a:prstGeom prst="rect">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40080" y="5440680"/>
            <a:ext cx="10972800" cy="914400"/>
          </a:xfrm>
          <a:prstGeom prst="rect">
            <a:avLst/>
          </a:prstGeom>
          <a:noFill/>
        </p:spPr>
        <p:txBody>
          <a:bodyPr wrap="square" lIns="0" tIns="0" rIns="0" bIns="0" anchor="t">
            <a:spAutoFit/>
          </a:bodyPr>
          <a:lstStyle/>
          <a:p>
            <a:pPr algn="l">
              <a:spcAft>
                <a:spcPts val="400"/>
              </a:spcAft>
            </a:pPr>
            <a:r>
              <a:rPr sz="1300" b="1" i="0">
                <a:solidFill>
                  <a:srgbClr val="FFFFFF"/>
                </a:solidFill>
                <a:latin typeface="Calibri"/>
              </a:rPr>
              <a:t>Principe — un même territoire, cinq lectures, une stratégie partagée à construire</a:t>
            </a:r>
          </a:p>
          <a:p>
            <a:pPr algn="l"/>
            <a:r>
              <a:rPr sz="1100" b="0" i="1">
                <a:solidFill>
                  <a:srgbClr val="FFFFFF"/>
                </a:solidFill>
                <a:latin typeface="Calibri"/>
              </a:rPr>
              <a:t>Chaque groupe a accès aux mêmes cartes et aux mêmes données. Mais chacun dispose en plus, sur sa fiche, de données SPÉCIFIQUES que les autres ignorent. La restitution croisée fait apparaître les frictions, les convergences inattendues — et les angles morts collectifs.</a:t>
            </a:r>
          </a:p>
        </p:txBody>
      </p:sp>
      <p:sp>
        <p:nvSpPr>
          <p:cNvPr id="3" name="Espace réservé du numéro de diapositive 2">
            <a:extLst>
              <a:ext uri="{FF2B5EF4-FFF2-40B4-BE49-F238E27FC236}">
                <a16:creationId xmlns:a16="http://schemas.microsoft.com/office/drawing/2014/main" id="{30740625-5CF0-413C-B64F-425C180B3629}"/>
              </a:ext>
            </a:extLst>
          </p:cNvPr>
          <p:cNvSpPr>
            <a:spLocks noGrp="1"/>
          </p:cNvSpPr>
          <p:nvPr>
            <p:ph type="sldNum" sz="quarter" idx="4"/>
          </p:nvPr>
        </p:nvSpPr>
        <p:spPr/>
        <p:txBody>
          <a:bodyPr/>
          <a:lstStyle/>
          <a:p>
            <a:fld id="{9981E6DC-ACA4-4CC4-B142-EC9DBA1C6CBA}" type="slidenum">
              <a:rPr lang="en-US" smtClean="0"/>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65760" y="3657600"/>
            <a:ext cx="1554480" cy="128016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3657600"/>
            <a:ext cx="1554480" cy="1280160"/>
          </a:xfrm>
          <a:prstGeom prst="rect">
            <a:avLst/>
          </a:prstGeom>
          <a:noFill/>
        </p:spPr>
        <p:txBody>
          <a:bodyPr wrap="square" lIns="0" tIns="0" rIns="0" bIns="0" anchor="ctr">
            <a:spAutoFit/>
          </a:bodyPr>
          <a:lstStyle/>
          <a:p>
            <a:pPr algn="ctr"/>
            <a:r>
              <a:rPr sz="4400" b="1" i="0">
                <a:solidFill>
                  <a:srgbClr val="FFFFFF"/>
                </a:solidFill>
                <a:latin typeface="Calibri"/>
              </a:rPr>
              <a:t>3.</a:t>
            </a:r>
          </a:p>
        </p:txBody>
      </p:sp>
      <p:sp>
        <p:nvSpPr>
          <p:cNvPr id="9" name="Rectangle 8"/>
          <p:cNvSpPr/>
          <p:nvPr/>
        </p:nvSpPr>
        <p:spPr>
          <a:xfrm>
            <a:off x="2011680" y="3657600"/>
            <a:ext cx="9784080" cy="128016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377440" y="3657600"/>
            <a:ext cx="9144000" cy="1280160"/>
          </a:xfrm>
          <a:prstGeom prst="rect">
            <a:avLst/>
          </a:prstGeom>
          <a:noFill/>
        </p:spPr>
        <p:txBody>
          <a:bodyPr wrap="square" lIns="0" tIns="0" rIns="0" bIns="0" anchor="ctr">
            <a:spAutoFit/>
          </a:bodyPr>
          <a:lstStyle/>
          <a:p>
            <a:pPr algn="l"/>
            <a:r>
              <a:rPr sz="3400" b="1" i="0">
                <a:solidFill>
                  <a:srgbClr val="FFFFFF"/>
                </a:solidFill>
                <a:latin typeface="Calibri"/>
              </a:rPr>
              <a:t>Étude de cas n°1 — diagnostic croisé en 5 groupes</a:t>
            </a:r>
          </a:p>
        </p:txBody>
      </p:sp>
      <p:cxnSp>
        <p:nvCxnSpPr>
          <p:cNvPr id="11" name="Connector 10"/>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3" name="Espace réservé du numéro de diapositive 2">
            <a:extLst>
              <a:ext uri="{FF2B5EF4-FFF2-40B4-BE49-F238E27FC236}">
                <a16:creationId xmlns:a16="http://schemas.microsoft.com/office/drawing/2014/main" id="{5695DD19-78D2-4DC7-AF24-05B9F7930FC2}"/>
              </a:ext>
            </a:extLst>
          </p:cNvPr>
          <p:cNvSpPr>
            <a:spLocks noGrp="1"/>
          </p:cNvSpPr>
          <p:nvPr>
            <p:ph type="sldNum" sz="quarter" idx="4"/>
          </p:nvPr>
        </p:nvSpPr>
        <p:spPr/>
        <p:txBody>
          <a:bodyPr/>
          <a:lstStyle/>
          <a:p>
            <a:fld id="{9981E6DC-ACA4-4CC4-B142-EC9DBA1C6CBA}" type="slidenum">
              <a:rPr lang="en-US" smtClean="0"/>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Étude de cas n°1 — Diagnostic croisé en 5 groupes</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65760" y="1188720"/>
            <a:ext cx="4572000" cy="51206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400"/>
          </a:p>
        </p:txBody>
      </p:sp>
      <p:sp>
        <p:nvSpPr>
          <p:cNvPr id="12" name="TextBox 11"/>
          <p:cNvSpPr txBox="1"/>
          <p:nvPr/>
        </p:nvSpPr>
        <p:spPr>
          <a:xfrm>
            <a:off x="548640" y="1275080"/>
            <a:ext cx="4206240" cy="5109091"/>
          </a:xfrm>
          <a:prstGeom prst="rect">
            <a:avLst/>
          </a:prstGeom>
          <a:noFill/>
        </p:spPr>
        <p:txBody>
          <a:bodyPr wrap="square" lIns="0" tIns="0" rIns="0" bIns="0" anchor="t">
            <a:spAutoFit/>
          </a:bodyPr>
          <a:lstStyle/>
          <a:p>
            <a:pPr algn="l">
              <a:spcAft>
                <a:spcPts val="400"/>
              </a:spcAft>
            </a:pPr>
            <a:r>
              <a:rPr lang="fr-FR" b="1" i="0">
                <a:solidFill>
                  <a:srgbClr val="328088"/>
                </a:solidFill>
                <a:latin typeface="Calibri"/>
              </a:rPr>
              <a:t>LE CAS  ·  Anse-de-Goulven</a:t>
            </a:r>
          </a:p>
          <a:p>
            <a:pPr algn="l">
              <a:spcAft>
                <a:spcPts val="1200"/>
              </a:spcAft>
            </a:pPr>
            <a:r>
              <a:rPr lang="fr-FR" sz="1400" b="0" i="1">
                <a:solidFill>
                  <a:srgbClr val="404040"/>
                </a:solidFill>
                <a:latin typeface="Calibri"/>
              </a:rPr>
              <a:t>Commune littorale fictive de 4 200 habitants permanents (12 000 l'été), façade Manche.</a:t>
            </a:r>
          </a:p>
          <a:p>
            <a:pPr algn="l">
              <a:spcAft>
                <a:spcPts val="200"/>
              </a:spcAft>
            </a:pPr>
            <a:r>
              <a:rPr lang="fr-FR" sz="1600" b="1" i="0">
                <a:solidFill>
                  <a:srgbClr val="1A1A1A"/>
                </a:solidFill>
                <a:latin typeface="Calibri"/>
              </a:rPr>
              <a:t>Géographie</a:t>
            </a:r>
          </a:p>
          <a:p>
            <a:pPr algn="l">
              <a:spcAft>
                <a:spcPts val="800"/>
              </a:spcAft>
            </a:pPr>
            <a:r>
              <a:rPr lang="fr-FR" sz="1400" b="0" i="0">
                <a:solidFill>
                  <a:srgbClr val="1A1A1A"/>
                </a:solidFill>
                <a:latin typeface="Calibri"/>
              </a:rPr>
              <a:t>Cordon dunaire de 4 km en érosion (recul moyen 1 m/an depuis 2010). Marais arrière-littoral classé Natura 2000. Rivière côtière. Falaise calcaire à l'ouest.</a:t>
            </a:r>
          </a:p>
          <a:p>
            <a:pPr algn="l">
              <a:spcAft>
                <a:spcPts val="200"/>
              </a:spcAft>
            </a:pPr>
            <a:r>
              <a:rPr lang="fr-FR" sz="1600" b="1" i="0">
                <a:solidFill>
                  <a:srgbClr val="1A1A1A"/>
                </a:solidFill>
                <a:latin typeface="Calibri"/>
              </a:rPr>
              <a:t>Économie</a:t>
            </a:r>
          </a:p>
          <a:p>
            <a:pPr algn="l">
              <a:spcAft>
                <a:spcPts val="800"/>
              </a:spcAft>
            </a:pPr>
            <a:r>
              <a:rPr lang="fr-FR" sz="1400" b="0" i="0">
                <a:solidFill>
                  <a:srgbClr val="1A1A1A"/>
                </a:solidFill>
                <a:latin typeface="Calibri"/>
              </a:rPr>
              <a:t>Tourisme balnéaire (3 campings dont 2 en zone PPRSM aléa fort). Pêche artisanale (port de 12 navires). Conchyliculture. Une PME agro-alimentaire en zone industrielle inondable.</a:t>
            </a:r>
          </a:p>
          <a:p>
            <a:pPr algn="l">
              <a:spcAft>
                <a:spcPts val="200"/>
              </a:spcAft>
            </a:pPr>
            <a:r>
              <a:rPr lang="fr-FR" sz="1600" b="1" i="0">
                <a:solidFill>
                  <a:srgbClr val="1A1A1A"/>
                </a:solidFill>
                <a:latin typeface="Calibri"/>
              </a:rPr>
              <a:t>Aménagement &amp; risques</a:t>
            </a:r>
          </a:p>
          <a:p>
            <a:pPr algn="l">
              <a:spcAft>
                <a:spcPts val="800"/>
              </a:spcAft>
            </a:pPr>
            <a:r>
              <a:rPr lang="fr-FR" sz="1400" b="0" i="0">
                <a:solidFill>
                  <a:srgbClr val="1A1A1A"/>
                </a:solidFill>
                <a:latin typeface="Calibri"/>
              </a:rPr>
              <a:t>PPRSM approuvé en 2014. PLU en révision depuis 2023. PAPI d'intention voté par l'EPCI en 2024. Digue de 1962 dégradée. Cordon dunaire = unique protection naturelle.</a:t>
            </a:r>
          </a:p>
          <a:p>
            <a:pPr algn="l">
              <a:spcAft>
                <a:spcPts val="200"/>
              </a:spcAft>
            </a:pPr>
            <a:r>
              <a:rPr lang="fr-FR" sz="1600" b="1" i="0">
                <a:solidFill>
                  <a:srgbClr val="1A1A1A"/>
                </a:solidFill>
                <a:latin typeface="Calibri"/>
              </a:rPr>
              <a:t>Événements récents</a:t>
            </a:r>
          </a:p>
          <a:p>
            <a:pPr algn="l"/>
            <a:r>
              <a:rPr lang="fr-FR" sz="1400" b="0" i="0">
                <a:solidFill>
                  <a:srgbClr val="1A1A1A"/>
                </a:solidFill>
                <a:latin typeface="Calibri"/>
              </a:rPr>
              <a:t>Ciaran 2023 : 80 m de cordon submergé, 6 maisons sinistrées. Crue de juillet 2024 (3ᵉ depuis 2018). Canicule été 2025 : mortalité ostréicole 30 %.</a:t>
            </a:r>
          </a:p>
        </p:txBody>
      </p:sp>
      <p:sp>
        <p:nvSpPr>
          <p:cNvPr id="13" name="TextBox 12"/>
          <p:cNvSpPr txBox="1"/>
          <p:nvPr/>
        </p:nvSpPr>
        <p:spPr>
          <a:xfrm>
            <a:off x="5212080" y="1188720"/>
            <a:ext cx="6675120" cy="492443"/>
          </a:xfrm>
          <a:prstGeom prst="rect">
            <a:avLst/>
          </a:prstGeom>
          <a:noFill/>
        </p:spPr>
        <p:txBody>
          <a:bodyPr wrap="square" lIns="0" tIns="0" rIns="0" bIns="0" anchor="t">
            <a:spAutoFit/>
          </a:bodyPr>
          <a:lstStyle/>
          <a:p>
            <a:pPr algn="l"/>
            <a:r>
              <a:rPr lang="fr-FR" sz="1600" b="1" i="0">
                <a:solidFill>
                  <a:srgbClr val="328088"/>
                </a:solidFill>
                <a:latin typeface="Calibri"/>
              </a:rPr>
              <a:t>VOTRE TRAVAIL  ·  5 groupes différenciés  ·  35 min de travail  ·  45 min de restitution croisée</a:t>
            </a:r>
          </a:p>
        </p:txBody>
      </p:sp>
      <p:sp>
        <p:nvSpPr>
          <p:cNvPr id="14" name="TextBox 13"/>
          <p:cNvSpPr txBox="1"/>
          <p:nvPr/>
        </p:nvSpPr>
        <p:spPr>
          <a:xfrm>
            <a:off x="5212080" y="1691640"/>
            <a:ext cx="6675120" cy="4047262"/>
          </a:xfrm>
          <a:prstGeom prst="rect">
            <a:avLst/>
          </a:prstGeom>
          <a:noFill/>
        </p:spPr>
        <p:txBody>
          <a:bodyPr wrap="square" lIns="0" tIns="0" rIns="0" bIns="0" anchor="t">
            <a:spAutoFit/>
          </a:bodyPr>
          <a:lstStyle/>
          <a:p>
            <a:pPr algn="l">
              <a:spcAft>
                <a:spcPts val="1400"/>
              </a:spcAft>
            </a:pPr>
            <a:r>
              <a:rPr lang="fr-FR" sz="1600" b="0" i="1">
                <a:solidFill>
                  <a:srgbClr val="1A1A1A"/>
                </a:solidFill>
                <a:latin typeface="Calibri"/>
              </a:rPr>
              <a:t>Chaque groupe incarne une partie prenante (cf. fiche groupe). Tous travaillent sur le MÊME territoire avec les MÊMES données — mais selon SA logique propre.</a:t>
            </a:r>
          </a:p>
          <a:p>
            <a:pPr algn="l">
              <a:spcAft>
                <a:spcPts val="600"/>
              </a:spcAft>
            </a:pPr>
            <a:r>
              <a:rPr lang="fr-FR" sz="1600" b="1" i="0">
                <a:solidFill>
                  <a:srgbClr val="1E2D5C"/>
                </a:solidFill>
                <a:latin typeface="Calibri"/>
              </a:rPr>
              <a:t>Cadre commun à remplir par tous les groupes :</a:t>
            </a:r>
          </a:p>
          <a:p>
            <a:pPr algn="l">
              <a:spcAft>
                <a:spcPts val="600"/>
              </a:spcAft>
            </a:pPr>
            <a:r>
              <a:rPr lang="fr-FR" sz="1400" b="0" i="0">
                <a:solidFill>
                  <a:srgbClr val="1A1A1A"/>
                </a:solidFill>
                <a:latin typeface="Calibri"/>
              </a:rPr>
              <a:t>1.  Identifier les ALÉAS auxquels la commune est exposée — lesquels évoluent avec le climat ?</a:t>
            </a:r>
          </a:p>
          <a:p>
            <a:pPr algn="l">
              <a:spcAft>
                <a:spcPts val="600"/>
              </a:spcAft>
            </a:pPr>
            <a:r>
              <a:rPr lang="fr-FR" sz="1400" b="0" i="0">
                <a:solidFill>
                  <a:srgbClr val="1A1A1A"/>
                </a:solidFill>
                <a:latin typeface="Calibri"/>
              </a:rPr>
              <a:t>2.  Caractériser l'EXPOSITION : enjeux humains, économiques, patrimoniaux, environnementaux.</a:t>
            </a:r>
          </a:p>
          <a:p>
            <a:pPr algn="l">
              <a:spcAft>
                <a:spcPts val="600"/>
              </a:spcAft>
            </a:pPr>
            <a:r>
              <a:rPr lang="fr-FR" sz="1400" b="0" i="0">
                <a:solidFill>
                  <a:srgbClr val="1A1A1A"/>
                </a:solidFill>
                <a:latin typeface="Calibri"/>
              </a:rPr>
              <a:t>3.  Caractériser les VULNÉRABILITÉS : techniques, socio-économiques, organisationnelles, financières.</a:t>
            </a:r>
          </a:p>
          <a:p>
            <a:pPr algn="l">
              <a:spcAft>
                <a:spcPts val="1200"/>
              </a:spcAft>
            </a:pPr>
            <a:r>
              <a:rPr lang="fr-FR" sz="1400" b="0" i="0">
                <a:solidFill>
                  <a:srgbClr val="1A1A1A"/>
                </a:solidFill>
                <a:latin typeface="Calibri"/>
              </a:rPr>
              <a:t>4.  Lister les ACTEURS prioritaires à mobiliser, par ordre de priorité.</a:t>
            </a:r>
          </a:p>
          <a:p>
            <a:pPr algn="l">
              <a:spcAft>
                <a:spcPts val="400"/>
              </a:spcAft>
            </a:pPr>
            <a:r>
              <a:rPr lang="fr-FR" sz="1600" b="1" i="0">
                <a:solidFill>
                  <a:srgbClr val="E86E55"/>
                </a:solidFill>
                <a:latin typeface="Calibri"/>
              </a:rPr>
              <a:t>Travail spécifique à votre groupe :</a:t>
            </a:r>
          </a:p>
          <a:p>
            <a:pPr algn="l">
              <a:spcAft>
                <a:spcPts val="1200"/>
              </a:spcAft>
            </a:pPr>
            <a:r>
              <a:rPr lang="fr-FR" sz="1400" b="0" i="0">
                <a:solidFill>
                  <a:srgbClr val="1A1A1A"/>
                </a:solidFill>
                <a:latin typeface="Calibri"/>
              </a:rPr>
              <a:t>Répondre aux 2 questions de votre fiche groupe — elles enrichiront votre prise de parole.</a:t>
            </a:r>
          </a:p>
          <a:p>
            <a:pPr algn="l"/>
            <a:r>
              <a:rPr lang="fr-FR" sz="1600" b="1" i="1">
                <a:solidFill>
                  <a:srgbClr val="E86E55"/>
                </a:solidFill>
                <a:latin typeface="Calibri"/>
              </a:rPr>
              <a:t>RESTITUTION  ·  8 min par groupe (5 × 8 = 40 min) + 5 min de respiration + débat</a:t>
            </a:r>
          </a:p>
        </p:txBody>
      </p:sp>
      <p:sp>
        <p:nvSpPr>
          <p:cNvPr id="3" name="Espace réservé du numéro de diapositive 2">
            <a:extLst>
              <a:ext uri="{FF2B5EF4-FFF2-40B4-BE49-F238E27FC236}">
                <a16:creationId xmlns:a16="http://schemas.microsoft.com/office/drawing/2014/main" id="{91DE4B48-CCC0-48F5-97FB-447E4180761B}"/>
              </a:ext>
            </a:extLst>
          </p:cNvPr>
          <p:cNvSpPr>
            <a:spLocks noGrp="1"/>
          </p:cNvSpPr>
          <p:nvPr>
            <p:ph type="sldNum" sz="quarter" idx="4"/>
          </p:nvPr>
        </p:nvSpPr>
        <p:spPr/>
        <p:txBody>
          <a:bodyPr/>
          <a:lstStyle/>
          <a:p>
            <a:fld id="{9981E6DC-ACA4-4CC4-B142-EC9DBA1C6CBA}" type="slidenum">
              <a:rPr lang="en-US" smtClean="0"/>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14600" y="201168"/>
            <a:ext cx="9509760" cy="713232"/>
          </a:xfrm>
          <a:prstGeom prst="rect">
            <a:avLst/>
          </a:prstGeom>
          <a:noFill/>
        </p:spPr>
        <p:txBody>
          <a:bodyPr wrap="square" lIns="0" tIns="0" rIns="0" bIns="0" anchor="ctr">
            <a:spAutoFit/>
          </a:bodyPr>
          <a:lstStyle/>
          <a:p>
            <a:pPr algn="l"/>
            <a:r>
              <a:rPr sz="2600" b="1" i="0">
                <a:solidFill>
                  <a:srgbClr val="1A1A1A"/>
                </a:solidFill>
                <a:latin typeface="Calibri"/>
              </a:rPr>
              <a:t>Étude de cas n°1 — grille de restitution</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457200" y="1188720"/>
            <a:ext cx="2743200" cy="54864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1188720"/>
            <a:ext cx="2743200" cy="548640"/>
          </a:xfrm>
          <a:prstGeom prst="rect">
            <a:avLst/>
          </a:prstGeom>
          <a:noFill/>
        </p:spPr>
        <p:txBody>
          <a:bodyPr wrap="square" lIns="0" tIns="0" rIns="0" bIns="0" anchor="ctr">
            <a:spAutoFit/>
          </a:bodyPr>
          <a:lstStyle/>
          <a:p>
            <a:pPr algn="ctr"/>
            <a:r>
              <a:rPr sz="1400" b="1" i="0">
                <a:solidFill>
                  <a:srgbClr val="FFFFFF"/>
                </a:solidFill>
                <a:latin typeface="Calibri"/>
              </a:rPr>
              <a:t>Aléas</a:t>
            </a:r>
          </a:p>
        </p:txBody>
      </p:sp>
      <p:sp>
        <p:nvSpPr>
          <p:cNvPr id="13" name="Rectangle 12"/>
          <p:cNvSpPr/>
          <p:nvPr/>
        </p:nvSpPr>
        <p:spPr>
          <a:xfrm>
            <a:off x="3200400" y="1188720"/>
            <a:ext cx="2743200" cy="54864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00400" y="1188720"/>
            <a:ext cx="2743200" cy="548640"/>
          </a:xfrm>
          <a:prstGeom prst="rect">
            <a:avLst/>
          </a:prstGeom>
          <a:noFill/>
        </p:spPr>
        <p:txBody>
          <a:bodyPr wrap="square" lIns="0" tIns="0" rIns="0" bIns="0" anchor="ctr">
            <a:spAutoFit/>
          </a:bodyPr>
          <a:lstStyle/>
          <a:p>
            <a:pPr algn="ctr"/>
            <a:r>
              <a:rPr sz="1400" b="1" i="0">
                <a:solidFill>
                  <a:srgbClr val="FFFFFF"/>
                </a:solidFill>
                <a:latin typeface="Calibri"/>
              </a:rPr>
              <a:t>Exposition</a:t>
            </a:r>
          </a:p>
        </p:txBody>
      </p:sp>
      <p:sp>
        <p:nvSpPr>
          <p:cNvPr id="15" name="Rectangle 14"/>
          <p:cNvSpPr/>
          <p:nvPr/>
        </p:nvSpPr>
        <p:spPr>
          <a:xfrm>
            <a:off x="5943600" y="1188720"/>
            <a:ext cx="2743200" cy="54864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0" y="1188720"/>
            <a:ext cx="2743200" cy="548640"/>
          </a:xfrm>
          <a:prstGeom prst="rect">
            <a:avLst/>
          </a:prstGeom>
          <a:noFill/>
        </p:spPr>
        <p:txBody>
          <a:bodyPr wrap="square" lIns="0" tIns="0" rIns="0" bIns="0" anchor="ctr">
            <a:spAutoFit/>
          </a:bodyPr>
          <a:lstStyle/>
          <a:p>
            <a:pPr algn="ctr"/>
            <a:r>
              <a:rPr sz="1400" b="1" i="0">
                <a:solidFill>
                  <a:srgbClr val="FFFFFF"/>
                </a:solidFill>
                <a:latin typeface="Calibri"/>
              </a:rPr>
              <a:t>Vulnérabilités</a:t>
            </a:r>
          </a:p>
        </p:txBody>
      </p:sp>
      <p:sp>
        <p:nvSpPr>
          <p:cNvPr id="17" name="Rectangle 16"/>
          <p:cNvSpPr/>
          <p:nvPr/>
        </p:nvSpPr>
        <p:spPr>
          <a:xfrm>
            <a:off x="8686800" y="1188720"/>
            <a:ext cx="2743200" cy="54864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0" y="1188720"/>
            <a:ext cx="2743200" cy="548640"/>
          </a:xfrm>
          <a:prstGeom prst="rect">
            <a:avLst/>
          </a:prstGeom>
          <a:noFill/>
        </p:spPr>
        <p:txBody>
          <a:bodyPr wrap="square" lIns="0" tIns="0" rIns="0" bIns="0" anchor="ctr">
            <a:spAutoFit/>
          </a:bodyPr>
          <a:lstStyle/>
          <a:p>
            <a:pPr algn="ctr"/>
            <a:r>
              <a:rPr sz="1400" b="1" i="0">
                <a:solidFill>
                  <a:srgbClr val="FFFFFF"/>
                </a:solidFill>
                <a:latin typeface="Calibri"/>
              </a:rPr>
              <a:t>Acteurs à mobiliser</a:t>
            </a:r>
          </a:p>
        </p:txBody>
      </p:sp>
      <p:sp>
        <p:nvSpPr>
          <p:cNvPr id="19" name="Rectangle 18"/>
          <p:cNvSpPr/>
          <p:nvPr/>
        </p:nvSpPr>
        <p:spPr>
          <a:xfrm>
            <a:off x="457200" y="1737360"/>
            <a:ext cx="2743200" cy="4389120"/>
          </a:xfrm>
          <a:prstGeom prst="rect">
            <a:avLst/>
          </a:prstGeom>
          <a:solidFill>
            <a:srgbClr val="FFFFFF"/>
          </a:solidFill>
          <a:ln w="12700">
            <a:solidFill>
              <a:srgbClr val="3280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200400" y="1737360"/>
            <a:ext cx="2743200" cy="4389120"/>
          </a:xfrm>
          <a:prstGeom prst="rect">
            <a:avLst/>
          </a:prstGeom>
          <a:solidFill>
            <a:srgbClr val="FFFFFF"/>
          </a:solidFill>
          <a:ln w="12700">
            <a:solidFill>
              <a:srgbClr val="3280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943600" y="1737360"/>
            <a:ext cx="2743200" cy="4389120"/>
          </a:xfrm>
          <a:prstGeom prst="rect">
            <a:avLst/>
          </a:prstGeom>
          <a:solidFill>
            <a:srgbClr val="FFFFFF"/>
          </a:solidFill>
          <a:ln w="12700">
            <a:solidFill>
              <a:srgbClr val="3280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686800" y="1737360"/>
            <a:ext cx="2743200" cy="4389120"/>
          </a:xfrm>
          <a:prstGeom prst="rect">
            <a:avLst/>
          </a:prstGeom>
          <a:solidFill>
            <a:srgbClr val="FFFFFF"/>
          </a:solidFill>
          <a:ln w="12700">
            <a:solidFill>
              <a:srgbClr val="3280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6263640"/>
            <a:ext cx="10972800" cy="365760"/>
          </a:xfrm>
          <a:prstGeom prst="rect">
            <a:avLst/>
          </a:prstGeom>
          <a:noFill/>
        </p:spPr>
        <p:txBody>
          <a:bodyPr wrap="square" lIns="0" tIns="0" rIns="0" bIns="0" anchor="t">
            <a:spAutoFit/>
          </a:bodyPr>
          <a:lstStyle/>
          <a:p>
            <a:pPr algn="ctr"/>
            <a:r>
              <a:rPr sz="1100" b="0" i="1">
                <a:solidFill>
                  <a:srgbClr val="404040"/>
                </a:solidFill>
                <a:latin typeface="Calibri"/>
              </a:rPr>
              <a:t>À remplir collectivement à partir des restitutions des sous-groupes.</a:t>
            </a:r>
          </a:p>
        </p:txBody>
      </p:sp>
      <p:sp>
        <p:nvSpPr>
          <p:cNvPr id="3" name="Espace réservé du numéro de diapositive 2">
            <a:extLst>
              <a:ext uri="{FF2B5EF4-FFF2-40B4-BE49-F238E27FC236}">
                <a16:creationId xmlns:a16="http://schemas.microsoft.com/office/drawing/2014/main" id="{417B1A99-6540-46A5-A6A6-525A346FB40C}"/>
              </a:ext>
            </a:extLst>
          </p:cNvPr>
          <p:cNvSpPr>
            <a:spLocks noGrp="1"/>
          </p:cNvSpPr>
          <p:nvPr>
            <p:ph type="sldNum" sz="quarter" idx="4"/>
          </p:nvPr>
        </p:nvSpPr>
        <p:spPr/>
        <p:txBody>
          <a:bodyPr/>
          <a:lstStyle/>
          <a:p>
            <a:fld id="{9981E6DC-ACA4-4CC4-B142-EC9DBA1C6CBA}" type="slidenum">
              <a:rPr lang="en-US" smtClean="0"/>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65760" y="3657600"/>
            <a:ext cx="1554480" cy="128016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3657600"/>
            <a:ext cx="1554480" cy="1280160"/>
          </a:xfrm>
          <a:prstGeom prst="rect">
            <a:avLst/>
          </a:prstGeom>
          <a:noFill/>
        </p:spPr>
        <p:txBody>
          <a:bodyPr wrap="square" lIns="0" tIns="0" rIns="0" bIns="0" anchor="ctr">
            <a:spAutoFit/>
          </a:bodyPr>
          <a:lstStyle/>
          <a:p>
            <a:pPr algn="ctr"/>
            <a:r>
              <a:rPr sz="4400" b="1" i="0">
                <a:solidFill>
                  <a:srgbClr val="FFFFFF"/>
                </a:solidFill>
                <a:latin typeface="Calibri"/>
              </a:rPr>
              <a:t>4.</a:t>
            </a:r>
          </a:p>
        </p:txBody>
      </p:sp>
      <p:sp>
        <p:nvSpPr>
          <p:cNvPr id="9" name="Rectangle 8"/>
          <p:cNvSpPr/>
          <p:nvPr/>
        </p:nvSpPr>
        <p:spPr>
          <a:xfrm>
            <a:off x="2011680" y="3657600"/>
            <a:ext cx="9784080" cy="128016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377440" y="3657600"/>
            <a:ext cx="9144000" cy="1280160"/>
          </a:xfrm>
          <a:prstGeom prst="rect">
            <a:avLst/>
          </a:prstGeom>
          <a:noFill/>
        </p:spPr>
        <p:txBody>
          <a:bodyPr wrap="square" lIns="0" tIns="0" rIns="0" bIns="0" anchor="ctr">
            <a:spAutoFit/>
          </a:bodyPr>
          <a:lstStyle/>
          <a:p>
            <a:pPr algn="l"/>
            <a:r>
              <a:rPr sz="3400" b="1" i="0">
                <a:solidFill>
                  <a:srgbClr val="FFFFFF"/>
                </a:solidFill>
                <a:latin typeface="Calibri"/>
              </a:rPr>
              <a:t>Le cadre national de la prévention</a:t>
            </a:r>
          </a:p>
        </p:txBody>
      </p:sp>
      <p:cxnSp>
        <p:nvCxnSpPr>
          <p:cNvPr id="11" name="Connector 10"/>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3" name="Espace réservé du numéro de diapositive 2">
            <a:extLst>
              <a:ext uri="{FF2B5EF4-FFF2-40B4-BE49-F238E27FC236}">
                <a16:creationId xmlns:a16="http://schemas.microsoft.com/office/drawing/2014/main" id="{21487D06-3981-4B32-B6A9-C1B0803D6AD2}"/>
              </a:ext>
            </a:extLst>
          </p:cNvPr>
          <p:cNvSpPr>
            <a:spLocks noGrp="1"/>
          </p:cNvSpPr>
          <p:nvPr>
            <p:ph type="sldNum" sz="quarter" idx="4"/>
          </p:nvPr>
        </p:nvSpPr>
        <p:spPr/>
        <p:txBody>
          <a:bodyPr/>
          <a:lstStyle/>
          <a:p>
            <a:fld id="{9981E6DC-ACA4-4CC4-B142-EC9DBA1C6CBA}" type="slidenum">
              <a:rPr lang="en-US" smtClean="0"/>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14600" y="201168"/>
            <a:ext cx="9509760" cy="713232"/>
          </a:xfrm>
          <a:prstGeom prst="rect">
            <a:avLst/>
          </a:prstGeom>
          <a:noFill/>
        </p:spPr>
        <p:txBody>
          <a:bodyPr wrap="square" lIns="0" tIns="0" rIns="0" bIns="0" anchor="ctr">
            <a:spAutoFit/>
          </a:bodyPr>
          <a:lstStyle/>
          <a:p>
            <a:pPr algn="l"/>
            <a:r>
              <a:rPr sz="2600" b="1" i="0">
                <a:solidFill>
                  <a:srgbClr val="1A1A1A"/>
                </a:solidFill>
                <a:latin typeface="Calibri"/>
              </a:rPr>
              <a:t>Les 7 piliers de la prévention des risques naturels</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pic>
        <p:nvPicPr>
          <p:cNvPr id="22" name="Image 21">
            <a:extLst>
              <a:ext uri="{FF2B5EF4-FFF2-40B4-BE49-F238E27FC236}">
                <a16:creationId xmlns:a16="http://schemas.microsoft.com/office/drawing/2014/main" id="{A1ADB62D-36A9-4A89-BA05-D626719E88A9}"/>
              </a:ext>
            </a:extLst>
          </p:cNvPr>
          <p:cNvPicPr>
            <a:picLocks noChangeAspect="1"/>
          </p:cNvPicPr>
          <p:nvPr/>
        </p:nvPicPr>
        <p:blipFill>
          <a:blip r:embed="rId2"/>
          <a:stretch>
            <a:fillRect/>
          </a:stretch>
        </p:blipFill>
        <p:spPr>
          <a:xfrm>
            <a:off x="3545840" y="1082040"/>
            <a:ext cx="5775960" cy="5775960"/>
          </a:xfrm>
          <a:prstGeom prst="rect">
            <a:avLst/>
          </a:prstGeom>
        </p:spPr>
      </p:pic>
      <p:sp>
        <p:nvSpPr>
          <p:cNvPr id="3" name="Espace réservé du numéro de diapositive 2">
            <a:extLst>
              <a:ext uri="{FF2B5EF4-FFF2-40B4-BE49-F238E27FC236}">
                <a16:creationId xmlns:a16="http://schemas.microsoft.com/office/drawing/2014/main" id="{C04E11B9-375E-49C9-AB2B-C1EFFBA5E1F3}"/>
              </a:ext>
            </a:extLst>
          </p:cNvPr>
          <p:cNvSpPr>
            <a:spLocks noGrp="1"/>
          </p:cNvSpPr>
          <p:nvPr>
            <p:ph type="sldNum" sz="quarter" idx="4"/>
          </p:nvPr>
        </p:nvSpPr>
        <p:spPr/>
        <p:txBody>
          <a:bodyPr/>
          <a:lstStyle/>
          <a:p>
            <a:fld id="{9981E6DC-ACA4-4CC4-B142-EC9DBA1C6CBA}" type="slidenum">
              <a:rPr lang="en-US" smtClean="0"/>
              <a:pPr/>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Pilier 1 — Connaître les risques</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1463040"/>
            <a:ext cx="11247120" cy="3867725"/>
          </a:xfrm>
          <a:prstGeom prst="rect">
            <a:avLst/>
          </a:prstGeom>
          <a:noFill/>
        </p:spPr>
        <p:txBody>
          <a:bodyPr wrap="square" lIns="0" tIns="0" rIns="0" bIns="0" anchor="t">
            <a:spAutoFit/>
          </a:bodyPr>
          <a:lstStyle/>
          <a:p>
            <a:pPr algn="l">
              <a:spcAft>
                <a:spcPts val="1400"/>
              </a:spcAft>
            </a:pPr>
            <a:r>
              <a:rPr lang="fr-FR" sz="2000" b="1" i="0">
                <a:solidFill>
                  <a:srgbClr val="328088"/>
                </a:solidFill>
                <a:latin typeface="Calibri"/>
              </a:rPr>
              <a:t>Préalable fondamental à la prévention</a:t>
            </a:r>
          </a:p>
          <a:p>
            <a:pPr algn="l">
              <a:spcAft>
                <a:spcPts val="1400"/>
              </a:spcAft>
            </a:pPr>
            <a:r>
              <a:rPr lang="fr-FR" b="0" i="0">
                <a:solidFill>
                  <a:srgbClr val="1A1A1A"/>
                </a:solidFill>
                <a:latin typeface="Calibri"/>
              </a:rPr>
              <a:t>Connaissance multiple : aléas, exposition, vulnérabilités, acteurs, moyens d'action.</a:t>
            </a:r>
          </a:p>
          <a:p>
            <a:pPr algn="l">
              <a:spcAft>
                <a:spcPts val="600"/>
              </a:spcAft>
            </a:pPr>
            <a:r>
              <a:rPr lang="fr-FR" b="1" i="0">
                <a:solidFill>
                  <a:srgbClr val="1A1A1A"/>
                </a:solidFill>
                <a:latin typeface="Calibri"/>
              </a:rPr>
              <a:t>L'État a la responsabilité légale de collecter l'information, d'évaluer le risque et d'en assurer la transmission :</a:t>
            </a:r>
          </a:p>
          <a:p>
            <a:pPr algn="l">
              <a:spcAft>
                <a:spcPts val="400"/>
              </a:spcAft>
            </a:pPr>
            <a:r>
              <a:rPr lang="fr-FR" sz="1600" b="0">
                <a:solidFill>
                  <a:srgbClr val="1A1A1A"/>
                </a:solidFill>
                <a:latin typeface="Calibri"/>
              </a:rPr>
              <a:t>• </a:t>
            </a:r>
            <a:r>
              <a:rPr lang="fr-FR" sz="1600" b="0" i="0">
                <a:solidFill>
                  <a:srgbClr val="1A1A1A"/>
                </a:solidFill>
                <a:latin typeface="Calibri"/>
              </a:rPr>
              <a:t>Acquisition de données, financement d'études, élaboration de cartes d'aléa</a:t>
            </a:r>
          </a:p>
          <a:p>
            <a:pPr algn="l">
              <a:spcAft>
                <a:spcPts val="1400"/>
              </a:spcAft>
            </a:pPr>
            <a:r>
              <a:rPr lang="fr-FR" sz="1600" b="0">
                <a:solidFill>
                  <a:srgbClr val="1A1A1A"/>
                </a:solidFill>
                <a:latin typeface="Calibri"/>
              </a:rPr>
              <a:t>• </a:t>
            </a:r>
            <a:r>
              <a:rPr lang="fr-FR" sz="1600" b="0" i="0">
                <a:solidFill>
                  <a:srgbClr val="1A1A1A"/>
                </a:solidFill>
                <a:latin typeface="Calibri"/>
              </a:rPr>
              <a:t>Appui sur le réseau d'opérateurs techniques et scientifiques (BRGM, Cerema, SHOM, IGN, INRAE, Météo-France, Université Gustave-Eiffel, ONF…)</a:t>
            </a:r>
          </a:p>
          <a:p>
            <a:pPr algn="l">
              <a:spcAft>
                <a:spcPts val="1400"/>
              </a:spcAft>
            </a:pPr>
            <a:r>
              <a:rPr lang="fr-FR" b="0" i="1">
                <a:solidFill>
                  <a:srgbClr val="404040"/>
                </a:solidFill>
                <a:latin typeface="Calibri"/>
              </a:rPr>
              <a:t>Les collectivités sont aussi productrices de connaissance — via les PAPI, PLU(i), Gemapi, observatoires.</a:t>
            </a:r>
          </a:p>
          <a:p>
            <a:pPr algn="l">
              <a:spcAft>
                <a:spcPts val="600"/>
              </a:spcAft>
            </a:pPr>
            <a:r>
              <a:rPr lang="fr-FR" b="1" i="0">
                <a:solidFill>
                  <a:srgbClr val="1A1A1A"/>
                </a:solidFill>
                <a:latin typeface="Calibri"/>
              </a:rPr>
              <a:t>Sur le littoral, des outils spécifiques :</a:t>
            </a:r>
          </a:p>
          <a:p>
            <a:pPr algn="l">
              <a:spcAft>
                <a:spcPts val="400"/>
              </a:spcAft>
            </a:pPr>
            <a:r>
              <a:rPr lang="fr-FR" sz="1600" b="0">
                <a:solidFill>
                  <a:srgbClr val="1A1A1A"/>
                </a:solidFill>
                <a:latin typeface="Calibri"/>
              </a:rPr>
              <a:t>• </a:t>
            </a:r>
            <a:r>
              <a:rPr lang="fr-FR" sz="1600" b="0" i="0">
                <a:solidFill>
                  <a:srgbClr val="1A1A1A"/>
                </a:solidFill>
                <a:latin typeface="Calibri"/>
              </a:rPr>
              <a:t>Réseau des marégraphes (REFMAR — SHOM)  ·  bouées Candhis (Cerema)  ·  observatoires régionaux (OCA en Nouvelle-Aquitaine, Réseau des observatoires du trait de côte)</a:t>
            </a:r>
          </a:p>
          <a:p>
            <a:pPr algn="l"/>
            <a:r>
              <a:rPr lang="fr-FR" sz="1600" b="0">
                <a:solidFill>
                  <a:srgbClr val="E86E55"/>
                </a:solidFill>
                <a:latin typeface="Calibri"/>
              </a:rPr>
              <a:t>• </a:t>
            </a:r>
            <a:r>
              <a:rPr lang="fr-FR" sz="1600" b="0" i="1">
                <a:solidFill>
                  <a:srgbClr val="E86E55"/>
                </a:solidFill>
                <a:latin typeface="Calibri"/>
              </a:rPr>
              <a:t>Ne pas oublier la connaissance non académique : repères de crue, mémoire orale, cahiers de doléances post-crise…</a:t>
            </a:r>
          </a:p>
        </p:txBody>
      </p:sp>
      <p:sp>
        <p:nvSpPr>
          <p:cNvPr id="3" name="Espace réservé du numéro de diapositive 2">
            <a:extLst>
              <a:ext uri="{FF2B5EF4-FFF2-40B4-BE49-F238E27FC236}">
                <a16:creationId xmlns:a16="http://schemas.microsoft.com/office/drawing/2014/main" id="{6B22985E-4372-4397-9858-75BC7259441A}"/>
              </a:ext>
            </a:extLst>
          </p:cNvPr>
          <p:cNvSpPr>
            <a:spLocks noGrp="1"/>
          </p:cNvSpPr>
          <p:nvPr>
            <p:ph type="sldNum" sz="quarter" idx="4"/>
          </p:nvPr>
        </p:nvSpPr>
        <p:spPr/>
        <p:txBody>
          <a:bodyPr/>
          <a:lstStyle/>
          <a:p>
            <a:fld id="{9981E6DC-ACA4-4CC4-B142-EC9DBA1C6CBA}" type="slidenum">
              <a:rPr lang="en-US" smtClean="0"/>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14600" y="201168"/>
            <a:ext cx="9509760" cy="713232"/>
          </a:xfrm>
          <a:prstGeom prst="rect">
            <a:avLst/>
          </a:prstGeom>
          <a:noFill/>
        </p:spPr>
        <p:txBody>
          <a:bodyPr wrap="square" lIns="0" tIns="0" rIns="0" bIns="0" anchor="ctr">
            <a:spAutoFit/>
          </a:bodyPr>
          <a:lstStyle/>
          <a:p>
            <a:pPr algn="l"/>
            <a:r>
              <a:rPr sz="2600" b="1" i="0">
                <a:solidFill>
                  <a:srgbClr val="1A1A1A"/>
                </a:solidFill>
                <a:latin typeface="Calibri"/>
              </a:rPr>
              <a:t>Pilier 2 — Surveiller et alerter</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39496" y="1615122"/>
            <a:ext cx="6400800" cy="4267835"/>
          </a:xfrm>
          <a:prstGeom prst="rect">
            <a:avLst/>
          </a:prstGeom>
          <a:noFill/>
        </p:spPr>
        <p:txBody>
          <a:bodyPr wrap="square" lIns="0" tIns="0" rIns="0" bIns="0" anchor="t">
            <a:spAutoFit/>
          </a:bodyPr>
          <a:lstStyle/>
          <a:p>
            <a:pPr algn="l">
              <a:spcAft>
                <a:spcPts val="1400"/>
              </a:spcAft>
            </a:pPr>
            <a:r>
              <a:rPr b="0" i="0">
                <a:solidFill>
                  <a:srgbClr val="1A1A1A"/>
                </a:solidFill>
                <a:latin typeface="Calibri"/>
              </a:rPr>
              <a:t>Objectif : anticiper un événement pour informer et alerter rapidement la population, et préparer la gestion de crise.</a:t>
            </a:r>
          </a:p>
          <a:p>
            <a:pPr algn="l">
              <a:spcAft>
                <a:spcPts val="600"/>
              </a:spcAft>
            </a:pPr>
            <a:r>
              <a:rPr b="1" i="0">
                <a:solidFill>
                  <a:srgbClr val="1A1A1A"/>
                </a:solidFill>
                <a:latin typeface="Calibri"/>
              </a:rPr>
              <a:t>Nécessite une organisation spécifique et un équipement des territoires :</a:t>
            </a:r>
          </a:p>
          <a:p>
            <a:pPr algn="l">
              <a:spcAft>
                <a:spcPts val="400"/>
              </a:spcAft>
            </a:pPr>
            <a:r>
              <a:rPr sz="1600" b="0">
                <a:solidFill>
                  <a:srgbClr val="1A1A1A"/>
                </a:solidFill>
                <a:latin typeface="Calibri"/>
              </a:rPr>
              <a:t>• </a:t>
            </a:r>
            <a:r>
              <a:rPr sz="1600" b="0" i="0">
                <a:solidFill>
                  <a:srgbClr val="1A1A1A"/>
                </a:solidFill>
                <a:latin typeface="Calibri"/>
              </a:rPr>
              <a:t>Vigilance Météo-France (vent, pluie, vagues-submersion, orages…)</a:t>
            </a:r>
          </a:p>
          <a:p>
            <a:pPr algn="l">
              <a:spcAft>
                <a:spcPts val="400"/>
              </a:spcAft>
            </a:pPr>
            <a:r>
              <a:rPr sz="1600" b="0">
                <a:solidFill>
                  <a:srgbClr val="1A1A1A"/>
                </a:solidFill>
                <a:latin typeface="Calibri"/>
              </a:rPr>
              <a:t>• </a:t>
            </a:r>
            <a:r>
              <a:rPr sz="1600" b="0" i="0">
                <a:solidFill>
                  <a:srgbClr val="1A1A1A"/>
                </a:solidFill>
                <a:latin typeface="Calibri"/>
              </a:rPr>
              <a:t>Vigicrues + Vigicrues Flash + APIC (Avertissement Pluies Intenses Communes)</a:t>
            </a:r>
          </a:p>
          <a:p>
            <a:pPr algn="l">
              <a:spcAft>
                <a:spcPts val="400"/>
              </a:spcAft>
            </a:pPr>
            <a:r>
              <a:rPr sz="1600" b="0">
                <a:solidFill>
                  <a:srgbClr val="1A1A1A"/>
                </a:solidFill>
                <a:latin typeface="Calibri"/>
              </a:rPr>
              <a:t>• </a:t>
            </a:r>
            <a:r>
              <a:rPr sz="1600" b="0" i="0">
                <a:solidFill>
                  <a:srgbClr val="1A1A1A"/>
                </a:solidFill>
                <a:latin typeface="Calibri"/>
              </a:rPr>
              <a:t>Sur le littoral : marégraphes, houlographes, radars HF, modèles de prévision de surcote</a:t>
            </a:r>
          </a:p>
          <a:p>
            <a:pPr algn="l">
              <a:spcAft>
                <a:spcPts val="1400"/>
              </a:spcAft>
            </a:pPr>
            <a:r>
              <a:rPr sz="1600" b="0">
                <a:solidFill>
                  <a:srgbClr val="1A1A1A"/>
                </a:solidFill>
                <a:latin typeface="Calibri"/>
              </a:rPr>
              <a:t>• </a:t>
            </a:r>
            <a:r>
              <a:rPr sz="1600" b="0" i="0">
                <a:solidFill>
                  <a:srgbClr val="1A1A1A"/>
                </a:solidFill>
                <a:latin typeface="Calibri"/>
              </a:rPr>
              <a:t>FR-Alert : alerte directe sur les téléphones depuis 2022</a:t>
            </a:r>
          </a:p>
          <a:p>
            <a:pPr algn="l">
              <a:spcAft>
                <a:spcPts val="600"/>
              </a:spcAft>
            </a:pPr>
            <a:r>
              <a:rPr b="1" i="0">
                <a:solidFill>
                  <a:srgbClr val="E86E55"/>
                </a:solidFill>
                <a:latin typeface="Calibri"/>
              </a:rPr>
              <a:t>Point de vigilance</a:t>
            </a:r>
          </a:p>
          <a:p>
            <a:pPr algn="l"/>
            <a:r>
              <a:rPr sz="1600" b="0" i="1">
                <a:solidFill>
                  <a:srgbClr val="1A1A1A"/>
                </a:solidFill>
                <a:latin typeface="Calibri"/>
              </a:rPr>
              <a:t>Le dispositif d'alerte n'est utile que si la population sait l'interpréter et y répondre. C'est le pilier 3 (information et éducation) qui rend le pilier 2 efficace.</a:t>
            </a:r>
          </a:p>
        </p:txBody>
      </p:sp>
      <p:sp>
        <p:nvSpPr>
          <p:cNvPr id="12" name="Rectangle 11"/>
          <p:cNvSpPr/>
          <p:nvPr/>
        </p:nvSpPr>
        <p:spPr>
          <a:xfrm>
            <a:off x="7132320" y="1188720"/>
            <a:ext cx="4663440" cy="502920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0" y="1325880"/>
            <a:ext cx="4389120" cy="4846320"/>
          </a:xfrm>
          <a:prstGeom prst="rect">
            <a:avLst/>
          </a:prstGeom>
          <a:noFill/>
        </p:spPr>
        <p:txBody>
          <a:bodyPr wrap="square" lIns="0" tIns="0" rIns="0" bIns="0" anchor="t">
            <a:spAutoFit/>
          </a:bodyPr>
          <a:lstStyle/>
          <a:p>
            <a:pPr algn="l">
              <a:spcAft>
                <a:spcPts val="600"/>
              </a:spcAft>
            </a:pPr>
            <a:r>
              <a:rPr sz="1300" b="1" i="0">
                <a:solidFill>
                  <a:srgbClr val="328088"/>
                </a:solidFill>
                <a:latin typeface="Calibri"/>
              </a:rPr>
              <a:t>EXEMPLE — Tempête Ciaran</a:t>
            </a:r>
          </a:p>
          <a:p>
            <a:pPr algn="l">
              <a:spcAft>
                <a:spcPts val="1400"/>
              </a:spcAft>
            </a:pPr>
            <a:r>
              <a:rPr sz="1100" b="0" i="1">
                <a:solidFill>
                  <a:srgbClr val="404040"/>
                </a:solidFill>
                <a:latin typeface="Calibri"/>
              </a:rPr>
              <a:t>1er-2 novembre 2023</a:t>
            </a:r>
          </a:p>
          <a:p>
            <a:pPr algn="l">
              <a:spcAft>
                <a:spcPts val="800"/>
              </a:spcAft>
            </a:pPr>
            <a:r>
              <a:rPr sz="1200" b="0" i="0">
                <a:solidFill>
                  <a:srgbClr val="1A1A1A"/>
                </a:solidFill>
                <a:latin typeface="Calibri"/>
              </a:rPr>
              <a:t>Vigilance rouge déclenchée 24 h avant l'événement par Météo-France.</a:t>
            </a:r>
          </a:p>
          <a:p>
            <a:pPr algn="l">
              <a:spcAft>
                <a:spcPts val="400"/>
              </a:spcAft>
            </a:pPr>
            <a:r>
              <a:rPr sz="1200" b="0" i="0">
                <a:solidFill>
                  <a:srgbClr val="1A1A1A"/>
                </a:solidFill>
                <a:latin typeface="Calibri"/>
              </a:rPr>
              <a:t>Les préfectures du Finistère, Côtes-d'Armor, Morbihan, Manche ont :</a:t>
            </a:r>
          </a:p>
          <a:p>
            <a:pPr algn="l">
              <a:spcAft>
                <a:spcPts val="200"/>
              </a:spcAft>
            </a:pPr>
            <a:r>
              <a:rPr sz="1100" b="0">
                <a:solidFill>
                  <a:srgbClr val="1A1A1A"/>
                </a:solidFill>
                <a:latin typeface="Calibri"/>
              </a:rPr>
              <a:t>• </a:t>
            </a:r>
            <a:r>
              <a:rPr sz="1100" b="0" i="0">
                <a:solidFill>
                  <a:srgbClr val="1A1A1A"/>
                </a:solidFill>
                <a:latin typeface="Calibri"/>
              </a:rPr>
              <a:t>Pré-activé les COD (Centres opérationnels départementaux)</a:t>
            </a:r>
          </a:p>
          <a:p>
            <a:pPr algn="l">
              <a:spcAft>
                <a:spcPts val="200"/>
              </a:spcAft>
            </a:pPr>
            <a:r>
              <a:rPr sz="1100" b="0">
                <a:solidFill>
                  <a:srgbClr val="1A1A1A"/>
                </a:solidFill>
                <a:latin typeface="Calibri"/>
              </a:rPr>
              <a:t>• </a:t>
            </a:r>
            <a:r>
              <a:rPr sz="1100" b="0" i="0">
                <a:solidFill>
                  <a:srgbClr val="1A1A1A"/>
                </a:solidFill>
                <a:latin typeface="Calibri"/>
              </a:rPr>
              <a:t>Demandé aux maires de fermer parcs et chemins littoraux</a:t>
            </a:r>
          </a:p>
          <a:p>
            <a:pPr algn="l">
              <a:spcAft>
                <a:spcPts val="200"/>
              </a:spcAft>
            </a:pPr>
            <a:r>
              <a:rPr sz="1100" b="0">
                <a:solidFill>
                  <a:srgbClr val="1A1A1A"/>
                </a:solidFill>
                <a:latin typeface="Calibri"/>
              </a:rPr>
              <a:t>• </a:t>
            </a:r>
            <a:r>
              <a:rPr sz="1100" b="0" i="0">
                <a:solidFill>
                  <a:srgbClr val="1A1A1A"/>
                </a:solidFill>
                <a:latin typeface="Calibri"/>
              </a:rPr>
              <a:t>Vérifié l'activation des PCS et l'évacuation préventive des campings exposés</a:t>
            </a:r>
          </a:p>
          <a:p>
            <a:pPr algn="l">
              <a:spcAft>
                <a:spcPts val="1000"/>
              </a:spcAft>
            </a:pPr>
            <a:r>
              <a:rPr sz="1100" b="0">
                <a:solidFill>
                  <a:srgbClr val="1A1A1A"/>
                </a:solidFill>
                <a:latin typeface="Calibri"/>
              </a:rPr>
              <a:t>• </a:t>
            </a:r>
            <a:r>
              <a:rPr sz="1100" b="0" i="0">
                <a:solidFill>
                  <a:srgbClr val="1A1A1A"/>
                </a:solidFill>
                <a:latin typeface="Calibri"/>
              </a:rPr>
              <a:t>Restreint la circulation des poids lourds</a:t>
            </a:r>
          </a:p>
          <a:p>
            <a:pPr algn="l"/>
            <a:r>
              <a:rPr sz="1100" b="0" i="1">
                <a:solidFill>
                  <a:srgbClr val="1A1A1A"/>
                </a:solidFill>
                <a:latin typeface="Calibri"/>
              </a:rPr>
              <a:t>Bilan : record de vent à la Pointe du Raz (207 km/h), aucune victime liée à la submersion en France métropolitaine. La chaîne d'alerte a fonctionné.</a:t>
            </a:r>
          </a:p>
        </p:txBody>
      </p:sp>
      <p:sp>
        <p:nvSpPr>
          <p:cNvPr id="3" name="Espace réservé du numéro de diapositive 2">
            <a:extLst>
              <a:ext uri="{FF2B5EF4-FFF2-40B4-BE49-F238E27FC236}">
                <a16:creationId xmlns:a16="http://schemas.microsoft.com/office/drawing/2014/main" id="{86FF2F11-656D-4BC9-AEAD-02A547FF0DBA}"/>
              </a:ext>
            </a:extLst>
          </p:cNvPr>
          <p:cNvSpPr>
            <a:spLocks noGrp="1"/>
          </p:cNvSpPr>
          <p:nvPr>
            <p:ph type="sldNum" sz="quarter" idx="4"/>
          </p:nvPr>
        </p:nvSpPr>
        <p:spPr/>
        <p:txBody>
          <a:bodyPr/>
          <a:lstStyle/>
          <a:p>
            <a:fld id="{9981E6DC-ACA4-4CC4-B142-EC9DBA1C6CBA}" type="slidenum">
              <a:rPr lang="en-US" smtClean="0"/>
              <a:p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Pilier 3 — Informer et éduquer</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80060" y="1467103"/>
            <a:ext cx="11247120" cy="4106252"/>
          </a:xfrm>
          <a:prstGeom prst="rect">
            <a:avLst/>
          </a:prstGeom>
          <a:noFill/>
        </p:spPr>
        <p:txBody>
          <a:bodyPr wrap="square" lIns="0" tIns="0" rIns="0" bIns="0" anchor="t">
            <a:spAutoFit/>
          </a:bodyPr>
          <a:lstStyle/>
          <a:p>
            <a:pPr algn="l">
              <a:spcAft>
                <a:spcPts val="800"/>
              </a:spcAft>
            </a:pPr>
            <a:r>
              <a:rPr lang="fr-FR" sz="2000" b="1" i="0">
                <a:solidFill>
                  <a:srgbClr val="328088"/>
                </a:solidFill>
                <a:latin typeface="Calibri"/>
              </a:rPr>
              <a:t>Le droit à l'information est un droit fondamental</a:t>
            </a:r>
          </a:p>
          <a:p>
            <a:pPr algn="l">
              <a:spcAft>
                <a:spcPts val="1400"/>
              </a:spcAft>
            </a:pPr>
            <a:r>
              <a:rPr lang="fr-FR" sz="1600" b="0" i="1">
                <a:solidFill>
                  <a:srgbClr val="1A1A1A"/>
                </a:solidFill>
                <a:latin typeface="Calibri"/>
              </a:rPr>
              <a:t>Article L. 125-2 du code de l'environnement : droit à l'information des citoyens sur les risques majeurs et les mesures de sauvegarde qui les concernent.</a:t>
            </a:r>
          </a:p>
          <a:p>
            <a:pPr algn="l">
              <a:spcAft>
                <a:spcPts val="600"/>
              </a:spcAft>
            </a:pPr>
            <a:r>
              <a:rPr lang="fr-FR" b="1" i="0">
                <a:solidFill>
                  <a:srgbClr val="1A1A1A"/>
                </a:solidFill>
                <a:latin typeface="Calibri"/>
              </a:rPr>
              <a:t>Outils de l'information préventive :</a:t>
            </a:r>
          </a:p>
          <a:p>
            <a:pPr algn="l">
              <a:spcAft>
                <a:spcPts val="300"/>
              </a:spcAft>
            </a:pPr>
            <a:r>
              <a:rPr lang="fr-FR" sz="1600" b="0">
                <a:solidFill>
                  <a:srgbClr val="1A1A1A"/>
                </a:solidFill>
                <a:latin typeface="Calibri"/>
              </a:rPr>
              <a:t>• </a:t>
            </a:r>
            <a:r>
              <a:rPr lang="fr-FR" sz="1600" b="0" i="0">
                <a:solidFill>
                  <a:srgbClr val="1A1A1A"/>
                </a:solidFill>
                <a:latin typeface="Calibri"/>
              </a:rPr>
              <a:t>DDRM — Dossier départemental des risques majeurs (préfet)</a:t>
            </a:r>
          </a:p>
          <a:p>
            <a:pPr algn="l">
              <a:spcAft>
                <a:spcPts val="300"/>
              </a:spcAft>
            </a:pPr>
            <a:r>
              <a:rPr lang="fr-FR" sz="1600" b="0">
                <a:solidFill>
                  <a:srgbClr val="1A1A1A"/>
                </a:solidFill>
                <a:latin typeface="Calibri"/>
              </a:rPr>
              <a:t>• </a:t>
            </a:r>
            <a:r>
              <a:rPr lang="fr-FR" sz="1600" b="0" i="0">
                <a:solidFill>
                  <a:srgbClr val="1A1A1A"/>
                </a:solidFill>
                <a:latin typeface="Calibri"/>
              </a:rPr>
              <a:t>DICRIM — Document d'information communal sur les risques majeurs (maire)</a:t>
            </a:r>
          </a:p>
          <a:p>
            <a:pPr algn="l">
              <a:spcAft>
                <a:spcPts val="300"/>
              </a:spcAft>
            </a:pPr>
            <a:r>
              <a:rPr lang="fr-FR" sz="1600" b="0">
                <a:solidFill>
                  <a:srgbClr val="1A1A1A"/>
                </a:solidFill>
                <a:latin typeface="Calibri"/>
              </a:rPr>
              <a:t>• </a:t>
            </a:r>
            <a:r>
              <a:rPr lang="fr-FR" sz="1600" b="0" i="0">
                <a:solidFill>
                  <a:srgbClr val="1A1A1A"/>
                </a:solidFill>
                <a:latin typeface="Calibri"/>
              </a:rPr>
              <a:t>Repères de crue / repères de submersion (obligatoires en commune PPRi/PPRSM approuvé)</a:t>
            </a:r>
          </a:p>
          <a:p>
            <a:pPr algn="l">
              <a:spcAft>
                <a:spcPts val="300"/>
              </a:spcAft>
            </a:pPr>
            <a:r>
              <a:rPr lang="fr-FR" sz="1600" b="0">
                <a:solidFill>
                  <a:srgbClr val="1A1A1A"/>
                </a:solidFill>
                <a:latin typeface="Calibri"/>
              </a:rPr>
              <a:t>• </a:t>
            </a:r>
            <a:r>
              <a:rPr lang="fr-FR" sz="1600" b="0" i="0">
                <a:solidFill>
                  <a:srgbClr val="1A1A1A"/>
                </a:solidFill>
                <a:latin typeface="Calibri"/>
              </a:rPr>
              <a:t>Réunion publique tous les 2 ans en commune avec PPRN (R. 125-12 du CE)</a:t>
            </a:r>
          </a:p>
          <a:p>
            <a:pPr algn="l">
              <a:spcAft>
                <a:spcPts val="300"/>
              </a:spcAft>
            </a:pPr>
            <a:r>
              <a:rPr lang="fr-FR" sz="1600" b="0">
                <a:solidFill>
                  <a:srgbClr val="1A1A1A"/>
                </a:solidFill>
                <a:latin typeface="Calibri"/>
              </a:rPr>
              <a:t>• </a:t>
            </a:r>
            <a:r>
              <a:rPr lang="fr-FR" sz="1600" b="0" i="0">
                <a:solidFill>
                  <a:srgbClr val="1A1A1A"/>
                </a:solidFill>
                <a:latin typeface="Calibri"/>
              </a:rPr>
              <a:t>ERRIAL — État des risques réglementés pour l'information des acquéreurs et locataires (errial.georisques.gouv.fr)</a:t>
            </a:r>
          </a:p>
          <a:p>
            <a:pPr algn="l">
              <a:spcAft>
                <a:spcPts val="1400"/>
              </a:spcAft>
            </a:pPr>
            <a:r>
              <a:rPr lang="fr-FR" sz="1600" b="0">
                <a:solidFill>
                  <a:srgbClr val="1A1A1A"/>
                </a:solidFill>
                <a:latin typeface="Calibri"/>
              </a:rPr>
              <a:t>• </a:t>
            </a:r>
            <a:r>
              <a:rPr lang="fr-FR" sz="1600" b="0" i="0">
                <a:solidFill>
                  <a:srgbClr val="1A1A1A"/>
                </a:solidFill>
                <a:latin typeface="Calibri"/>
              </a:rPr>
              <a:t>Journée nationale de la résilience — 13 octobre (depuis 2022)</a:t>
            </a:r>
          </a:p>
          <a:p>
            <a:pPr algn="l">
              <a:spcAft>
                <a:spcPts val="400"/>
              </a:spcAft>
            </a:pPr>
            <a:r>
              <a:rPr lang="fr-FR" b="1" i="0">
                <a:solidFill>
                  <a:srgbClr val="E86E55"/>
                </a:solidFill>
                <a:latin typeface="Calibri"/>
              </a:rPr>
              <a:t>ATTENTION  ·  ne pas confondre information et culture du risque</a:t>
            </a:r>
          </a:p>
          <a:p>
            <a:pPr algn="l"/>
            <a:r>
              <a:rPr lang="fr-FR" sz="1600" b="0" i="1">
                <a:solidFill>
                  <a:srgbClr val="1A1A1A"/>
                </a:solidFill>
                <a:latin typeface="Calibri"/>
              </a:rPr>
              <a:t>Une plaquette transmise n'est pas une culture du risque. Celle-ci se construit dans la durée — par l'école, la mémoire des événements, les exercices, les retours d'expérience partagés.</a:t>
            </a:r>
          </a:p>
        </p:txBody>
      </p:sp>
      <p:sp>
        <p:nvSpPr>
          <p:cNvPr id="3" name="Espace réservé du numéro de diapositive 2">
            <a:extLst>
              <a:ext uri="{FF2B5EF4-FFF2-40B4-BE49-F238E27FC236}">
                <a16:creationId xmlns:a16="http://schemas.microsoft.com/office/drawing/2014/main" id="{848C188E-353E-4132-8174-DE7E0B694F0C}"/>
              </a:ext>
            </a:extLst>
          </p:cNvPr>
          <p:cNvSpPr>
            <a:spLocks noGrp="1"/>
          </p:cNvSpPr>
          <p:nvPr>
            <p:ph type="sldNum" sz="quarter" idx="4"/>
          </p:nvPr>
        </p:nvSpPr>
        <p:spPr/>
        <p:txBody>
          <a:bodyPr/>
          <a:lstStyle/>
          <a:p>
            <a:fld id="{9981E6DC-ACA4-4CC4-B142-EC9DBA1C6CBA}" type="slidenum">
              <a:rPr lang="en-US" smtClean="0"/>
              <a:pPr/>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Pilier 4 — Prendre en compte les risques dans l'aménagement</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80060" y="1607430"/>
            <a:ext cx="11247120" cy="3862596"/>
          </a:xfrm>
          <a:prstGeom prst="rect">
            <a:avLst/>
          </a:prstGeom>
          <a:noFill/>
        </p:spPr>
        <p:txBody>
          <a:bodyPr wrap="square" lIns="0" tIns="0" rIns="0" bIns="0" anchor="t">
            <a:spAutoFit/>
          </a:bodyPr>
          <a:lstStyle/>
          <a:p>
            <a:pPr algn="l">
              <a:spcAft>
                <a:spcPts val="400"/>
              </a:spcAft>
            </a:pPr>
            <a:r>
              <a:rPr lang="fr-FR" sz="2000" b="1" i="0">
                <a:solidFill>
                  <a:srgbClr val="328088"/>
                </a:solidFill>
                <a:latin typeface="Calibri"/>
              </a:rPr>
              <a:t>Objectif</a:t>
            </a:r>
          </a:p>
          <a:p>
            <a:pPr algn="l">
              <a:spcAft>
                <a:spcPts val="600"/>
              </a:spcAft>
            </a:pPr>
            <a:r>
              <a:rPr lang="fr-FR" b="0" i="0">
                <a:solidFill>
                  <a:srgbClr val="1A1A1A"/>
                </a:solidFill>
                <a:latin typeface="Calibri"/>
              </a:rPr>
              <a:t>Adapter l'aménagement pour réduire les dommages et faciliter le retour à la normale :</a:t>
            </a:r>
          </a:p>
          <a:p>
            <a:pPr algn="l">
              <a:spcAft>
                <a:spcPts val="300"/>
              </a:spcAft>
            </a:pPr>
            <a:r>
              <a:rPr lang="fr-FR" sz="1600" b="0">
                <a:solidFill>
                  <a:srgbClr val="1A1A1A"/>
                </a:solidFill>
                <a:latin typeface="Calibri"/>
              </a:rPr>
              <a:t>• </a:t>
            </a:r>
            <a:r>
              <a:rPr lang="fr-FR" sz="1600" b="0" i="0">
                <a:solidFill>
                  <a:srgbClr val="1A1A1A"/>
                </a:solidFill>
                <a:latin typeface="Calibri"/>
              </a:rPr>
              <a:t>Ne pas augmenter les enjeux dans les zones à risque (maîtrise de l'urbanisation)</a:t>
            </a:r>
          </a:p>
          <a:p>
            <a:pPr algn="l">
              <a:spcAft>
                <a:spcPts val="1400"/>
              </a:spcAft>
            </a:pPr>
            <a:r>
              <a:rPr lang="fr-FR" sz="1600" b="0">
                <a:solidFill>
                  <a:srgbClr val="1A1A1A"/>
                </a:solidFill>
                <a:latin typeface="Calibri"/>
              </a:rPr>
              <a:t>• </a:t>
            </a:r>
            <a:r>
              <a:rPr lang="fr-FR" sz="1600" b="0" i="0">
                <a:solidFill>
                  <a:srgbClr val="1A1A1A"/>
                </a:solidFill>
                <a:latin typeface="Calibri"/>
              </a:rPr>
              <a:t>Diminuer la vulnérabilité des zones déjà urbanisées (réhabilitation, recomposition…)</a:t>
            </a:r>
          </a:p>
          <a:p>
            <a:pPr algn="l">
              <a:spcAft>
                <a:spcPts val="400"/>
              </a:spcAft>
            </a:pPr>
            <a:r>
              <a:rPr lang="fr-FR" sz="2000" b="1" i="0">
                <a:solidFill>
                  <a:srgbClr val="328088"/>
                </a:solidFill>
                <a:latin typeface="Calibri"/>
              </a:rPr>
              <a:t>Outils mobilisables</a:t>
            </a:r>
          </a:p>
          <a:p>
            <a:pPr algn="l">
              <a:spcAft>
                <a:spcPts val="300"/>
              </a:spcAft>
            </a:pPr>
            <a:r>
              <a:rPr lang="fr-FR" sz="1600" b="0">
                <a:solidFill>
                  <a:srgbClr val="1A1A1A"/>
                </a:solidFill>
                <a:latin typeface="Calibri"/>
              </a:rPr>
              <a:t>• </a:t>
            </a:r>
            <a:r>
              <a:rPr lang="fr-FR" sz="1600" b="0" i="0">
                <a:solidFill>
                  <a:srgbClr val="1A1A1A"/>
                </a:solidFill>
                <a:latin typeface="Calibri"/>
              </a:rPr>
              <a:t>Réglementaires : PPRN  ·  PPRSM (Plan de Prévention des Risques Submersion Marine, ≈ 472 plans annexés au PLU comme servitude d'utilité publique)  ·  PPRi (décret 2019)</a:t>
            </a:r>
          </a:p>
          <a:p>
            <a:pPr algn="l">
              <a:spcAft>
                <a:spcPts val="300"/>
              </a:spcAft>
            </a:pPr>
            <a:r>
              <a:rPr lang="fr-FR" sz="1600" b="0">
                <a:solidFill>
                  <a:srgbClr val="1A1A1A"/>
                </a:solidFill>
                <a:latin typeface="Calibri"/>
              </a:rPr>
              <a:t>• </a:t>
            </a:r>
            <a:r>
              <a:rPr lang="fr-FR" sz="1600" b="0" i="0">
                <a:solidFill>
                  <a:srgbClr val="1A1A1A"/>
                </a:solidFill>
                <a:latin typeface="Calibri"/>
              </a:rPr>
              <a:t>Planification : PGRI (Plan de Gestion des Risques d'Inondation)  ·  SCoT  ·  PLU(i)  ·  SRADDET</a:t>
            </a:r>
          </a:p>
          <a:p>
            <a:pPr algn="l">
              <a:spcAft>
                <a:spcPts val="300"/>
              </a:spcAft>
            </a:pPr>
            <a:r>
              <a:rPr lang="fr-FR" sz="1600" b="0">
                <a:solidFill>
                  <a:srgbClr val="1A1A1A"/>
                </a:solidFill>
                <a:latin typeface="Calibri"/>
              </a:rPr>
              <a:t>• </a:t>
            </a:r>
            <a:r>
              <a:rPr lang="fr-FR" sz="1600" b="0" i="0">
                <a:solidFill>
                  <a:srgbClr val="1A1A1A"/>
                </a:solidFill>
                <a:latin typeface="Calibri"/>
              </a:rPr>
              <a:t>Stratégiques : SNGRI  ·  Stratégie nationale de gestion intégrée du trait de côte (2017, actualisée 2023)</a:t>
            </a:r>
          </a:p>
          <a:p>
            <a:pPr algn="l">
              <a:spcAft>
                <a:spcPts val="1400"/>
              </a:spcAft>
            </a:pPr>
            <a:r>
              <a:rPr lang="fr-FR" sz="1600" b="0">
                <a:solidFill>
                  <a:srgbClr val="1A1A1A"/>
                </a:solidFill>
                <a:latin typeface="Calibri"/>
              </a:rPr>
              <a:t>• </a:t>
            </a:r>
            <a:r>
              <a:rPr lang="fr-FR" sz="1600" b="0" i="0">
                <a:solidFill>
                  <a:srgbClr val="1A1A1A"/>
                </a:solidFill>
                <a:latin typeface="Calibri"/>
              </a:rPr>
              <a:t>Compétences : Gemapi (depuis 2018)  ·  Loi Climat et Résilience (2021) sur l'érosion côtière (article 248)</a:t>
            </a:r>
          </a:p>
          <a:p>
            <a:pPr algn="l"/>
            <a:r>
              <a:rPr lang="fr-FR" b="1" i="1">
                <a:solidFill>
                  <a:srgbClr val="E86E55"/>
                </a:solidFill>
                <a:latin typeface="Calibri"/>
              </a:rPr>
              <a:t>→  Vers une synergie des politiques publiques  : prévention, aménagement, gestion équilibrée de l'eau et des milieux aquatiques, gestion intégrée de la bande côtière.</a:t>
            </a:r>
          </a:p>
        </p:txBody>
      </p:sp>
      <p:sp>
        <p:nvSpPr>
          <p:cNvPr id="3" name="Espace réservé du numéro de diapositive 2">
            <a:extLst>
              <a:ext uri="{FF2B5EF4-FFF2-40B4-BE49-F238E27FC236}">
                <a16:creationId xmlns:a16="http://schemas.microsoft.com/office/drawing/2014/main" id="{AF40347A-AA50-4FBA-ABFF-FBBEB8241082}"/>
              </a:ext>
            </a:extLst>
          </p:cNvPr>
          <p:cNvSpPr>
            <a:spLocks noGrp="1"/>
          </p:cNvSpPr>
          <p:nvPr>
            <p:ph type="sldNum" sz="quarter" idx="4"/>
          </p:nvPr>
        </p:nvSpPr>
        <p:spPr/>
        <p:txBody>
          <a:bodyPr/>
          <a:lstStyle/>
          <a:p>
            <a:fld id="{9981E6DC-ACA4-4CC4-B142-EC9DBA1C6CBA}" type="slidenum">
              <a:rPr lang="en-US" smtClean="0"/>
              <a:pPr/>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Pilier 5 — Réduire le risque (mitigation)</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1431573"/>
            <a:ext cx="5943600" cy="4406334"/>
          </a:xfrm>
          <a:prstGeom prst="rect">
            <a:avLst/>
          </a:prstGeom>
          <a:noFill/>
        </p:spPr>
        <p:txBody>
          <a:bodyPr wrap="square" lIns="0" tIns="0" rIns="0" bIns="0" anchor="t">
            <a:spAutoFit/>
          </a:bodyPr>
          <a:lstStyle/>
          <a:p>
            <a:pPr algn="l">
              <a:spcAft>
                <a:spcPts val="1400"/>
              </a:spcAft>
            </a:pPr>
            <a:r>
              <a:rPr lang="fr-FR" b="0" i="0">
                <a:solidFill>
                  <a:srgbClr val="1A1A1A"/>
                </a:solidFill>
                <a:latin typeface="Calibri"/>
              </a:rPr>
              <a:t>Objectif : atténuer les dommages humains, économiques, sociaux en agissant sur les deux leviers à la fois.</a:t>
            </a:r>
          </a:p>
          <a:p>
            <a:pPr algn="l">
              <a:spcAft>
                <a:spcPts val="400"/>
              </a:spcAft>
            </a:pPr>
            <a:r>
              <a:rPr lang="fr-FR" b="1" i="0">
                <a:solidFill>
                  <a:srgbClr val="328088"/>
                </a:solidFill>
                <a:latin typeface="Calibri"/>
              </a:rPr>
              <a:t>Levier 1  ·  Réduire l'aléa</a:t>
            </a:r>
          </a:p>
          <a:p>
            <a:pPr algn="l">
              <a:spcAft>
                <a:spcPts val="200"/>
              </a:spcAft>
            </a:pPr>
            <a:r>
              <a:rPr lang="fr-FR" sz="1600" b="0">
                <a:solidFill>
                  <a:srgbClr val="1A1A1A"/>
                </a:solidFill>
                <a:latin typeface="Calibri"/>
              </a:rPr>
              <a:t>• </a:t>
            </a:r>
            <a:r>
              <a:rPr lang="fr-FR" sz="1600" b="0" i="0">
                <a:solidFill>
                  <a:srgbClr val="1A1A1A"/>
                </a:solidFill>
                <a:latin typeface="Calibri"/>
              </a:rPr>
              <a:t>Travaux et ouvrages : digues, épis, brise-lames, recharge sédimentaire, dunes restaurées</a:t>
            </a:r>
          </a:p>
          <a:p>
            <a:pPr algn="l">
              <a:spcAft>
                <a:spcPts val="200"/>
              </a:spcAft>
            </a:pPr>
            <a:r>
              <a:rPr lang="fr-FR" sz="1600" b="0">
                <a:solidFill>
                  <a:srgbClr val="1A1A1A"/>
                </a:solidFill>
                <a:latin typeface="Calibri"/>
              </a:rPr>
              <a:t>• </a:t>
            </a:r>
            <a:r>
              <a:rPr lang="fr-FR" sz="1600" b="0" i="0">
                <a:solidFill>
                  <a:srgbClr val="1A1A1A"/>
                </a:solidFill>
                <a:latin typeface="Calibri"/>
              </a:rPr>
              <a:t>Solutions fondées sur la nature : marais, mangroves, herbiers de zostères</a:t>
            </a:r>
          </a:p>
          <a:p>
            <a:pPr algn="l">
              <a:spcAft>
                <a:spcPts val="1400"/>
              </a:spcAft>
            </a:pPr>
            <a:r>
              <a:rPr lang="fr-FR" sz="1600" b="0">
                <a:solidFill>
                  <a:srgbClr val="1A1A1A"/>
                </a:solidFill>
                <a:latin typeface="Calibri"/>
              </a:rPr>
              <a:t>• </a:t>
            </a:r>
            <a:r>
              <a:rPr lang="fr-FR" sz="1600" b="0" i="0">
                <a:solidFill>
                  <a:srgbClr val="1A1A1A"/>
                </a:solidFill>
                <a:latin typeface="Calibri"/>
              </a:rPr>
              <a:t>Espaces de mobilité du trait de côte (recul stratégique)</a:t>
            </a:r>
          </a:p>
          <a:p>
            <a:pPr algn="l">
              <a:spcAft>
                <a:spcPts val="400"/>
              </a:spcAft>
            </a:pPr>
            <a:r>
              <a:rPr lang="fr-FR" b="1" i="0">
                <a:solidFill>
                  <a:srgbClr val="328088"/>
                </a:solidFill>
                <a:latin typeface="Calibri"/>
              </a:rPr>
              <a:t>Levier 2  ·  Réduire la vulnérabilité des enjeux</a:t>
            </a:r>
          </a:p>
          <a:p>
            <a:pPr algn="l">
              <a:spcAft>
                <a:spcPts val="200"/>
              </a:spcAft>
            </a:pPr>
            <a:r>
              <a:rPr lang="fr-FR" sz="1600" b="0">
                <a:solidFill>
                  <a:srgbClr val="1A1A1A"/>
                </a:solidFill>
                <a:latin typeface="Calibri"/>
              </a:rPr>
              <a:t>• </a:t>
            </a:r>
            <a:r>
              <a:rPr lang="fr-FR" sz="1600" b="0" i="0">
                <a:solidFill>
                  <a:srgbClr val="1A1A1A"/>
                </a:solidFill>
                <a:latin typeface="Calibri"/>
              </a:rPr>
              <a:t>Diagnostics de vulnérabilité du bâti (porte étanche, batardeau, plancher rehaussé…)</a:t>
            </a:r>
          </a:p>
          <a:p>
            <a:pPr algn="l">
              <a:spcAft>
                <a:spcPts val="200"/>
              </a:spcAft>
            </a:pPr>
            <a:r>
              <a:rPr lang="fr-FR" sz="1600" b="0">
                <a:solidFill>
                  <a:srgbClr val="1A1A1A"/>
                </a:solidFill>
                <a:latin typeface="Calibri"/>
              </a:rPr>
              <a:t>• </a:t>
            </a:r>
            <a:r>
              <a:rPr lang="fr-FR" sz="1600" b="0" i="0">
                <a:solidFill>
                  <a:srgbClr val="1A1A1A"/>
                </a:solidFill>
                <a:latin typeface="Calibri"/>
              </a:rPr>
              <a:t>Prescriptions pour les constructions nouvelles dans les PPR</a:t>
            </a:r>
          </a:p>
          <a:p>
            <a:pPr algn="l">
              <a:spcAft>
                <a:spcPts val="200"/>
              </a:spcAft>
            </a:pPr>
            <a:r>
              <a:rPr lang="fr-FR" sz="1600" b="0">
                <a:solidFill>
                  <a:srgbClr val="1A1A1A"/>
                </a:solidFill>
                <a:latin typeface="Calibri"/>
              </a:rPr>
              <a:t>• </a:t>
            </a:r>
            <a:r>
              <a:rPr lang="fr-FR" sz="1600" b="0" i="0">
                <a:solidFill>
                  <a:srgbClr val="1A1A1A"/>
                </a:solidFill>
                <a:latin typeface="Calibri"/>
              </a:rPr>
              <a:t>Acquisitions foncières (fonds Barnier) : expropriation ou acquisition amiable</a:t>
            </a:r>
          </a:p>
          <a:p>
            <a:pPr algn="l"/>
            <a:r>
              <a:rPr lang="fr-FR" sz="1600" b="0">
                <a:solidFill>
                  <a:srgbClr val="1A1A1A"/>
                </a:solidFill>
                <a:latin typeface="Calibri"/>
              </a:rPr>
              <a:t>• </a:t>
            </a:r>
            <a:r>
              <a:rPr lang="fr-FR" sz="1600" b="0" i="0">
                <a:solidFill>
                  <a:srgbClr val="1A1A1A"/>
                </a:solidFill>
                <a:latin typeface="Calibri"/>
              </a:rPr>
              <a:t>Dispositifs PPRI / PAPI</a:t>
            </a:r>
          </a:p>
        </p:txBody>
      </p:sp>
      <p:sp>
        <p:nvSpPr>
          <p:cNvPr id="12" name="Rectangle 11"/>
          <p:cNvSpPr/>
          <p:nvPr/>
        </p:nvSpPr>
        <p:spPr>
          <a:xfrm>
            <a:off x="6675120" y="1188720"/>
            <a:ext cx="5120640" cy="502920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3" name="TextBox 12"/>
          <p:cNvSpPr txBox="1"/>
          <p:nvPr/>
        </p:nvSpPr>
        <p:spPr>
          <a:xfrm>
            <a:off x="6858000" y="1325880"/>
            <a:ext cx="4846320" cy="3634328"/>
          </a:xfrm>
          <a:prstGeom prst="rect">
            <a:avLst/>
          </a:prstGeom>
          <a:noFill/>
        </p:spPr>
        <p:txBody>
          <a:bodyPr wrap="square" lIns="0" tIns="0" rIns="0" bIns="0" anchor="t">
            <a:spAutoFit/>
          </a:bodyPr>
          <a:lstStyle/>
          <a:p>
            <a:pPr algn="l">
              <a:spcAft>
                <a:spcPts val="400"/>
              </a:spcAft>
            </a:pPr>
            <a:r>
              <a:rPr lang="fr-FR" sz="1600" b="1" i="0" dirty="0">
                <a:solidFill>
                  <a:srgbClr val="328088"/>
                </a:solidFill>
                <a:latin typeface="Calibri"/>
              </a:rPr>
              <a:t>PROJET ADAPTO  ·  Marais de Brouage</a:t>
            </a:r>
          </a:p>
          <a:p>
            <a:pPr algn="l">
              <a:spcAft>
                <a:spcPts val="1400"/>
              </a:spcAft>
            </a:pPr>
            <a:r>
              <a:rPr lang="fr-FR" sz="1400" b="0" i="1" dirty="0">
                <a:solidFill>
                  <a:srgbClr val="404040"/>
                </a:solidFill>
                <a:latin typeface="Calibri"/>
              </a:rPr>
              <a:t>Charente-Maritime — Conservatoire du littoral / LIFE</a:t>
            </a:r>
          </a:p>
          <a:p>
            <a:pPr algn="l">
              <a:spcAft>
                <a:spcPts val="800"/>
              </a:spcAft>
            </a:pPr>
            <a:r>
              <a:rPr lang="fr-FR" sz="1600" b="0" i="0" dirty="0">
                <a:solidFill>
                  <a:srgbClr val="1A1A1A"/>
                </a:solidFill>
                <a:latin typeface="Calibri"/>
              </a:rPr>
              <a:t>Depuis 2018, la mer entre dans le site dès un coefficient de marée de 80. La brèche dans la digue de premier rang atteint aujourd'hui une centaine de mètres de large.</a:t>
            </a:r>
          </a:p>
          <a:p>
            <a:pPr algn="l">
              <a:spcAft>
                <a:spcPts val="800"/>
              </a:spcAft>
            </a:pPr>
            <a:r>
              <a:rPr lang="fr-FR" sz="1600" b="0" i="0" dirty="0">
                <a:solidFill>
                  <a:srgbClr val="1A1A1A"/>
                </a:solidFill>
                <a:latin typeface="Calibri"/>
              </a:rPr>
              <a:t>Plutôt que de reconstruire la digue, le Conservatoire du littoral a fait le choix d'accompagner la dépoldérisation et de restaurer la fonctionnalité du marais.</a:t>
            </a:r>
          </a:p>
          <a:p>
            <a:pPr algn="l">
              <a:spcAft>
                <a:spcPts val="400"/>
              </a:spcAft>
            </a:pPr>
            <a:r>
              <a:rPr lang="fr-FR" sz="1600" b="1" i="0" dirty="0">
                <a:solidFill>
                  <a:srgbClr val="1A1A1A"/>
                </a:solidFill>
                <a:latin typeface="Calibri"/>
              </a:rPr>
              <a:t>Bénéfices :</a:t>
            </a:r>
          </a:p>
          <a:p>
            <a:pPr algn="l">
              <a:spcAft>
                <a:spcPts val="200"/>
              </a:spcAft>
            </a:pPr>
            <a:r>
              <a:rPr lang="fr-FR" sz="1400" b="0" dirty="0">
                <a:solidFill>
                  <a:srgbClr val="1A1A1A"/>
                </a:solidFill>
                <a:latin typeface="Calibri"/>
              </a:rPr>
              <a:t>• </a:t>
            </a:r>
            <a:r>
              <a:rPr lang="fr-FR" sz="1400" b="0" i="0" dirty="0">
                <a:solidFill>
                  <a:srgbClr val="1A1A1A"/>
                </a:solidFill>
                <a:latin typeface="Calibri"/>
              </a:rPr>
              <a:t>Réduction de l'aléa (effet tampon du marais)</a:t>
            </a:r>
          </a:p>
          <a:p>
            <a:pPr algn="l">
              <a:spcAft>
                <a:spcPts val="200"/>
              </a:spcAft>
            </a:pPr>
            <a:r>
              <a:rPr lang="fr-FR" sz="1400" b="0" dirty="0">
                <a:solidFill>
                  <a:srgbClr val="1A1A1A"/>
                </a:solidFill>
                <a:latin typeface="Calibri"/>
              </a:rPr>
              <a:t>• </a:t>
            </a:r>
            <a:r>
              <a:rPr lang="fr-FR" sz="1400" b="0" i="0" dirty="0">
                <a:solidFill>
                  <a:srgbClr val="1A1A1A"/>
                </a:solidFill>
                <a:latin typeface="Calibri"/>
              </a:rPr>
              <a:t>Restauration biodiversité, qualité de l'eau</a:t>
            </a:r>
          </a:p>
          <a:p>
            <a:pPr algn="l">
              <a:spcAft>
                <a:spcPts val="800"/>
              </a:spcAft>
            </a:pPr>
            <a:r>
              <a:rPr lang="fr-FR" sz="1400" b="0" dirty="0">
                <a:solidFill>
                  <a:srgbClr val="1A1A1A"/>
                </a:solidFill>
                <a:latin typeface="Calibri"/>
              </a:rPr>
              <a:t>• </a:t>
            </a:r>
            <a:r>
              <a:rPr lang="fr-FR" sz="1400" b="0" i="0" dirty="0">
                <a:solidFill>
                  <a:srgbClr val="1A1A1A"/>
                </a:solidFill>
                <a:latin typeface="Calibri"/>
              </a:rPr>
              <a:t>Coût d'entretien évité</a:t>
            </a:r>
          </a:p>
          <a:p>
            <a:pPr algn="l"/>
            <a:r>
              <a:rPr lang="fr-FR" sz="1100" b="0" i="1" dirty="0">
                <a:solidFill>
                  <a:srgbClr val="404040"/>
                </a:solidFill>
                <a:latin typeface="Calibri"/>
              </a:rPr>
              <a:t>Source : www.lifeadapto.eu</a:t>
            </a:r>
          </a:p>
        </p:txBody>
      </p:sp>
      <p:sp>
        <p:nvSpPr>
          <p:cNvPr id="3" name="Espace réservé du numéro de diapositive 2">
            <a:extLst>
              <a:ext uri="{FF2B5EF4-FFF2-40B4-BE49-F238E27FC236}">
                <a16:creationId xmlns:a16="http://schemas.microsoft.com/office/drawing/2014/main" id="{44B934A8-8578-4D64-B5FA-2929BC9AE619}"/>
              </a:ext>
            </a:extLst>
          </p:cNvPr>
          <p:cNvSpPr>
            <a:spLocks noGrp="1"/>
          </p:cNvSpPr>
          <p:nvPr>
            <p:ph type="sldNum" sz="quarter" idx="4"/>
          </p:nvPr>
        </p:nvSpPr>
        <p:spPr/>
        <p:txBody>
          <a:bodyPr/>
          <a:lstStyle/>
          <a:p>
            <a:fld id="{9981E6DC-ACA4-4CC4-B142-EC9DBA1C6CBA}" type="slidenum">
              <a:rPr lang="en-US" smtClean="0"/>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14600" y="201168"/>
            <a:ext cx="9509760" cy="713232"/>
          </a:xfrm>
          <a:prstGeom prst="rect">
            <a:avLst/>
          </a:prstGeom>
          <a:noFill/>
        </p:spPr>
        <p:txBody>
          <a:bodyPr wrap="square" lIns="0" tIns="0" rIns="0" bIns="0" anchor="ctr">
            <a:spAutoFit/>
          </a:bodyPr>
          <a:lstStyle/>
          <a:p>
            <a:pPr algn="l"/>
            <a:r>
              <a:rPr sz="2600" b="1" i="0">
                <a:solidFill>
                  <a:srgbClr val="1A1A1A"/>
                </a:solidFill>
                <a:latin typeface="Calibri"/>
              </a:rPr>
              <a:t>Pilier 6 — Préparer et gérer la crise</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1188720"/>
            <a:ext cx="11247120" cy="457200"/>
          </a:xfrm>
          <a:prstGeom prst="rect">
            <a:avLst/>
          </a:prstGeom>
          <a:noFill/>
        </p:spPr>
        <p:txBody>
          <a:bodyPr wrap="square" lIns="0" tIns="0" rIns="0" bIns="0" anchor="t">
            <a:spAutoFit/>
          </a:bodyPr>
          <a:lstStyle/>
          <a:p>
            <a:pPr algn="l"/>
            <a:r>
              <a:rPr sz="1400" b="0" i="1">
                <a:solidFill>
                  <a:srgbClr val="404040"/>
                </a:solidFill>
                <a:latin typeface="Calibri"/>
              </a:rPr>
              <a:t>Les pouvoirs publics doivent organiser les moyens de secours pour faire face aux futures crises.</a:t>
            </a:r>
          </a:p>
        </p:txBody>
      </p:sp>
      <p:sp>
        <p:nvSpPr>
          <p:cNvPr id="12" name="TextBox 11"/>
          <p:cNvSpPr txBox="1"/>
          <p:nvPr/>
        </p:nvSpPr>
        <p:spPr>
          <a:xfrm>
            <a:off x="457200" y="1600200"/>
            <a:ext cx="11247120" cy="457200"/>
          </a:xfrm>
          <a:prstGeom prst="rect">
            <a:avLst/>
          </a:prstGeom>
          <a:noFill/>
        </p:spPr>
        <p:txBody>
          <a:bodyPr wrap="square" lIns="0" tIns="0" rIns="0" bIns="0" anchor="t">
            <a:spAutoFit/>
          </a:bodyPr>
          <a:lstStyle/>
          <a:p>
            <a:pPr algn="l"/>
            <a:r>
              <a:rPr sz="1400" b="1" i="0">
                <a:solidFill>
                  <a:srgbClr val="1A1A1A"/>
                </a:solidFill>
                <a:latin typeface="Calibri"/>
              </a:rPr>
              <a:t>→ nécessite un partage équilibré des compétences entre l'État et les collectivités.</a:t>
            </a:r>
          </a:p>
        </p:txBody>
      </p:sp>
      <p:sp>
        <p:nvSpPr>
          <p:cNvPr id="13" name="TextBox 12"/>
          <p:cNvSpPr txBox="1"/>
          <p:nvPr/>
        </p:nvSpPr>
        <p:spPr>
          <a:xfrm>
            <a:off x="457200" y="2194560"/>
            <a:ext cx="11247120" cy="365760"/>
          </a:xfrm>
          <a:prstGeom prst="rect">
            <a:avLst/>
          </a:prstGeom>
          <a:noFill/>
        </p:spPr>
        <p:txBody>
          <a:bodyPr wrap="square" lIns="0" tIns="0" rIns="0" bIns="0" anchor="t">
            <a:spAutoFit/>
          </a:bodyPr>
          <a:lstStyle/>
          <a:p>
            <a:pPr algn="l"/>
            <a:r>
              <a:rPr sz="1600" b="1" i="0">
                <a:solidFill>
                  <a:srgbClr val="328088"/>
                </a:solidFill>
                <a:latin typeface="Calibri"/>
              </a:rPr>
              <a:t>Dispositifs</a:t>
            </a:r>
          </a:p>
        </p:txBody>
      </p:sp>
      <p:sp>
        <p:nvSpPr>
          <p:cNvPr id="14" name="Rectangle 13"/>
          <p:cNvSpPr/>
          <p:nvPr/>
        </p:nvSpPr>
        <p:spPr>
          <a:xfrm>
            <a:off x="457200" y="2606040"/>
            <a:ext cx="2103120" cy="868680"/>
          </a:xfrm>
          <a:prstGeom prst="rect">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2606040"/>
            <a:ext cx="2103120" cy="868680"/>
          </a:xfrm>
          <a:prstGeom prst="rect">
            <a:avLst/>
          </a:prstGeom>
          <a:noFill/>
        </p:spPr>
        <p:txBody>
          <a:bodyPr wrap="square" lIns="0" tIns="0" rIns="0" bIns="0" anchor="ctr">
            <a:spAutoFit/>
          </a:bodyPr>
          <a:lstStyle/>
          <a:p>
            <a:pPr algn="ctr"/>
            <a:r>
              <a:rPr sz="1300" b="1" i="0">
                <a:solidFill>
                  <a:srgbClr val="FFFFFF"/>
                </a:solidFill>
                <a:latin typeface="Calibri"/>
              </a:rPr>
              <a:t>ORSEC</a:t>
            </a:r>
          </a:p>
        </p:txBody>
      </p:sp>
      <p:sp>
        <p:nvSpPr>
          <p:cNvPr id="16" name="TextBox 15"/>
          <p:cNvSpPr txBox="1"/>
          <p:nvPr/>
        </p:nvSpPr>
        <p:spPr>
          <a:xfrm>
            <a:off x="2697480" y="2606040"/>
            <a:ext cx="2103120" cy="868680"/>
          </a:xfrm>
          <a:prstGeom prst="rect">
            <a:avLst/>
          </a:prstGeom>
          <a:noFill/>
        </p:spPr>
        <p:txBody>
          <a:bodyPr wrap="square" lIns="0" tIns="0" rIns="0" bIns="0" anchor="ctr">
            <a:spAutoFit/>
          </a:bodyPr>
          <a:lstStyle/>
          <a:p>
            <a:pPr algn="l"/>
            <a:r>
              <a:rPr sz="1100" b="1" i="1">
                <a:solidFill>
                  <a:srgbClr val="328088"/>
                </a:solidFill>
                <a:latin typeface="Calibri"/>
              </a:rPr>
              <a:t>Préfet</a:t>
            </a:r>
          </a:p>
        </p:txBody>
      </p:sp>
      <p:sp>
        <p:nvSpPr>
          <p:cNvPr id="17" name="TextBox 16"/>
          <p:cNvSpPr txBox="1"/>
          <p:nvPr/>
        </p:nvSpPr>
        <p:spPr>
          <a:xfrm>
            <a:off x="4937760" y="2606040"/>
            <a:ext cx="6858000" cy="868680"/>
          </a:xfrm>
          <a:prstGeom prst="rect">
            <a:avLst/>
          </a:prstGeom>
          <a:noFill/>
        </p:spPr>
        <p:txBody>
          <a:bodyPr wrap="square" lIns="0" tIns="0" rIns="0" bIns="0" anchor="ctr">
            <a:spAutoFit/>
          </a:bodyPr>
          <a:lstStyle/>
          <a:p>
            <a:pPr algn="l"/>
            <a:r>
              <a:rPr sz="1100" b="0" i="0">
                <a:solidFill>
                  <a:srgbClr val="1A1A1A"/>
                </a:solidFill>
                <a:latin typeface="Calibri"/>
              </a:rPr>
              <a:t>Échelon départemental ou zonal selon l'ampleur. Coordination des secours (SP, SAMU, forces de l'ordre…) et des moyens publics et privés.</a:t>
            </a:r>
          </a:p>
        </p:txBody>
      </p:sp>
      <p:sp>
        <p:nvSpPr>
          <p:cNvPr id="18" name="Rectangle 17"/>
          <p:cNvSpPr/>
          <p:nvPr/>
        </p:nvSpPr>
        <p:spPr>
          <a:xfrm>
            <a:off x="457200" y="3520440"/>
            <a:ext cx="2103120" cy="868680"/>
          </a:xfrm>
          <a:prstGeom prst="rect">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3520440"/>
            <a:ext cx="2103120" cy="868680"/>
          </a:xfrm>
          <a:prstGeom prst="rect">
            <a:avLst/>
          </a:prstGeom>
          <a:noFill/>
        </p:spPr>
        <p:txBody>
          <a:bodyPr wrap="square" lIns="0" tIns="0" rIns="0" bIns="0" anchor="ctr">
            <a:spAutoFit/>
          </a:bodyPr>
          <a:lstStyle/>
          <a:p>
            <a:pPr algn="ctr"/>
            <a:r>
              <a:rPr sz="1300" b="1" i="0">
                <a:solidFill>
                  <a:srgbClr val="FFFFFF"/>
                </a:solidFill>
                <a:latin typeface="Calibri"/>
              </a:rPr>
              <a:t>PCS / PICS</a:t>
            </a:r>
          </a:p>
        </p:txBody>
      </p:sp>
      <p:sp>
        <p:nvSpPr>
          <p:cNvPr id="20" name="TextBox 19"/>
          <p:cNvSpPr txBox="1"/>
          <p:nvPr/>
        </p:nvSpPr>
        <p:spPr>
          <a:xfrm>
            <a:off x="2697480" y="3520440"/>
            <a:ext cx="2103120" cy="868680"/>
          </a:xfrm>
          <a:prstGeom prst="rect">
            <a:avLst/>
          </a:prstGeom>
          <a:noFill/>
        </p:spPr>
        <p:txBody>
          <a:bodyPr wrap="square" lIns="0" tIns="0" rIns="0" bIns="0" anchor="ctr">
            <a:spAutoFit/>
          </a:bodyPr>
          <a:lstStyle/>
          <a:p>
            <a:pPr algn="l"/>
            <a:r>
              <a:rPr sz="1100" b="1" i="1">
                <a:solidFill>
                  <a:srgbClr val="328088"/>
                </a:solidFill>
                <a:latin typeface="Calibri"/>
              </a:rPr>
              <a:t>Maire / EPCI</a:t>
            </a:r>
          </a:p>
        </p:txBody>
      </p:sp>
      <p:sp>
        <p:nvSpPr>
          <p:cNvPr id="21" name="TextBox 20"/>
          <p:cNvSpPr txBox="1"/>
          <p:nvPr/>
        </p:nvSpPr>
        <p:spPr>
          <a:xfrm>
            <a:off x="4937760" y="3520440"/>
            <a:ext cx="6858000" cy="868680"/>
          </a:xfrm>
          <a:prstGeom prst="rect">
            <a:avLst/>
          </a:prstGeom>
          <a:noFill/>
        </p:spPr>
        <p:txBody>
          <a:bodyPr wrap="square" lIns="0" tIns="0" rIns="0" bIns="0" anchor="ctr">
            <a:spAutoFit/>
          </a:bodyPr>
          <a:lstStyle/>
          <a:p>
            <a:pPr algn="l"/>
            <a:r>
              <a:rPr sz="1100" b="0" i="0">
                <a:solidFill>
                  <a:srgbClr val="1A1A1A"/>
                </a:solidFill>
                <a:latin typeface="Calibri"/>
              </a:rPr>
              <a:t>Plan Communal (ou Intercommunal) de Sauvegarde. Recensement des risques et moyens, sauvegarde, alerte, accompagnement, retour à la normale. Obligatoire si PPR approuvé.</a:t>
            </a:r>
          </a:p>
        </p:txBody>
      </p:sp>
      <p:sp>
        <p:nvSpPr>
          <p:cNvPr id="22" name="Rectangle 21"/>
          <p:cNvSpPr/>
          <p:nvPr/>
        </p:nvSpPr>
        <p:spPr>
          <a:xfrm>
            <a:off x="457200" y="4434840"/>
            <a:ext cx="2103120" cy="868680"/>
          </a:xfrm>
          <a:prstGeom prst="rect">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434840"/>
            <a:ext cx="2103120" cy="868680"/>
          </a:xfrm>
          <a:prstGeom prst="rect">
            <a:avLst/>
          </a:prstGeom>
          <a:noFill/>
        </p:spPr>
        <p:txBody>
          <a:bodyPr wrap="square" lIns="0" tIns="0" rIns="0" bIns="0" anchor="ctr">
            <a:spAutoFit/>
          </a:bodyPr>
          <a:lstStyle/>
          <a:p>
            <a:pPr algn="ctr"/>
            <a:r>
              <a:rPr sz="1300" b="1" i="0">
                <a:solidFill>
                  <a:srgbClr val="FFFFFF"/>
                </a:solidFill>
                <a:latin typeface="Calibri"/>
              </a:rPr>
              <a:t>PPMS</a:t>
            </a:r>
          </a:p>
        </p:txBody>
      </p:sp>
      <p:sp>
        <p:nvSpPr>
          <p:cNvPr id="24" name="TextBox 23"/>
          <p:cNvSpPr txBox="1"/>
          <p:nvPr/>
        </p:nvSpPr>
        <p:spPr>
          <a:xfrm>
            <a:off x="2697480" y="4434840"/>
            <a:ext cx="2103120" cy="868680"/>
          </a:xfrm>
          <a:prstGeom prst="rect">
            <a:avLst/>
          </a:prstGeom>
          <a:noFill/>
        </p:spPr>
        <p:txBody>
          <a:bodyPr wrap="square" lIns="0" tIns="0" rIns="0" bIns="0" anchor="ctr">
            <a:spAutoFit/>
          </a:bodyPr>
          <a:lstStyle/>
          <a:p>
            <a:pPr algn="l"/>
            <a:r>
              <a:rPr sz="1100" b="1" i="1">
                <a:solidFill>
                  <a:srgbClr val="328088"/>
                </a:solidFill>
                <a:latin typeface="Calibri"/>
              </a:rPr>
              <a:t>Établissements scolaires et
autres ERP vulnérables</a:t>
            </a:r>
          </a:p>
        </p:txBody>
      </p:sp>
      <p:sp>
        <p:nvSpPr>
          <p:cNvPr id="25" name="TextBox 24"/>
          <p:cNvSpPr txBox="1"/>
          <p:nvPr/>
        </p:nvSpPr>
        <p:spPr>
          <a:xfrm>
            <a:off x="4937760" y="4434840"/>
            <a:ext cx="6858000" cy="868680"/>
          </a:xfrm>
          <a:prstGeom prst="rect">
            <a:avLst/>
          </a:prstGeom>
          <a:noFill/>
        </p:spPr>
        <p:txBody>
          <a:bodyPr wrap="square" lIns="0" tIns="0" rIns="0" bIns="0" anchor="ctr">
            <a:spAutoFit/>
          </a:bodyPr>
          <a:lstStyle/>
          <a:p>
            <a:pPr algn="l"/>
            <a:r>
              <a:rPr sz="1100" b="0" i="0">
                <a:solidFill>
                  <a:srgbClr val="1A1A1A"/>
                </a:solidFill>
                <a:latin typeface="Calibri"/>
              </a:rPr>
              <a:t>Plan Particulier de Mise en Sûreté. Comportement à adopter face à un risque (confinement, évacuation, regroupement).</a:t>
            </a:r>
          </a:p>
        </p:txBody>
      </p:sp>
      <p:sp>
        <p:nvSpPr>
          <p:cNvPr id="26" name="Rectangle 25"/>
          <p:cNvSpPr/>
          <p:nvPr/>
        </p:nvSpPr>
        <p:spPr>
          <a:xfrm>
            <a:off x="457200" y="5349240"/>
            <a:ext cx="2103120" cy="868680"/>
          </a:xfrm>
          <a:prstGeom prst="rect">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5349240"/>
            <a:ext cx="2103120" cy="868680"/>
          </a:xfrm>
          <a:prstGeom prst="rect">
            <a:avLst/>
          </a:prstGeom>
          <a:noFill/>
        </p:spPr>
        <p:txBody>
          <a:bodyPr wrap="square" lIns="0" tIns="0" rIns="0" bIns="0" anchor="ctr">
            <a:spAutoFit/>
          </a:bodyPr>
          <a:lstStyle/>
          <a:p>
            <a:pPr algn="ctr"/>
            <a:r>
              <a:rPr sz="1300" b="1" i="0">
                <a:solidFill>
                  <a:srgbClr val="FFFFFF"/>
                </a:solidFill>
                <a:latin typeface="Calibri"/>
              </a:rPr>
              <a:t>Réserves communales
de Sécurité civile</a:t>
            </a:r>
          </a:p>
        </p:txBody>
      </p:sp>
      <p:sp>
        <p:nvSpPr>
          <p:cNvPr id="28" name="TextBox 27"/>
          <p:cNvSpPr txBox="1"/>
          <p:nvPr/>
        </p:nvSpPr>
        <p:spPr>
          <a:xfrm>
            <a:off x="2697480" y="5349240"/>
            <a:ext cx="2103120" cy="868680"/>
          </a:xfrm>
          <a:prstGeom prst="rect">
            <a:avLst/>
          </a:prstGeom>
          <a:noFill/>
        </p:spPr>
        <p:txBody>
          <a:bodyPr wrap="square" lIns="0" tIns="0" rIns="0" bIns="0" anchor="ctr">
            <a:spAutoFit/>
          </a:bodyPr>
          <a:lstStyle/>
          <a:p>
            <a:pPr algn="l"/>
            <a:r>
              <a:rPr sz="1100" b="1" i="1">
                <a:solidFill>
                  <a:srgbClr val="328088"/>
                </a:solidFill>
                <a:latin typeface="Calibri"/>
              </a:rPr>
              <a:t>Maire / volontaires citoyens</a:t>
            </a:r>
          </a:p>
        </p:txBody>
      </p:sp>
      <p:sp>
        <p:nvSpPr>
          <p:cNvPr id="29" name="TextBox 28"/>
          <p:cNvSpPr txBox="1"/>
          <p:nvPr/>
        </p:nvSpPr>
        <p:spPr>
          <a:xfrm>
            <a:off x="4937760" y="5349240"/>
            <a:ext cx="6858000" cy="868680"/>
          </a:xfrm>
          <a:prstGeom prst="rect">
            <a:avLst/>
          </a:prstGeom>
          <a:noFill/>
        </p:spPr>
        <p:txBody>
          <a:bodyPr wrap="square" lIns="0" tIns="0" rIns="0" bIns="0" anchor="ctr">
            <a:spAutoFit/>
          </a:bodyPr>
          <a:lstStyle/>
          <a:p>
            <a:pPr algn="l"/>
            <a:r>
              <a:rPr sz="1100" b="0" i="0">
                <a:solidFill>
                  <a:srgbClr val="1A1A1A"/>
                </a:solidFill>
                <a:latin typeface="Calibri"/>
              </a:rPr>
              <a:t>Bénévoles formés pour appuyer les secours en cas de crise. Fortement encouragées par le Beauvau de la Sécurité civile (2025).</a:t>
            </a:r>
          </a:p>
        </p:txBody>
      </p:sp>
      <p:sp>
        <p:nvSpPr>
          <p:cNvPr id="3" name="Espace réservé du numéro de diapositive 2">
            <a:extLst>
              <a:ext uri="{FF2B5EF4-FFF2-40B4-BE49-F238E27FC236}">
                <a16:creationId xmlns:a16="http://schemas.microsoft.com/office/drawing/2014/main" id="{AEC76F15-E279-4FF2-9530-D0A6C4B8D945}"/>
              </a:ext>
            </a:extLst>
          </p:cNvPr>
          <p:cNvSpPr>
            <a:spLocks noGrp="1"/>
          </p:cNvSpPr>
          <p:nvPr>
            <p:ph type="sldNum" sz="quarter" idx="4"/>
          </p:nvPr>
        </p:nvSpPr>
        <p:spPr/>
        <p:txBody>
          <a:bodyPr/>
          <a:lstStyle/>
          <a:p>
            <a:fld id="{9981E6DC-ACA4-4CC4-B142-EC9DBA1C6CBA}" type="slidenum">
              <a:rPr lang="en-US" smtClean="0"/>
              <a:pPr/>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Pilier 7 — Assurer le retour d'expérience (REX)</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1188720"/>
            <a:ext cx="6858000" cy="4514056"/>
          </a:xfrm>
          <a:prstGeom prst="rect">
            <a:avLst/>
          </a:prstGeom>
          <a:noFill/>
        </p:spPr>
        <p:txBody>
          <a:bodyPr wrap="square" lIns="0" tIns="0" rIns="0" bIns="0" anchor="t">
            <a:spAutoFit/>
          </a:bodyPr>
          <a:lstStyle/>
          <a:p>
            <a:pPr algn="l">
              <a:spcAft>
                <a:spcPts val="400"/>
              </a:spcAft>
            </a:pPr>
            <a:r>
              <a:rPr lang="fr-FR" sz="2000" b="1" i="0">
                <a:solidFill>
                  <a:srgbClr val="328088"/>
                </a:solidFill>
                <a:latin typeface="Calibri"/>
              </a:rPr>
              <a:t>Objectif</a:t>
            </a:r>
          </a:p>
          <a:p>
            <a:pPr algn="l">
              <a:spcAft>
                <a:spcPts val="1400"/>
              </a:spcAft>
            </a:pPr>
            <a:r>
              <a:rPr lang="fr-FR" b="0" i="0">
                <a:solidFill>
                  <a:srgbClr val="1A1A1A"/>
                </a:solidFill>
                <a:latin typeface="Calibri"/>
              </a:rPr>
              <a:t>Apprendre des événements passés pour mieux appréhender et gérer les crises futures.</a:t>
            </a:r>
          </a:p>
          <a:p>
            <a:pPr algn="l">
              <a:spcAft>
                <a:spcPts val="400"/>
              </a:spcAft>
            </a:pPr>
            <a:r>
              <a:rPr lang="fr-FR" sz="2000" b="1" i="0">
                <a:solidFill>
                  <a:srgbClr val="328088"/>
                </a:solidFill>
                <a:latin typeface="Calibri"/>
              </a:rPr>
              <a:t>Démarche</a:t>
            </a:r>
          </a:p>
          <a:p>
            <a:pPr algn="l">
              <a:spcAft>
                <a:spcPts val="200"/>
              </a:spcAft>
            </a:pPr>
            <a:r>
              <a:rPr lang="fr-FR" sz="1600" b="0">
                <a:solidFill>
                  <a:srgbClr val="1A1A1A"/>
                </a:solidFill>
                <a:latin typeface="Calibri"/>
              </a:rPr>
              <a:t>• </a:t>
            </a:r>
            <a:r>
              <a:rPr lang="fr-FR" sz="1600" b="0" i="0">
                <a:solidFill>
                  <a:srgbClr val="1A1A1A"/>
                </a:solidFill>
                <a:latin typeface="Calibri"/>
              </a:rPr>
              <a:t>Recueillir des informations sur les événements</a:t>
            </a:r>
          </a:p>
          <a:p>
            <a:pPr algn="l">
              <a:spcAft>
                <a:spcPts val="200"/>
              </a:spcAft>
            </a:pPr>
            <a:r>
              <a:rPr lang="fr-FR" sz="1600" b="0">
                <a:solidFill>
                  <a:srgbClr val="1A1A1A"/>
                </a:solidFill>
                <a:latin typeface="Calibri"/>
              </a:rPr>
              <a:t>• </a:t>
            </a:r>
            <a:r>
              <a:rPr lang="fr-FR" sz="1600" b="0" i="0">
                <a:solidFill>
                  <a:srgbClr val="1A1A1A"/>
                </a:solidFill>
                <a:latin typeface="Calibri"/>
              </a:rPr>
              <a:t>Analyser leurs causes et leurs conséquences</a:t>
            </a:r>
          </a:p>
          <a:p>
            <a:pPr algn="l">
              <a:spcAft>
                <a:spcPts val="200"/>
              </a:spcAft>
            </a:pPr>
            <a:r>
              <a:rPr lang="fr-FR" sz="1600" b="0">
                <a:solidFill>
                  <a:srgbClr val="1A1A1A"/>
                </a:solidFill>
                <a:latin typeface="Calibri"/>
              </a:rPr>
              <a:t>• </a:t>
            </a:r>
            <a:r>
              <a:rPr lang="fr-FR" sz="1600" b="0" i="0">
                <a:solidFill>
                  <a:srgbClr val="1A1A1A"/>
                </a:solidFill>
                <a:latin typeface="Calibri"/>
              </a:rPr>
              <a:t>Mettre en œuvre les actions correctives nécessaires</a:t>
            </a:r>
          </a:p>
          <a:p>
            <a:pPr algn="l">
              <a:spcAft>
                <a:spcPts val="1400"/>
              </a:spcAft>
            </a:pPr>
            <a:r>
              <a:rPr lang="fr-FR" sz="1600" b="0">
                <a:solidFill>
                  <a:srgbClr val="1A1A1A"/>
                </a:solidFill>
                <a:latin typeface="Calibri"/>
              </a:rPr>
              <a:t>• </a:t>
            </a:r>
            <a:r>
              <a:rPr lang="fr-FR" sz="1600" b="0" i="0">
                <a:solidFill>
                  <a:srgbClr val="1A1A1A"/>
                </a:solidFill>
                <a:latin typeface="Calibri"/>
              </a:rPr>
              <a:t>Adapter les politiques publiques de prévention des risques</a:t>
            </a:r>
          </a:p>
          <a:p>
            <a:pPr algn="l">
              <a:spcAft>
                <a:spcPts val="400"/>
              </a:spcAft>
            </a:pPr>
            <a:r>
              <a:rPr lang="fr-FR" b="1" i="0">
                <a:solidFill>
                  <a:srgbClr val="E86E55"/>
                </a:solidFill>
                <a:latin typeface="Calibri"/>
              </a:rPr>
              <a:t>Le REX, ce n'est pas désigner un responsable</a:t>
            </a:r>
          </a:p>
          <a:p>
            <a:pPr algn="l">
              <a:spcAft>
                <a:spcPts val="1400"/>
              </a:spcAft>
            </a:pPr>
            <a:r>
              <a:rPr lang="fr-FR" sz="1600" b="0" i="1">
                <a:solidFill>
                  <a:srgbClr val="1A1A1A"/>
                </a:solidFill>
                <a:latin typeface="Calibri"/>
              </a:rPr>
              <a:t>C'est partager la connaissance pour éviter la répétition. Une démarche de REX bien menée est apprenante, pas punitive.</a:t>
            </a:r>
          </a:p>
          <a:p>
            <a:pPr algn="l">
              <a:spcAft>
                <a:spcPts val="400"/>
              </a:spcAft>
            </a:pPr>
            <a:r>
              <a:rPr lang="fr-FR" b="1" i="0">
                <a:solidFill>
                  <a:srgbClr val="328088"/>
                </a:solidFill>
                <a:latin typeface="Calibri"/>
              </a:rPr>
              <a:t>Une bonne pratique  ·  REX intermédiaire</a:t>
            </a:r>
          </a:p>
          <a:p>
            <a:pPr algn="l"/>
            <a:r>
              <a:rPr lang="fr-FR" sz="1600" b="0" i="0">
                <a:solidFill>
                  <a:srgbClr val="1A1A1A"/>
                </a:solidFill>
                <a:latin typeface="Calibri"/>
              </a:rPr>
              <a:t>Plutôt qu'un REX unique 12-18 mois après, faire des REX courts et fréquents (J+30, J+90, J+1 an).</a:t>
            </a:r>
          </a:p>
        </p:txBody>
      </p:sp>
      <p:sp>
        <p:nvSpPr>
          <p:cNvPr id="12" name="Rectangle 11"/>
          <p:cNvSpPr/>
          <p:nvPr/>
        </p:nvSpPr>
        <p:spPr>
          <a:xfrm>
            <a:off x="7589520" y="1188720"/>
            <a:ext cx="4206240" cy="502920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3" name="TextBox 12"/>
          <p:cNvSpPr txBox="1"/>
          <p:nvPr/>
        </p:nvSpPr>
        <p:spPr>
          <a:xfrm>
            <a:off x="7772400" y="1325880"/>
            <a:ext cx="3931920" cy="2713563"/>
          </a:xfrm>
          <a:prstGeom prst="rect">
            <a:avLst/>
          </a:prstGeom>
          <a:noFill/>
        </p:spPr>
        <p:txBody>
          <a:bodyPr wrap="square" lIns="0" tIns="0" rIns="0" bIns="0" anchor="t">
            <a:spAutoFit/>
          </a:bodyPr>
          <a:lstStyle/>
          <a:p>
            <a:pPr algn="l">
              <a:spcAft>
                <a:spcPts val="800"/>
              </a:spcAft>
            </a:pPr>
            <a:r>
              <a:rPr lang="fr-FR" sz="1300" b="1" i="0">
                <a:solidFill>
                  <a:srgbClr val="328088"/>
                </a:solidFill>
                <a:latin typeface="Calibri"/>
              </a:rPr>
              <a:t>Quelques REX de référence</a:t>
            </a:r>
          </a:p>
          <a:p>
            <a:pPr algn="l">
              <a:spcAft>
                <a:spcPts val="200"/>
              </a:spcAft>
            </a:pPr>
            <a:r>
              <a:rPr lang="fr-FR" sz="1200" b="1" i="0">
                <a:solidFill>
                  <a:srgbClr val="1A1A1A"/>
                </a:solidFill>
                <a:latin typeface="Calibri"/>
              </a:rPr>
              <a:t>Tempête Xynthia (2010) — CGEDD</a:t>
            </a:r>
          </a:p>
          <a:p>
            <a:pPr algn="l">
              <a:spcAft>
                <a:spcPts val="1000"/>
              </a:spcAft>
            </a:pPr>
            <a:r>
              <a:rPr lang="fr-FR" sz="1100" b="0" i="1">
                <a:solidFill>
                  <a:srgbClr val="404040"/>
                </a:solidFill>
                <a:latin typeface="Calibri"/>
              </a:rPr>
              <a:t>Refonte de la doctrine PPRSM, plan submersions rapides 2011-2016.</a:t>
            </a:r>
          </a:p>
          <a:p>
            <a:pPr algn="l">
              <a:spcAft>
                <a:spcPts val="200"/>
              </a:spcAft>
            </a:pPr>
            <a:r>
              <a:rPr lang="fr-FR" sz="1200" b="1" i="0">
                <a:solidFill>
                  <a:srgbClr val="1A1A1A"/>
                </a:solidFill>
                <a:latin typeface="Calibri"/>
              </a:rPr>
              <a:t>Tempête Alex (2020) — CGEDD/IGA</a:t>
            </a:r>
          </a:p>
          <a:p>
            <a:pPr algn="l">
              <a:spcAft>
                <a:spcPts val="1000"/>
              </a:spcAft>
            </a:pPr>
            <a:r>
              <a:rPr lang="fr-FR" sz="1100" b="0" i="1">
                <a:solidFill>
                  <a:srgbClr val="404040"/>
                </a:solidFill>
                <a:latin typeface="Calibri"/>
              </a:rPr>
              <a:t>Vallées Roya/Vésubie : préfet délégué, EPF PACA mobilisé via fonds Barnier exceptionnel.</a:t>
            </a:r>
          </a:p>
          <a:p>
            <a:pPr algn="l">
              <a:spcAft>
                <a:spcPts val="200"/>
              </a:spcAft>
            </a:pPr>
            <a:r>
              <a:rPr lang="fr-FR" sz="1200" b="1" i="0">
                <a:solidFill>
                  <a:srgbClr val="1A1A1A"/>
                </a:solidFill>
                <a:latin typeface="Calibri"/>
              </a:rPr>
              <a:t>Inondations 2018-2024 — CGEDD</a:t>
            </a:r>
          </a:p>
          <a:p>
            <a:pPr algn="l">
              <a:spcAft>
                <a:spcPts val="1000"/>
              </a:spcAft>
            </a:pPr>
            <a:r>
              <a:rPr lang="fr-FR" sz="1100" b="0" i="1">
                <a:solidFill>
                  <a:srgbClr val="404040"/>
                </a:solidFill>
                <a:latin typeface="Calibri"/>
              </a:rPr>
              <a:t>Rapport Dantec/Pipien 2019 + Guide « Après inondation » Cerema (organisation de la collecte des données issues des REX).</a:t>
            </a:r>
          </a:p>
          <a:p>
            <a:pPr algn="l">
              <a:spcAft>
                <a:spcPts val="200"/>
              </a:spcAft>
            </a:pPr>
            <a:r>
              <a:rPr lang="fr-FR" sz="1200" b="1" i="0">
                <a:solidFill>
                  <a:srgbClr val="1A1A1A"/>
                </a:solidFill>
                <a:latin typeface="Calibri"/>
              </a:rPr>
              <a:t>Plans de résilience Alpes (2025)</a:t>
            </a:r>
          </a:p>
          <a:p>
            <a:pPr algn="l"/>
            <a:r>
              <a:rPr lang="fr-FR" sz="1100" b="0" i="1">
                <a:solidFill>
                  <a:srgbClr val="404040"/>
                </a:solidFill>
                <a:latin typeface="Calibri"/>
              </a:rPr>
              <a:t>Mission IGEDD/IGA/IGSC. Six axes structurants — fil rouge de l'après-midi.</a:t>
            </a:r>
          </a:p>
        </p:txBody>
      </p:sp>
      <p:sp>
        <p:nvSpPr>
          <p:cNvPr id="3" name="Espace réservé du numéro de diapositive 2">
            <a:extLst>
              <a:ext uri="{FF2B5EF4-FFF2-40B4-BE49-F238E27FC236}">
                <a16:creationId xmlns:a16="http://schemas.microsoft.com/office/drawing/2014/main" id="{B6F49E51-7308-42DC-B13E-B238B5C6526E}"/>
              </a:ext>
            </a:extLst>
          </p:cNvPr>
          <p:cNvSpPr>
            <a:spLocks noGrp="1"/>
          </p:cNvSpPr>
          <p:nvPr>
            <p:ph type="sldNum" sz="quarter" idx="4"/>
          </p:nvPr>
        </p:nvSpPr>
        <p:spPr/>
        <p:txBody>
          <a:bodyPr/>
          <a:lstStyle/>
          <a:p>
            <a:fld id="{9981E6DC-ACA4-4CC4-B142-EC9DBA1C6CBA}" type="slidenum">
              <a:rPr lang="en-US" smtClean="0"/>
              <a:pPr/>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Le PPR littoral — un dispositif, plusieurs aléas</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1188720"/>
            <a:ext cx="11247120" cy="200055"/>
          </a:xfrm>
          <a:prstGeom prst="rect">
            <a:avLst/>
          </a:prstGeom>
          <a:noFill/>
        </p:spPr>
        <p:txBody>
          <a:bodyPr wrap="square" lIns="0" tIns="0" rIns="0" bIns="0" anchor="t">
            <a:spAutoFit/>
          </a:bodyPr>
          <a:lstStyle/>
          <a:p>
            <a:pPr algn="l"/>
            <a:r>
              <a:rPr lang="fr-FR" sz="1300" b="0" i="1">
                <a:solidFill>
                  <a:srgbClr val="404040"/>
                </a:solidFill>
                <a:latin typeface="Calibri"/>
              </a:rPr>
              <a:t>Article L. 562-1 et suivants du code de l'environnement  ·  prescrit par le préfet, valant servitude d'utilité publique</a:t>
            </a:r>
          </a:p>
        </p:txBody>
      </p:sp>
      <p:sp>
        <p:nvSpPr>
          <p:cNvPr id="12" name="Rectangle 11"/>
          <p:cNvSpPr/>
          <p:nvPr/>
        </p:nvSpPr>
        <p:spPr>
          <a:xfrm>
            <a:off x="365760" y="1691640"/>
            <a:ext cx="1463040" cy="960120"/>
          </a:xfrm>
          <a:prstGeom prst="rect">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3" name="TextBox 12"/>
          <p:cNvSpPr txBox="1"/>
          <p:nvPr/>
        </p:nvSpPr>
        <p:spPr>
          <a:xfrm>
            <a:off x="365760" y="2033200"/>
            <a:ext cx="1463040" cy="276999"/>
          </a:xfrm>
          <a:prstGeom prst="rect">
            <a:avLst/>
          </a:prstGeom>
          <a:noFill/>
        </p:spPr>
        <p:txBody>
          <a:bodyPr wrap="square" lIns="0" tIns="0" rIns="0" bIns="0" anchor="ctr">
            <a:spAutoFit/>
          </a:bodyPr>
          <a:lstStyle/>
          <a:p>
            <a:pPr algn="ctr"/>
            <a:r>
              <a:rPr lang="fr-FR" sz="1800" b="1" i="0">
                <a:solidFill>
                  <a:srgbClr val="FFFFFF"/>
                </a:solidFill>
                <a:latin typeface="Calibri"/>
              </a:rPr>
              <a:t>PPRL/SM</a:t>
            </a:r>
          </a:p>
        </p:txBody>
      </p:sp>
      <p:sp>
        <p:nvSpPr>
          <p:cNvPr id="14" name="Rectangle 13"/>
          <p:cNvSpPr/>
          <p:nvPr/>
        </p:nvSpPr>
        <p:spPr>
          <a:xfrm>
            <a:off x="1874519" y="1691640"/>
            <a:ext cx="9921240" cy="96012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5" name="TextBox 14"/>
          <p:cNvSpPr txBox="1"/>
          <p:nvPr/>
        </p:nvSpPr>
        <p:spPr>
          <a:xfrm>
            <a:off x="2057400" y="1783080"/>
            <a:ext cx="9646920" cy="605294"/>
          </a:xfrm>
          <a:prstGeom prst="rect">
            <a:avLst/>
          </a:prstGeom>
          <a:noFill/>
        </p:spPr>
        <p:txBody>
          <a:bodyPr wrap="square" lIns="0" tIns="0" rIns="0" bIns="0" anchor="t">
            <a:spAutoFit/>
          </a:bodyPr>
          <a:lstStyle/>
          <a:p>
            <a:pPr algn="l">
              <a:spcAft>
                <a:spcPts val="400"/>
              </a:spcAft>
            </a:pPr>
            <a:r>
              <a:rPr lang="fr-FR" sz="1400" b="1" i="0">
                <a:solidFill>
                  <a:srgbClr val="1E2D5C"/>
                </a:solidFill>
                <a:latin typeface="Calibri"/>
              </a:rPr>
              <a:t>Submersion marine</a:t>
            </a:r>
          </a:p>
          <a:p>
            <a:pPr algn="l"/>
            <a:r>
              <a:rPr lang="fr-FR" sz="1100" b="0" i="0">
                <a:solidFill>
                  <a:srgbClr val="1A1A1A"/>
                </a:solidFill>
                <a:latin typeface="Calibri"/>
              </a:rPr>
              <a:t>Pour les communes exposées à la submersion par la mer (tempête, surcote, vague). Aléa de référence + aléa à 100 ans (+ 60 cm minimum) depuis l'arrêté du 5 juillet 2019.</a:t>
            </a:r>
          </a:p>
        </p:txBody>
      </p:sp>
      <p:sp>
        <p:nvSpPr>
          <p:cNvPr id="20" name="Rectangle 19"/>
          <p:cNvSpPr/>
          <p:nvPr/>
        </p:nvSpPr>
        <p:spPr>
          <a:xfrm>
            <a:off x="365760" y="3398520"/>
            <a:ext cx="1463040" cy="960120"/>
          </a:xfrm>
          <a:prstGeom prst="rect">
            <a:avLst/>
          </a:prstGeom>
          <a:solidFill>
            <a:srgbClr val="216B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1" name="TextBox 20"/>
          <p:cNvSpPr txBox="1"/>
          <p:nvPr/>
        </p:nvSpPr>
        <p:spPr>
          <a:xfrm>
            <a:off x="365760" y="3740080"/>
            <a:ext cx="1463040" cy="276999"/>
          </a:xfrm>
          <a:prstGeom prst="rect">
            <a:avLst/>
          </a:prstGeom>
          <a:noFill/>
        </p:spPr>
        <p:txBody>
          <a:bodyPr wrap="square" lIns="0" tIns="0" rIns="0" bIns="0" anchor="ctr">
            <a:spAutoFit/>
          </a:bodyPr>
          <a:lstStyle/>
          <a:p>
            <a:pPr algn="ctr"/>
            <a:r>
              <a:rPr lang="fr-FR" sz="1800" b="1" i="0">
                <a:solidFill>
                  <a:srgbClr val="FFFFFF"/>
                </a:solidFill>
                <a:latin typeface="Calibri"/>
              </a:rPr>
              <a:t>PPRI</a:t>
            </a:r>
          </a:p>
        </p:txBody>
      </p:sp>
      <p:sp>
        <p:nvSpPr>
          <p:cNvPr id="22" name="Rectangle 21"/>
          <p:cNvSpPr/>
          <p:nvPr/>
        </p:nvSpPr>
        <p:spPr>
          <a:xfrm>
            <a:off x="1874519" y="3398520"/>
            <a:ext cx="9921240" cy="96012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3" name="TextBox 22"/>
          <p:cNvSpPr txBox="1"/>
          <p:nvPr/>
        </p:nvSpPr>
        <p:spPr>
          <a:xfrm>
            <a:off x="2057400" y="3489960"/>
            <a:ext cx="9646920" cy="436017"/>
          </a:xfrm>
          <a:prstGeom prst="rect">
            <a:avLst/>
          </a:prstGeom>
          <a:noFill/>
        </p:spPr>
        <p:txBody>
          <a:bodyPr wrap="square" lIns="0" tIns="0" rIns="0" bIns="0" anchor="t">
            <a:spAutoFit/>
          </a:bodyPr>
          <a:lstStyle/>
          <a:p>
            <a:pPr algn="l">
              <a:spcAft>
                <a:spcPts val="400"/>
              </a:spcAft>
            </a:pPr>
            <a:r>
              <a:rPr lang="fr-FR" sz="1400" b="1" i="0">
                <a:solidFill>
                  <a:srgbClr val="216B96"/>
                </a:solidFill>
                <a:latin typeface="Calibri"/>
              </a:rPr>
              <a:t>Inondations rivières</a:t>
            </a:r>
          </a:p>
          <a:p>
            <a:pPr algn="l"/>
            <a:r>
              <a:rPr lang="fr-FR" sz="1100" b="0" i="0">
                <a:solidFill>
                  <a:srgbClr val="1A1A1A"/>
                </a:solidFill>
                <a:latin typeface="Calibri"/>
              </a:rPr>
              <a:t>Concerne les rivières côtières et leurs bassins versants amont. Articulation cruciale avec les PPRL/SM en cas de concomitance crue + tempête (cf. Xynthia).</a:t>
            </a:r>
          </a:p>
        </p:txBody>
      </p:sp>
      <p:sp>
        <p:nvSpPr>
          <p:cNvPr id="24" name="Rectangle 23"/>
          <p:cNvSpPr/>
          <p:nvPr/>
        </p:nvSpPr>
        <p:spPr>
          <a:xfrm>
            <a:off x="365760" y="4450080"/>
            <a:ext cx="1463040" cy="960120"/>
          </a:xfrm>
          <a:prstGeom prst="rect">
            <a:avLst/>
          </a:prstGeom>
          <a:solidFill>
            <a:srgbClr val="604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5" name="TextBox 24"/>
          <p:cNvSpPr txBox="1"/>
          <p:nvPr/>
        </p:nvSpPr>
        <p:spPr>
          <a:xfrm>
            <a:off x="365760" y="4653141"/>
            <a:ext cx="1463040" cy="553998"/>
          </a:xfrm>
          <a:prstGeom prst="rect">
            <a:avLst/>
          </a:prstGeom>
          <a:noFill/>
        </p:spPr>
        <p:txBody>
          <a:bodyPr wrap="square" lIns="0" tIns="0" rIns="0" bIns="0" anchor="ctr">
            <a:spAutoFit/>
          </a:bodyPr>
          <a:lstStyle/>
          <a:p>
            <a:pPr algn="ctr"/>
            <a:r>
              <a:rPr lang="fr-FR" sz="1800" b="1" i="0">
                <a:solidFill>
                  <a:srgbClr val="FFFFFF"/>
                </a:solidFill>
                <a:latin typeface="Calibri"/>
              </a:rPr>
              <a:t>PPR multi-aléas</a:t>
            </a:r>
          </a:p>
        </p:txBody>
      </p:sp>
      <p:sp>
        <p:nvSpPr>
          <p:cNvPr id="26" name="Rectangle 25"/>
          <p:cNvSpPr/>
          <p:nvPr/>
        </p:nvSpPr>
        <p:spPr>
          <a:xfrm>
            <a:off x="1874519" y="4450080"/>
            <a:ext cx="9921240" cy="96012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7" name="TextBox 26"/>
          <p:cNvSpPr txBox="1"/>
          <p:nvPr/>
        </p:nvSpPr>
        <p:spPr>
          <a:xfrm>
            <a:off x="2057400" y="4541520"/>
            <a:ext cx="9646920" cy="436017"/>
          </a:xfrm>
          <a:prstGeom prst="rect">
            <a:avLst/>
          </a:prstGeom>
          <a:noFill/>
        </p:spPr>
        <p:txBody>
          <a:bodyPr wrap="square" lIns="0" tIns="0" rIns="0" bIns="0" anchor="t">
            <a:spAutoFit/>
          </a:bodyPr>
          <a:lstStyle/>
          <a:p>
            <a:pPr algn="l">
              <a:spcAft>
                <a:spcPts val="400"/>
              </a:spcAft>
            </a:pPr>
            <a:r>
              <a:rPr lang="fr-FR" sz="1400" b="1" i="0">
                <a:solidFill>
                  <a:srgbClr val="604A7E"/>
                </a:solidFill>
                <a:latin typeface="Calibri"/>
              </a:rPr>
              <a:t>Combinaisons</a:t>
            </a:r>
          </a:p>
          <a:p>
            <a:pPr algn="l"/>
            <a:r>
              <a:rPr lang="fr-FR" sz="1100" b="0" i="0">
                <a:solidFill>
                  <a:srgbClr val="1A1A1A"/>
                </a:solidFill>
                <a:latin typeface="Calibri"/>
              </a:rPr>
              <a:t>PPR littoraux qui combinent plusieurs aléas : submersion + érosion, ou submersion + crue. Encouragés par la doctrine Risques littoraux 2014 et précisés en 2019.</a:t>
            </a:r>
          </a:p>
        </p:txBody>
      </p:sp>
      <p:sp>
        <p:nvSpPr>
          <p:cNvPr id="28" name="Rectangle 27"/>
          <p:cNvSpPr/>
          <p:nvPr/>
        </p:nvSpPr>
        <p:spPr>
          <a:xfrm>
            <a:off x="365760" y="5897880"/>
            <a:ext cx="11430000" cy="50292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9" name="TextBox 28"/>
          <p:cNvSpPr txBox="1"/>
          <p:nvPr/>
        </p:nvSpPr>
        <p:spPr>
          <a:xfrm>
            <a:off x="548640" y="6064701"/>
            <a:ext cx="11247120" cy="169277"/>
          </a:xfrm>
          <a:prstGeom prst="rect">
            <a:avLst/>
          </a:prstGeom>
          <a:noFill/>
        </p:spPr>
        <p:txBody>
          <a:bodyPr wrap="square" lIns="0" tIns="0" rIns="0" bIns="0" anchor="ctr">
            <a:spAutoFit/>
          </a:bodyPr>
          <a:lstStyle/>
          <a:p>
            <a:pPr algn="l"/>
            <a:r>
              <a:rPr lang="fr-FR" sz="1100" b="0" i="1">
                <a:solidFill>
                  <a:srgbClr val="FFFFFF"/>
                </a:solidFill>
                <a:latin typeface="Calibri"/>
              </a:rPr>
              <a:t>PROCÉDURE  ·  prescription par le préfet → études techniques → concertation → enquête publique → approbation → annexion au PLU(i)  ·  durée : 3 à 7 ans</a:t>
            </a:r>
          </a:p>
        </p:txBody>
      </p:sp>
      <p:sp>
        <p:nvSpPr>
          <p:cNvPr id="3" name="Espace réservé du numéro de diapositive 2">
            <a:extLst>
              <a:ext uri="{FF2B5EF4-FFF2-40B4-BE49-F238E27FC236}">
                <a16:creationId xmlns:a16="http://schemas.microsoft.com/office/drawing/2014/main" id="{D5FA1988-A26C-4F71-B961-68A0EAA20CB6}"/>
              </a:ext>
            </a:extLst>
          </p:cNvPr>
          <p:cNvSpPr>
            <a:spLocks noGrp="1"/>
          </p:cNvSpPr>
          <p:nvPr>
            <p:ph type="sldNum" sz="quarter" idx="4"/>
          </p:nvPr>
        </p:nvSpPr>
        <p:spPr/>
        <p:txBody>
          <a:bodyPr/>
          <a:lstStyle/>
          <a:p>
            <a:fld id="{9981E6DC-ACA4-4CC4-B142-EC9DBA1C6CBA}" type="slidenum">
              <a:rPr lang="en-US" smtClean="0"/>
              <a:pPr/>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La directive inondation</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80060" y="1706185"/>
            <a:ext cx="11247120" cy="3690754"/>
          </a:xfrm>
          <a:prstGeom prst="rect">
            <a:avLst/>
          </a:prstGeom>
          <a:noFill/>
        </p:spPr>
        <p:txBody>
          <a:bodyPr wrap="square" lIns="0" tIns="0" rIns="0" bIns="0" anchor="t">
            <a:spAutoFit/>
          </a:bodyPr>
          <a:lstStyle/>
          <a:p>
            <a:pPr algn="l">
              <a:spcAft>
                <a:spcPts val="600"/>
              </a:spcAft>
            </a:pPr>
            <a:r>
              <a:rPr lang="fr-FR" sz="2000" b="1" i="0">
                <a:solidFill>
                  <a:srgbClr val="328088"/>
                </a:solidFill>
                <a:latin typeface="Calibri"/>
              </a:rPr>
              <a:t>Directive européenne 2007/60/CE inondation (23 octobre 2007)</a:t>
            </a:r>
          </a:p>
          <a:p>
            <a:pPr algn="l">
              <a:spcAft>
                <a:spcPts val="300"/>
              </a:spcAft>
            </a:pPr>
            <a:r>
              <a:rPr lang="fr-FR" sz="1600" b="0">
                <a:solidFill>
                  <a:srgbClr val="1A1A1A"/>
                </a:solidFill>
                <a:latin typeface="Calibri"/>
              </a:rPr>
              <a:t>• </a:t>
            </a:r>
            <a:r>
              <a:rPr lang="fr-FR" sz="1600" b="0" i="0">
                <a:solidFill>
                  <a:srgbClr val="1A1A1A"/>
                </a:solidFill>
                <a:latin typeface="Calibri"/>
              </a:rPr>
              <a:t>Cadre pour l'évaluation et la gestion des risques d'inondation au sein de l'UE</a:t>
            </a:r>
          </a:p>
          <a:p>
            <a:pPr algn="l">
              <a:spcAft>
                <a:spcPts val="1400"/>
              </a:spcAft>
            </a:pPr>
            <a:r>
              <a:rPr lang="fr-FR" sz="1600" b="0">
                <a:solidFill>
                  <a:srgbClr val="1A1A1A"/>
                </a:solidFill>
                <a:latin typeface="Calibri"/>
              </a:rPr>
              <a:t>• </a:t>
            </a:r>
            <a:r>
              <a:rPr lang="fr-FR" sz="1600" b="0" i="0">
                <a:solidFill>
                  <a:srgbClr val="1A1A1A"/>
                </a:solidFill>
                <a:latin typeface="Calibri"/>
              </a:rPr>
              <a:t>Transposée en 2010 en droit français (articles L. 566-1 à 13 et R. 566-1 à 18 du code de l'environnement)</a:t>
            </a:r>
          </a:p>
          <a:p>
            <a:pPr algn="l">
              <a:spcAft>
                <a:spcPts val="400"/>
              </a:spcAft>
            </a:pPr>
            <a:r>
              <a:rPr lang="fr-FR" b="1" i="0">
                <a:solidFill>
                  <a:srgbClr val="1A1A1A"/>
                </a:solidFill>
                <a:latin typeface="Calibri"/>
              </a:rPr>
              <a:t>Objectif</a:t>
            </a:r>
          </a:p>
          <a:p>
            <a:pPr algn="l">
              <a:spcAft>
                <a:spcPts val="1400"/>
              </a:spcAft>
            </a:pPr>
            <a:r>
              <a:rPr lang="fr-FR" sz="1600" b="0" i="0">
                <a:solidFill>
                  <a:srgbClr val="1A1A1A"/>
                </a:solidFill>
                <a:latin typeface="Calibri"/>
              </a:rPr>
              <a:t>Réduire les conséquences négatives des inondations sur la santé humaine, l'environnement, le patrimoine culturel et l'activité économique.</a:t>
            </a:r>
          </a:p>
          <a:p>
            <a:pPr algn="l">
              <a:spcAft>
                <a:spcPts val="600"/>
              </a:spcAft>
            </a:pPr>
            <a:r>
              <a:rPr lang="fr-FR" b="1" i="0">
                <a:solidFill>
                  <a:srgbClr val="1A1A1A"/>
                </a:solidFill>
                <a:latin typeface="Calibri"/>
              </a:rPr>
              <a:t>Mise en œuvre par cycles de 6 ans (2011, 2017, 2023…)</a:t>
            </a:r>
          </a:p>
          <a:p>
            <a:pPr algn="l">
              <a:spcAft>
                <a:spcPts val="300"/>
              </a:spcAft>
            </a:pPr>
            <a:r>
              <a:rPr lang="fr-FR" sz="1600" b="0">
                <a:solidFill>
                  <a:srgbClr val="1A1A1A"/>
                </a:solidFill>
                <a:latin typeface="Calibri"/>
              </a:rPr>
              <a:t>• </a:t>
            </a:r>
            <a:r>
              <a:rPr lang="fr-FR" sz="1600" b="0" i="0">
                <a:solidFill>
                  <a:srgbClr val="1A1A1A"/>
                </a:solidFill>
                <a:latin typeface="Calibri"/>
              </a:rPr>
              <a:t>EPRI — Évaluation préliminaire des risques d'inondation</a:t>
            </a:r>
          </a:p>
          <a:p>
            <a:pPr algn="l">
              <a:spcAft>
                <a:spcPts val="300"/>
              </a:spcAft>
            </a:pPr>
            <a:r>
              <a:rPr lang="fr-FR" sz="1600" b="0">
                <a:solidFill>
                  <a:srgbClr val="1A1A1A"/>
                </a:solidFill>
                <a:latin typeface="Calibri"/>
              </a:rPr>
              <a:t>• </a:t>
            </a:r>
            <a:r>
              <a:rPr lang="fr-FR" sz="1600" b="0" i="0">
                <a:solidFill>
                  <a:srgbClr val="1A1A1A"/>
                </a:solidFill>
                <a:latin typeface="Calibri"/>
              </a:rPr>
              <a:t>Identification des TRI — Territoires à risque important d'inondation (124 TRI dont 38 sur le littoral)</a:t>
            </a:r>
          </a:p>
          <a:p>
            <a:pPr algn="l">
              <a:spcAft>
                <a:spcPts val="1400"/>
              </a:spcAft>
            </a:pPr>
            <a:r>
              <a:rPr lang="fr-FR" sz="1600" b="0">
                <a:solidFill>
                  <a:srgbClr val="1A1A1A"/>
                </a:solidFill>
                <a:latin typeface="Calibri"/>
              </a:rPr>
              <a:t>• </a:t>
            </a:r>
            <a:r>
              <a:rPr lang="fr-FR" sz="1600" b="0" i="0">
                <a:solidFill>
                  <a:srgbClr val="1A1A1A"/>
                </a:solidFill>
                <a:latin typeface="Calibri"/>
              </a:rPr>
              <a:t>Cartographies des TRI puis PGRI — Plan de gestion des risques d'inondation par bassin</a:t>
            </a:r>
          </a:p>
          <a:p>
            <a:pPr algn="l"/>
            <a:r>
              <a:rPr lang="fr-FR" sz="1600" b="0" i="1">
                <a:solidFill>
                  <a:srgbClr val="404040"/>
                </a:solidFill>
                <a:latin typeface="Calibri"/>
              </a:rPr>
              <a:t>Interactions fortes avec la directive-cadre sur l'eau (2000/60/CE)</a:t>
            </a:r>
          </a:p>
        </p:txBody>
      </p:sp>
      <p:sp>
        <p:nvSpPr>
          <p:cNvPr id="3" name="Espace réservé du numéro de diapositive 2">
            <a:extLst>
              <a:ext uri="{FF2B5EF4-FFF2-40B4-BE49-F238E27FC236}">
                <a16:creationId xmlns:a16="http://schemas.microsoft.com/office/drawing/2014/main" id="{B0099159-D3AD-4E21-8493-7D5AF57596A5}"/>
              </a:ext>
            </a:extLst>
          </p:cNvPr>
          <p:cNvSpPr>
            <a:spLocks noGrp="1"/>
          </p:cNvSpPr>
          <p:nvPr>
            <p:ph type="sldNum" sz="quarter" idx="4"/>
          </p:nvPr>
        </p:nvSpPr>
        <p:spPr/>
        <p:txBody>
          <a:bodyPr/>
          <a:lstStyle/>
          <a:p>
            <a:fld id="{9981E6DC-ACA4-4CC4-B142-EC9DBA1C6CBA}" type="slidenum">
              <a:rPr lang="en-US" smtClean="0"/>
              <a:pPr/>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14600" y="201168"/>
            <a:ext cx="9509760" cy="713232"/>
          </a:xfrm>
          <a:prstGeom prst="rect">
            <a:avLst/>
          </a:prstGeom>
          <a:noFill/>
        </p:spPr>
        <p:txBody>
          <a:bodyPr wrap="square" lIns="0" tIns="0" rIns="0" bIns="0" anchor="ctr">
            <a:spAutoFit/>
          </a:bodyPr>
          <a:lstStyle/>
          <a:p>
            <a:pPr algn="l"/>
            <a:r>
              <a:rPr sz="2600" b="1" i="0">
                <a:solidFill>
                  <a:srgbClr val="1A1A1A"/>
                </a:solidFill>
                <a:latin typeface="Calibri"/>
              </a:rPr>
              <a:t>Les PAPI — Programmes d'actions de prévention des inondations</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11480" y="1934752"/>
            <a:ext cx="6858000" cy="3421449"/>
          </a:xfrm>
          <a:prstGeom prst="rect">
            <a:avLst/>
          </a:prstGeom>
          <a:noFill/>
        </p:spPr>
        <p:txBody>
          <a:bodyPr wrap="square" lIns="0" tIns="0" rIns="0" bIns="0" anchor="t">
            <a:spAutoFit/>
          </a:bodyPr>
          <a:lstStyle/>
          <a:p>
            <a:pPr algn="l">
              <a:spcAft>
                <a:spcPts val="1400"/>
              </a:spcAft>
            </a:pPr>
            <a:r>
              <a:rPr b="0" i="0">
                <a:solidFill>
                  <a:srgbClr val="1A1A1A"/>
                </a:solidFill>
                <a:latin typeface="Calibri"/>
              </a:rPr>
              <a:t>Outil à disposition des collectivités souhaitant entreprendre une démarche globale de prévention sur leur territoire.</a:t>
            </a:r>
          </a:p>
          <a:p>
            <a:pPr algn="l">
              <a:spcAft>
                <a:spcPts val="600"/>
              </a:spcAft>
            </a:pPr>
            <a:r>
              <a:rPr sz="2000" b="1" i="0">
                <a:solidFill>
                  <a:srgbClr val="328088"/>
                </a:solidFill>
                <a:latin typeface="Calibri"/>
              </a:rPr>
              <a:t>7 axes du PAPI</a:t>
            </a:r>
          </a:p>
          <a:p>
            <a:pPr algn="l">
              <a:spcAft>
                <a:spcPts val="200"/>
              </a:spcAft>
            </a:pPr>
            <a:r>
              <a:rPr sz="1600" b="0">
                <a:solidFill>
                  <a:srgbClr val="1A1A1A"/>
                </a:solidFill>
                <a:latin typeface="Calibri"/>
              </a:rPr>
              <a:t>• </a:t>
            </a:r>
            <a:r>
              <a:rPr sz="1600" b="0" i="0">
                <a:solidFill>
                  <a:srgbClr val="1A1A1A"/>
                </a:solidFill>
                <a:latin typeface="Calibri"/>
              </a:rPr>
              <a:t>Amélioration de la connaissance et de la conscience du risque</a:t>
            </a:r>
          </a:p>
          <a:p>
            <a:pPr algn="l">
              <a:spcAft>
                <a:spcPts val="200"/>
              </a:spcAft>
            </a:pPr>
            <a:r>
              <a:rPr sz="1600" b="0">
                <a:solidFill>
                  <a:srgbClr val="1A1A1A"/>
                </a:solidFill>
                <a:latin typeface="Calibri"/>
              </a:rPr>
              <a:t>• </a:t>
            </a:r>
            <a:r>
              <a:rPr sz="1600" b="0" i="0">
                <a:solidFill>
                  <a:srgbClr val="1A1A1A"/>
                </a:solidFill>
                <a:latin typeface="Calibri"/>
              </a:rPr>
              <a:t>Surveillance, prévision des crues et des inondations</a:t>
            </a:r>
          </a:p>
          <a:p>
            <a:pPr algn="l">
              <a:spcAft>
                <a:spcPts val="200"/>
              </a:spcAft>
            </a:pPr>
            <a:r>
              <a:rPr sz="1600" b="0">
                <a:solidFill>
                  <a:srgbClr val="1A1A1A"/>
                </a:solidFill>
                <a:latin typeface="Calibri"/>
              </a:rPr>
              <a:t>• </a:t>
            </a:r>
            <a:r>
              <a:rPr sz="1600" b="0" i="0">
                <a:solidFill>
                  <a:srgbClr val="1A1A1A"/>
                </a:solidFill>
                <a:latin typeface="Calibri"/>
              </a:rPr>
              <a:t>Alerte et gestion de crise</a:t>
            </a:r>
          </a:p>
          <a:p>
            <a:pPr algn="l">
              <a:spcAft>
                <a:spcPts val="200"/>
              </a:spcAft>
            </a:pPr>
            <a:r>
              <a:rPr sz="1600" b="0">
                <a:solidFill>
                  <a:srgbClr val="1A1A1A"/>
                </a:solidFill>
                <a:latin typeface="Calibri"/>
              </a:rPr>
              <a:t>• </a:t>
            </a:r>
            <a:r>
              <a:rPr sz="1600" b="0" i="0">
                <a:solidFill>
                  <a:srgbClr val="1A1A1A"/>
                </a:solidFill>
                <a:latin typeface="Calibri"/>
              </a:rPr>
              <a:t>Prise en compte du risque inondation dans l'aménagement et l'urbanisme</a:t>
            </a:r>
          </a:p>
          <a:p>
            <a:pPr algn="l">
              <a:spcAft>
                <a:spcPts val="200"/>
              </a:spcAft>
            </a:pPr>
            <a:r>
              <a:rPr sz="1600" b="0">
                <a:solidFill>
                  <a:srgbClr val="1A1A1A"/>
                </a:solidFill>
                <a:latin typeface="Calibri"/>
              </a:rPr>
              <a:t>• </a:t>
            </a:r>
            <a:r>
              <a:rPr sz="1600" b="0" i="0">
                <a:solidFill>
                  <a:srgbClr val="1A1A1A"/>
                </a:solidFill>
                <a:latin typeface="Calibri"/>
              </a:rPr>
              <a:t>Réduction de la vulnérabilité des personnes et des biens</a:t>
            </a:r>
          </a:p>
          <a:p>
            <a:pPr algn="l">
              <a:spcAft>
                <a:spcPts val="200"/>
              </a:spcAft>
            </a:pPr>
            <a:r>
              <a:rPr sz="1600" b="0">
                <a:solidFill>
                  <a:srgbClr val="1A1A1A"/>
                </a:solidFill>
                <a:latin typeface="Calibri"/>
              </a:rPr>
              <a:t>• </a:t>
            </a:r>
            <a:r>
              <a:rPr sz="1600" b="0" i="0">
                <a:solidFill>
                  <a:srgbClr val="1A1A1A"/>
                </a:solidFill>
                <a:latin typeface="Calibri"/>
              </a:rPr>
              <a:t>Gestion des écoulements</a:t>
            </a:r>
          </a:p>
          <a:p>
            <a:pPr algn="l">
              <a:spcAft>
                <a:spcPts val="1400"/>
              </a:spcAft>
            </a:pPr>
            <a:r>
              <a:rPr sz="1600" b="0">
                <a:solidFill>
                  <a:srgbClr val="1A1A1A"/>
                </a:solidFill>
                <a:latin typeface="Calibri"/>
              </a:rPr>
              <a:t>• </a:t>
            </a:r>
            <a:r>
              <a:rPr sz="1600" b="0" i="0">
                <a:solidFill>
                  <a:srgbClr val="1A1A1A"/>
                </a:solidFill>
                <a:latin typeface="Calibri"/>
              </a:rPr>
              <a:t>Gestion des ouvrages de protection hydrauliques</a:t>
            </a:r>
          </a:p>
          <a:p>
            <a:pPr algn="l"/>
            <a:r>
              <a:rPr sz="1600" b="0" i="1">
                <a:solidFill>
                  <a:srgbClr val="E86E55"/>
                </a:solidFill>
                <a:latin typeface="Calibri"/>
              </a:rPr>
              <a:t>→ On retrouve les 7 piliers de la prévention dans les 7 axes des PAPI.</a:t>
            </a:r>
          </a:p>
        </p:txBody>
      </p:sp>
      <p:sp>
        <p:nvSpPr>
          <p:cNvPr id="12" name="Rectangle 11"/>
          <p:cNvSpPr/>
          <p:nvPr/>
        </p:nvSpPr>
        <p:spPr>
          <a:xfrm>
            <a:off x="7589520" y="1188720"/>
            <a:ext cx="4206240" cy="502920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0" y="1325880"/>
            <a:ext cx="3931920" cy="4846320"/>
          </a:xfrm>
          <a:prstGeom prst="rect">
            <a:avLst/>
          </a:prstGeom>
          <a:noFill/>
        </p:spPr>
        <p:txBody>
          <a:bodyPr wrap="square" lIns="0" tIns="0" rIns="0" bIns="0" anchor="t">
            <a:spAutoFit/>
          </a:bodyPr>
          <a:lstStyle/>
          <a:p>
            <a:pPr algn="l">
              <a:spcAft>
                <a:spcPts val="1400"/>
              </a:spcAft>
            </a:pPr>
            <a:r>
              <a:rPr sz="1300" b="1" i="0">
                <a:solidFill>
                  <a:srgbClr val="328088"/>
                </a:solidFill>
                <a:latin typeface="Calibri"/>
              </a:rPr>
              <a:t>Le dispositif PAPI en chiffres</a:t>
            </a:r>
          </a:p>
          <a:p>
            <a:pPr algn="ctr">
              <a:spcAft>
                <a:spcPts val="200"/>
              </a:spcAft>
            </a:pPr>
            <a:r>
              <a:rPr sz="3600" b="1" i="0">
                <a:solidFill>
                  <a:srgbClr val="1E2D5C"/>
                </a:solidFill>
                <a:latin typeface="Calibri"/>
              </a:rPr>
              <a:t>224</a:t>
            </a:r>
          </a:p>
          <a:p>
            <a:pPr algn="ctr">
              <a:spcAft>
                <a:spcPts val="1400"/>
              </a:spcAft>
            </a:pPr>
            <a:r>
              <a:rPr sz="1100" b="0" i="1">
                <a:solidFill>
                  <a:srgbClr val="404040"/>
                </a:solidFill>
                <a:latin typeface="Calibri"/>
              </a:rPr>
              <a:t>PAPI labellisés</a:t>
            </a:r>
          </a:p>
          <a:p>
            <a:pPr algn="ctr">
              <a:spcAft>
                <a:spcPts val="200"/>
              </a:spcAft>
            </a:pPr>
            <a:r>
              <a:rPr sz="3600" b="1" i="0">
                <a:solidFill>
                  <a:srgbClr val="1E2D5C"/>
                </a:solidFill>
                <a:latin typeface="Calibri"/>
              </a:rPr>
              <a:t>2,6 Md €</a:t>
            </a:r>
          </a:p>
          <a:p>
            <a:pPr algn="ctr">
              <a:spcAft>
                <a:spcPts val="1400"/>
              </a:spcAft>
            </a:pPr>
            <a:r>
              <a:rPr sz="1100" b="0" i="1">
                <a:solidFill>
                  <a:srgbClr val="404040"/>
                </a:solidFill>
                <a:latin typeface="Calibri"/>
              </a:rPr>
              <a:t>Engagés (dont 1 Md € État)</a:t>
            </a:r>
          </a:p>
          <a:p>
            <a:pPr algn="ctr">
              <a:spcAft>
                <a:spcPts val="200"/>
              </a:spcAft>
            </a:pPr>
            <a:r>
              <a:rPr sz="2200" b="1" i="0">
                <a:solidFill>
                  <a:srgbClr val="1E2D5C"/>
                </a:solidFill>
                <a:latin typeface="Calibri"/>
              </a:rPr>
              <a:t>3 générations</a:t>
            </a:r>
          </a:p>
          <a:p>
            <a:pPr algn="ctr"/>
            <a:r>
              <a:rPr sz="1100" b="0" i="1">
                <a:solidFill>
                  <a:srgbClr val="404040"/>
                </a:solidFill>
                <a:latin typeface="Calibri"/>
              </a:rPr>
              <a:t>2003-2009  ·  2011-2017  ·  2018-aujourd'hui</a:t>
            </a:r>
          </a:p>
        </p:txBody>
      </p:sp>
      <p:sp>
        <p:nvSpPr>
          <p:cNvPr id="3" name="Espace réservé du numéro de diapositive 2">
            <a:extLst>
              <a:ext uri="{FF2B5EF4-FFF2-40B4-BE49-F238E27FC236}">
                <a16:creationId xmlns:a16="http://schemas.microsoft.com/office/drawing/2014/main" id="{E038A948-1A3E-4E61-B46B-48C491B1CCF4}"/>
              </a:ext>
            </a:extLst>
          </p:cNvPr>
          <p:cNvSpPr>
            <a:spLocks noGrp="1"/>
          </p:cNvSpPr>
          <p:nvPr>
            <p:ph type="sldNum" sz="quarter" idx="4"/>
          </p:nvPr>
        </p:nvSpPr>
        <p:spPr/>
        <p:txBody>
          <a:bodyPr/>
          <a:lstStyle/>
          <a:p>
            <a:fld id="{9981E6DC-ACA4-4CC4-B142-EC9DBA1C6CBA}" type="slidenum">
              <a:rPr lang="en-US" smtClean="0"/>
              <a:pPr/>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157675"/>
            <a:ext cx="9509760" cy="800219"/>
          </a:xfrm>
          <a:prstGeom prst="rect">
            <a:avLst/>
          </a:prstGeom>
          <a:noFill/>
        </p:spPr>
        <p:txBody>
          <a:bodyPr wrap="square" lIns="0" tIns="0" rIns="0" bIns="0" anchor="ctr">
            <a:spAutoFit/>
          </a:bodyPr>
          <a:lstStyle/>
          <a:p>
            <a:pPr algn="l"/>
            <a:r>
              <a:rPr lang="fr-FR" sz="2600" b="1" i="0">
                <a:solidFill>
                  <a:srgbClr val="1A1A1A"/>
                </a:solidFill>
                <a:latin typeface="Calibri"/>
              </a:rPr>
              <a:t>Le FPRNM — fonds de prévention des risques naturels majeurs (« fonds Barnier »)</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80060" y="1788526"/>
            <a:ext cx="11247120" cy="3811300"/>
          </a:xfrm>
          <a:prstGeom prst="rect">
            <a:avLst/>
          </a:prstGeom>
          <a:noFill/>
        </p:spPr>
        <p:txBody>
          <a:bodyPr wrap="square" lIns="0" tIns="0" rIns="0" bIns="0" anchor="t">
            <a:spAutoFit/>
          </a:bodyPr>
          <a:lstStyle/>
          <a:p>
            <a:pPr algn="l">
              <a:spcAft>
                <a:spcPts val="1400"/>
              </a:spcAft>
            </a:pPr>
            <a:r>
              <a:rPr lang="fr-FR" b="1" i="0">
                <a:solidFill>
                  <a:srgbClr val="328088"/>
                </a:solidFill>
                <a:latin typeface="Calibri"/>
              </a:rPr>
              <a:t>Principal outil de financement de la politique de prévention des risques naturels</a:t>
            </a:r>
          </a:p>
          <a:p>
            <a:pPr algn="l">
              <a:spcAft>
                <a:spcPts val="200"/>
              </a:spcAft>
            </a:pPr>
            <a:r>
              <a:rPr lang="fr-FR" sz="1600" b="1" i="0">
                <a:solidFill>
                  <a:srgbClr val="1E2D5C"/>
                </a:solidFill>
                <a:latin typeface="Calibri"/>
              </a:rPr>
              <a:t>1982</a:t>
            </a:r>
          </a:p>
          <a:p>
            <a:pPr algn="l">
              <a:spcAft>
                <a:spcPts val="600"/>
              </a:spcAft>
            </a:pPr>
            <a:r>
              <a:rPr lang="fr-FR" sz="1600" b="0" i="0">
                <a:solidFill>
                  <a:srgbClr val="1A1A1A"/>
                </a:solidFill>
                <a:latin typeface="Calibri"/>
              </a:rPr>
              <a:t>Loi indemnisation des victimes de catastrophes naturelles : dispositif CatNat, plans d'exposition aux risques (PER).</a:t>
            </a:r>
          </a:p>
          <a:p>
            <a:pPr algn="l">
              <a:spcAft>
                <a:spcPts val="200"/>
              </a:spcAft>
            </a:pPr>
            <a:r>
              <a:rPr lang="fr-FR" sz="1600" b="1" i="0">
                <a:solidFill>
                  <a:srgbClr val="1E2D5C"/>
                </a:solidFill>
                <a:latin typeface="Calibri"/>
              </a:rPr>
              <a:t>1995</a:t>
            </a:r>
          </a:p>
          <a:p>
            <a:pPr algn="l">
              <a:spcAft>
                <a:spcPts val="600"/>
              </a:spcAft>
            </a:pPr>
            <a:r>
              <a:rPr lang="fr-FR" sz="1600" b="0" i="0">
                <a:solidFill>
                  <a:srgbClr val="1A1A1A"/>
                </a:solidFill>
                <a:latin typeface="Calibri"/>
              </a:rPr>
              <a:t>Loi Barnier — création du FPRNM. Initialement : financer les expropriations. Création des PPR comme contrepartie.</a:t>
            </a:r>
          </a:p>
          <a:p>
            <a:pPr algn="l">
              <a:spcAft>
                <a:spcPts val="200"/>
              </a:spcAft>
            </a:pPr>
            <a:r>
              <a:rPr lang="fr-FR" sz="1600" b="1" i="0">
                <a:solidFill>
                  <a:srgbClr val="1E2D5C"/>
                </a:solidFill>
                <a:latin typeface="Calibri"/>
              </a:rPr>
              <a:t>2003 → aujourd'hui</a:t>
            </a:r>
          </a:p>
          <a:p>
            <a:pPr algn="l">
              <a:spcAft>
                <a:spcPts val="600"/>
              </a:spcAft>
            </a:pPr>
            <a:r>
              <a:rPr lang="fr-FR" sz="1600" b="0" i="0">
                <a:solidFill>
                  <a:srgbClr val="1A1A1A"/>
                </a:solidFill>
                <a:latin typeface="Calibri"/>
              </a:rPr>
              <a:t>Élargissement progressif à d'autres types de dépenses de protection et de prévention.</a:t>
            </a:r>
          </a:p>
          <a:p>
            <a:pPr algn="l">
              <a:spcAft>
                <a:spcPts val="200"/>
              </a:spcAft>
            </a:pPr>
            <a:r>
              <a:rPr lang="fr-FR" sz="1600" b="1" i="0">
                <a:solidFill>
                  <a:srgbClr val="1E2D5C"/>
                </a:solidFill>
                <a:latin typeface="Calibri"/>
              </a:rPr>
              <a:t>2021</a:t>
            </a:r>
          </a:p>
          <a:p>
            <a:pPr algn="l">
              <a:spcAft>
                <a:spcPts val="600"/>
              </a:spcAft>
            </a:pPr>
            <a:r>
              <a:rPr lang="fr-FR" sz="1600" b="0" i="0">
                <a:solidFill>
                  <a:srgbClr val="1A1A1A"/>
                </a:solidFill>
                <a:latin typeface="Calibri"/>
              </a:rPr>
              <a:t>Budgétisation du FPRNM (intégré au programme 181 du budget général de l'État).</a:t>
            </a:r>
          </a:p>
          <a:p>
            <a:pPr algn="l">
              <a:spcAft>
                <a:spcPts val="200"/>
              </a:spcAft>
            </a:pPr>
            <a:r>
              <a:rPr lang="fr-FR" b="1" i="0">
                <a:solidFill>
                  <a:srgbClr val="E86E55"/>
                </a:solidFill>
                <a:latin typeface="Calibri"/>
              </a:rPr>
              <a:t>2025  ·  300 M € en autorisations d'engagement</a:t>
            </a:r>
          </a:p>
          <a:p>
            <a:pPr algn="l">
              <a:spcAft>
                <a:spcPts val="1400"/>
              </a:spcAft>
            </a:pPr>
            <a:r>
              <a:rPr lang="fr-FR" sz="1600" b="0" i="0">
                <a:solidFill>
                  <a:srgbClr val="1A1A1A"/>
                </a:solidFill>
                <a:latin typeface="Calibri"/>
              </a:rPr>
              <a:t>Hausse historique de 75 M € annoncée par le Premier ministre, inscrite dans le PNACC-3. Multiplié par ≈ 1,5 en 4 ans.</a:t>
            </a:r>
          </a:p>
          <a:p>
            <a:pPr algn="ctr"/>
            <a:r>
              <a:rPr lang="fr-FR" b="0" i="1">
                <a:solidFill>
                  <a:srgbClr val="328088"/>
                </a:solidFill>
                <a:latin typeface="Calibri"/>
              </a:rPr>
              <a:t>« 1 € investi dans la prévention, ce sont 7 € économisés en réparation. »</a:t>
            </a:r>
          </a:p>
        </p:txBody>
      </p:sp>
      <p:sp>
        <p:nvSpPr>
          <p:cNvPr id="3" name="Espace réservé du numéro de diapositive 2">
            <a:extLst>
              <a:ext uri="{FF2B5EF4-FFF2-40B4-BE49-F238E27FC236}">
                <a16:creationId xmlns:a16="http://schemas.microsoft.com/office/drawing/2014/main" id="{A5A8DD90-EA77-4716-8D11-0117BF4523CF}"/>
              </a:ext>
            </a:extLst>
          </p:cNvPr>
          <p:cNvSpPr>
            <a:spLocks noGrp="1"/>
          </p:cNvSpPr>
          <p:nvPr>
            <p:ph type="sldNum" sz="quarter" idx="4"/>
          </p:nvPr>
        </p:nvSpPr>
        <p:spPr/>
        <p:txBody>
          <a:bodyPr/>
          <a:lstStyle/>
          <a:p>
            <a:fld id="{9981E6DC-ACA4-4CC4-B142-EC9DBA1C6CBA}" type="slidenum">
              <a:rPr lang="en-US" smtClean="0"/>
              <a:pPr/>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Dépenses éligibles au FPRNM — 20 mesures</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39496" y="1702886"/>
            <a:ext cx="6858000" cy="3452227"/>
          </a:xfrm>
          <a:prstGeom prst="rect">
            <a:avLst/>
          </a:prstGeom>
          <a:noFill/>
        </p:spPr>
        <p:txBody>
          <a:bodyPr wrap="square" lIns="0" tIns="0" rIns="0" bIns="0" anchor="t">
            <a:spAutoFit/>
          </a:bodyPr>
          <a:lstStyle/>
          <a:p>
            <a:pPr algn="l">
              <a:spcAft>
                <a:spcPts val="400"/>
              </a:spcAft>
            </a:pPr>
            <a:r>
              <a:rPr lang="fr-FR" b="1" i="0">
                <a:solidFill>
                  <a:srgbClr val="328088"/>
                </a:solidFill>
                <a:latin typeface="Calibri"/>
              </a:rPr>
              <a:t>Acquisition de biens</a:t>
            </a:r>
          </a:p>
          <a:p>
            <a:pPr algn="l">
              <a:spcAft>
                <a:spcPts val="200"/>
              </a:spcAft>
            </a:pPr>
            <a:r>
              <a:rPr lang="fr-FR" sz="1600" b="0">
                <a:solidFill>
                  <a:srgbClr val="1A1A1A"/>
                </a:solidFill>
                <a:latin typeface="Calibri"/>
              </a:rPr>
              <a:t>• </a:t>
            </a:r>
            <a:r>
              <a:rPr lang="fr-FR" sz="1600" b="0" i="0">
                <a:solidFill>
                  <a:srgbClr val="1A1A1A"/>
                </a:solidFill>
                <a:latin typeface="Calibri"/>
              </a:rPr>
              <a:t>Expropriation / acquisition amiable de biens exposés à un risque naturel majeur</a:t>
            </a:r>
          </a:p>
          <a:p>
            <a:pPr algn="l">
              <a:spcAft>
                <a:spcPts val="200"/>
              </a:spcAft>
            </a:pPr>
            <a:r>
              <a:rPr lang="fr-FR" sz="1600" b="0">
                <a:solidFill>
                  <a:srgbClr val="1A1A1A"/>
                </a:solidFill>
                <a:latin typeface="Calibri"/>
              </a:rPr>
              <a:t>• </a:t>
            </a:r>
            <a:r>
              <a:rPr lang="fr-FR" sz="1600" b="0" i="0">
                <a:solidFill>
                  <a:srgbClr val="1A1A1A"/>
                </a:solidFill>
                <a:latin typeface="Calibri"/>
              </a:rPr>
              <a:t>Acquisition amiable de biens sinistrés à plus de 50 % par une catastrophe naturelle</a:t>
            </a:r>
          </a:p>
          <a:p>
            <a:pPr algn="l">
              <a:spcAft>
                <a:spcPts val="1200"/>
              </a:spcAft>
            </a:pPr>
            <a:r>
              <a:rPr lang="fr-FR" sz="1600" b="0">
                <a:solidFill>
                  <a:srgbClr val="1A1A1A"/>
                </a:solidFill>
                <a:latin typeface="Calibri"/>
              </a:rPr>
              <a:t>• </a:t>
            </a:r>
            <a:r>
              <a:rPr lang="fr-FR" sz="1600" b="0" i="0">
                <a:solidFill>
                  <a:srgbClr val="1A1A1A"/>
                </a:solidFill>
                <a:latin typeface="Calibri"/>
              </a:rPr>
              <a:t>Relogements temporaires</a:t>
            </a:r>
          </a:p>
          <a:p>
            <a:pPr algn="l">
              <a:spcAft>
                <a:spcPts val="400"/>
              </a:spcAft>
            </a:pPr>
            <a:r>
              <a:rPr lang="fr-FR" b="1" i="0">
                <a:solidFill>
                  <a:srgbClr val="328088"/>
                </a:solidFill>
                <a:latin typeface="Calibri"/>
              </a:rPr>
              <a:t>Prévention et planification</a:t>
            </a:r>
          </a:p>
          <a:p>
            <a:pPr algn="l">
              <a:spcAft>
                <a:spcPts val="200"/>
              </a:spcAft>
            </a:pPr>
            <a:r>
              <a:rPr lang="fr-FR" sz="1600" b="0">
                <a:solidFill>
                  <a:srgbClr val="1A1A1A"/>
                </a:solidFill>
                <a:latin typeface="Calibri"/>
              </a:rPr>
              <a:t>• </a:t>
            </a:r>
            <a:r>
              <a:rPr lang="fr-FR" sz="1600" b="0" i="0">
                <a:solidFill>
                  <a:srgbClr val="1A1A1A"/>
                </a:solidFill>
                <a:latin typeface="Calibri"/>
              </a:rPr>
              <a:t>Études et travaux imposés par un PPR</a:t>
            </a:r>
          </a:p>
          <a:p>
            <a:pPr algn="l">
              <a:spcAft>
                <a:spcPts val="200"/>
              </a:spcAft>
            </a:pPr>
            <a:r>
              <a:rPr lang="fr-FR" sz="1600" b="0">
                <a:solidFill>
                  <a:srgbClr val="1A1A1A"/>
                </a:solidFill>
                <a:latin typeface="Calibri"/>
              </a:rPr>
              <a:t>• </a:t>
            </a:r>
            <a:r>
              <a:rPr lang="fr-FR" sz="1600" b="0" i="0">
                <a:solidFill>
                  <a:srgbClr val="1A1A1A"/>
                </a:solidFill>
                <a:latin typeface="Calibri"/>
              </a:rPr>
              <a:t>Diagnostic et travaux dans le cadre d'un PAPI</a:t>
            </a:r>
          </a:p>
          <a:p>
            <a:pPr algn="l">
              <a:spcAft>
                <a:spcPts val="200"/>
              </a:spcAft>
            </a:pPr>
            <a:r>
              <a:rPr lang="fr-FR" sz="1600" b="0">
                <a:solidFill>
                  <a:srgbClr val="1A1A1A"/>
                </a:solidFill>
                <a:latin typeface="Calibri"/>
              </a:rPr>
              <a:t>• </a:t>
            </a:r>
            <a:r>
              <a:rPr lang="fr-FR" sz="1600" b="0" i="0">
                <a:solidFill>
                  <a:srgbClr val="1A1A1A"/>
                </a:solidFill>
                <a:latin typeface="Calibri"/>
              </a:rPr>
              <a:t>Dépenses de préparation et d'élaboration des PPR</a:t>
            </a:r>
          </a:p>
          <a:p>
            <a:pPr algn="l">
              <a:spcAft>
                <a:spcPts val="200"/>
              </a:spcAft>
            </a:pPr>
            <a:r>
              <a:rPr lang="fr-FR" sz="1600" b="0">
                <a:solidFill>
                  <a:srgbClr val="1A1A1A"/>
                </a:solidFill>
                <a:latin typeface="Calibri"/>
              </a:rPr>
              <a:t>• </a:t>
            </a:r>
            <a:r>
              <a:rPr lang="fr-FR" sz="1600" b="0" i="0">
                <a:solidFill>
                  <a:srgbClr val="1A1A1A"/>
                </a:solidFill>
                <a:latin typeface="Calibri"/>
              </a:rPr>
              <a:t>Mise en œuvre de la directive inondation</a:t>
            </a:r>
          </a:p>
          <a:p>
            <a:pPr algn="l">
              <a:spcAft>
                <a:spcPts val="200"/>
              </a:spcAft>
            </a:pPr>
            <a:r>
              <a:rPr lang="fr-FR" sz="1600" b="0">
                <a:solidFill>
                  <a:srgbClr val="1A1A1A"/>
                </a:solidFill>
                <a:latin typeface="Calibri"/>
              </a:rPr>
              <a:t>• </a:t>
            </a:r>
            <a:r>
              <a:rPr lang="fr-FR" sz="1600" b="0" i="0">
                <a:solidFill>
                  <a:srgbClr val="1A1A1A"/>
                </a:solidFill>
                <a:latin typeface="Calibri"/>
              </a:rPr>
              <a:t>Travaux sur systèmes d'endiguement et aménagements hydrauliques</a:t>
            </a:r>
          </a:p>
          <a:p>
            <a:pPr algn="l"/>
            <a:r>
              <a:rPr lang="fr-FR" sz="1600" b="0">
                <a:solidFill>
                  <a:srgbClr val="1A1A1A"/>
                </a:solidFill>
                <a:latin typeface="Calibri"/>
              </a:rPr>
              <a:t>• </a:t>
            </a:r>
            <a:r>
              <a:rPr lang="fr-FR" sz="1600" b="0" i="0">
                <a:solidFill>
                  <a:srgbClr val="1A1A1A"/>
                </a:solidFill>
                <a:latin typeface="Calibri"/>
              </a:rPr>
              <a:t>Plan séisme Antilles (PSA) sur établissements stratégiques</a:t>
            </a:r>
          </a:p>
        </p:txBody>
      </p:sp>
      <p:sp>
        <p:nvSpPr>
          <p:cNvPr id="12" name="Rectangle 11"/>
          <p:cNvSpPr/>
          <p:nvPr/>
        </p:nvSpPr>
        <p:spPr>
          <a:xfrm>
            <a:off x="7589520" y="1188720"/>
            <a:ext cx="4206240" cy="502920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3" name="TextBox 12"/>
          <p:cNvSpPr txBox="1"/>
          <p:nvPr/>
        </p:nvSpPr>
        <p:spPr>
          <a:xfrm>
            <a:off x="7772400" y="1325880"/>
            <a:ext cx="3931920" cy="2913618"/>
          </a:xfrm>
          <a:prstGeom prst="rect">
            <a:avLst/>
          </a:prstGeom>
          <a:noFill/>
        </p:spPr>
        <p:txBody>
          <a:bodyPr wrap="square" lIns="0" tIns="0" rIns="0" bIns="0" anchor="t">
            <a:spAutoFit/>
          </a:bodyPr>
          <a:lstStyle/>
          <a:p>
            <a:pPr algn="l">
              <a:spcAft>
                <a:spcPts val="800"/>
              </a:spcAft>
            </a:pPr>
            <a:r>
              <a:rPr lang="fr-FR" sz="1400" b="1" i="0">
                <a:solidFill>
                  <a:srgbClr val="FFFFFF"/>
                </a:solidFill>
                <a:latin typeface="Calibri"/>
              </a:rPr>
              <a:t>Qui peut en bénéficier ?</a:t>
            </a:r>
          </a:p>
          <a:p>
            <a:pPr algn="l">
              <a:spcAft>
                <a:spcPts val="400"/>
              </a:spcAft>
            </a:pPr>
            <a:r>
              <a:rPr lang="fr-FR" sz="1200" b="0">
                <a:solidFill>
                  <a:srgbClr val="FFFFFF"/>
                </a:solidFill>
                <a:latin typeface="Calibri"/>
              </a:rPr>
              <a:t>• </a:t>
            </a:r>
            <a:r>
              <a:rPr lang="fr-FR" sz="1200" b="0" i="0">
                <a:solidFill>
                  <a:srgbClr val="FFFFFF"/>
                </a:solidFill>
                <a:latin typeface="Calibri"/>
              </a:rPr>
              <a:t>Collectivités territoriales</a:t>
            </a:r>
          </a:p>
          <a:p>
            <a:pPr algn="l">
              <a:spcAft>
                <a:spcPts val="400"/>
              </a:spcAft>
            </a:pPr>
            <a:r>
              <a:rPr lang="fr-FR" sz="1200" b="0">
                <a:solidFill>
                  <a:srgbClr val="FFFFFF"/>
                </a:solidFill>
                <a:latin typeface="Calibri"/>
              </a:rPr>
              <a:t>• </a:t>
            </a:r>
            <a:r>
              <a:rPr lang="fr-FR" sz="1200" b="0" i="0">
                <a:solidFill>
                  <a:srgbClr val="FFFFFF"/>
                </a:solidFill>
                <a:latin typeface="Calibri"/>
              </a:rPr>
              <a:t>Petites entreprises</a:t>
            </a:r>
          </a:p>
          <a:p>
            <a:pPr algn="l">
              <a:spcAft>
                <a:spcPts val="400"/>
              </a:spcAft>
            </a:pPr>
            <a:r>
              <a:rPr lang="fr-FR" sz="1200" b="0">
                <a:solidFill>
                  <a:srgbClr val="FFFFFF"/>
                </a:solidFill>
                <a:latin typeface="Calibri"/>
              </a:rPr>
              <a:t>• </a:t>
            </a:r>
            <a:r>
              <a:rPr lang="fr-FR" sz="1200" b="0" i="0">
                <a:solidFill>
                  <a:srgbClr val="FFFFFF"/>
                </a:solidFill>
                <a:latin typeface="Calibri"/>
              </a:rPr>
              <a:t>Particuliers (sous conditions PPR/PAPI)</a:t>
            </a:r>
          </a:p>
          <a:p>
            <a:pPr algn="l">
              <a:spcAft>
                <a:spcPts val="400"/>
              </a:spcAft>
            </a:pPr>
            <a:r>
              <a:rPr lang="fr-FR" sz="1200" b="0">
                <a:solidFill>
                  <a:srgbClr val="FFFFFF"/>
                </a:solidFill>
                <a:latin typeface="Calibri"/>
              </a:rPr>
              <a:t>• </a:t>
            </a:r>
            <a:r>
              <a:rPr lang="fr-FR" sz="1200" b="0" i="0">
                <a:solidFill>
                  <a:srgbClr val="FFFFFF"/>
                </a:solidFill>
                <a:latin typeface="Calibri"/>
              </a:rPr>
              <a:t>Établissements publics fonciers</a:t>
            </a:r>
          </a:p>
          <a:p>
            <a:pPr algn="l">
              <a:spcAft>
                <a:spcPts val="1600"/>
              </a:spcAft>
            </a:pPr>
            <a:r>
              <a:rPr lang="fr-FR" sz="1200" b="0">
                <a:solidFill>
                  <a:srgbClr val="FFFFFF"/>
                </a:solidFill>
                <a:latin typeface="Calibri"/>
              </a:rPr>
              <a:t>• </a:t>
            </a:r>
            <a:r>
              <a:rPr lang="fr-FR" sz="1200" b="0" i="0">
                <a:solidFill>
                  <a:srgbClr val="FFFFFF"/>
                </a:solidFill>
                <a:latin typeface="Calibri"/>
              </a:rPr>
              <a:t>Services de l'État</a:t>
            </a:r>
          </a:p>
          <a:p>
            <a:pPr algn="l">
              <a:spcAft>
                <a:spcPts val="400"/>
              </a:spcAft>
            </a:pPr>
            <a:r>
              <a:rPr lang="fr-FR" sz="1400" b="1" i="0">
                <a:solidFill>
                  <a:srgbClr val="FFFFFF"/>
                </a:solidFill>
                <a:latin typeface="Calibri"/>
              </a:rPr>
              <a:t>Instruction des demandes</a:t>
            </a:r>
          </a:p>
          <a:p>
            <a:pPr algn="l">
              <a:spcAft>
                <a:spcPts val="1600"/>
              </a:spcAft>
            </a:pPr>
            <a:r>
              <a:rPr lang="fr-FR" sz="1200" b="0" i="0">
                <a:solidFill>
                  <a:srgbClr val="FFFFFF"/>
                </a:solidFill>
                <a:latin typeface="Calibri"/>
              </a:rPr>
              <a:t>Préfet de département via la DDT(M).</a:t>
            </a:r>
          </a:p>
          <a:p>
            <a:pPr algn="l">
              <a:spcAft>
                <a:spcPts val="400"/>
              </a:spcAft>
            </a:pPr>
            <a:r>
              <a:rPr lang="fr-FR" sz="1400" b="1" i="0">
                <a:solidFill>
                  <a:srgbClr val="FFFFFF"/>
                </a:solidFill>
                <a:latin typeface="Calibri"/>
              </a:rPr>
              <a:t>À retenir</a:t>
            </a:r>
          </a:p>
          <a:p>
            <a:pPr algn="l"/>
            <a:r>
              <a:rPr lang="fr-FR" sz="1100" b="0" i="1">
                <a:solidFill>
                  <a:srgbClr val="FFFFFF"/>
                </a:solidFill>
                <a:latin typeface="Calibri"/>
              </a:rPr>
              <a:t>Ne couvre pas les infrastructures de transport (route, rail) ni les réseaux — relèvent d'autres dispositifs.</a:t>
            </a:r>
          </a:p>
        </p:txBody>
      </p:sp>
      <p:sp>
        <p:nvSpPr>
          <p:cNvPr id="3" name="Espace réservé du numéro de diapositive 2">
            <a:extLst>
              <a:ext uri="{FF2B5EF4-FFF2-40B4-BE49-F238E27FC236}">
                <a16:creationId xmlns:a16="http://schemas.microsoft.com/office/drawing/2014/main" id="{85BF7A66-2AC0-433B-81F9-F91774CBCEF2}"/>
              </a:ext>
            </a:extLst>
          </p:cNvPr>
          <p:cNvSpPr>
            <a:spLocks noGrp="1"/>
          </p:cNvSpPr>
          <p:nvPr>
            <p:ph type="sldNum" sz="quarter" idx="4"/>
          </p:nvPr>
        </p:nvSpPr>
        <p:spPr/>
        <p:txBody>
          <a:bodyPr/>
          <a:lstStyle/>
          <a:p>
            <a:fld id="{9981E6DC-ACA4-4CC4-B142-EC9DBA1C6CBA}" type="slidenum">
              <a:rPr lang="en-US" smtClean="0"/>
              <a:pPr/>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Évolution de la politique publique — frise chronologique</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914400" y="3218688"/>
            <a:ext cx="9966960" cy="329184"/>
          </a:xfrm>
          <a:prstGeom prst="rect">
            <a:avLst/>
          </a:prstGeom>
          <a:solidFill>
            <a:srgbClr val="6B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400"/>
          </a:p>
        </p:txBody>
      </p:sp>
      <p:sp>
        <p:nvSpPr>
          <p:cNvPr id="12" name="Right Arrow 11"/>
          <p:cNvSpPr/>
          <p:nvPr/>
        </p:nvSpPr>
        <p:spPr>
          <a:xfrm>
            <a:off x="10789920" y="3090672"/>
            <a:ext cx="548640" cy="585216"/>
          </a:xfrm>
          <a:prstGeom prst="rightArrow">
            <a:avLst/>
          </a:prstGeom>
          <a:solidFill>
            <a:srgbClr val="6BA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400"/>
          </a:p>
        </p:txBody>
      </p:sp>
      <p:cxnSp>
        <p:nvCxnSpPr>
          <p:cNvPr id="13" name="Connector 12"/>
          <p:cNvCxnSpPr/>
          <p:nvPr/>
        </p:nvCxnSpPr>
        <p:spPr>
          <a:xfrm>
            <a:off x="1280160" y="3154680"/>
            <a:ext cx="0" cy="457200"/>
          </a:xfrm>
          <a:prstGeom prst="line">
            <a:avLst/>
          </a:prstGeom>
          <a:ln w="19050">
            <a:solidFill>
              <a:srgbClr val="1E2D5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2959" y="3351610"/>
            <a:ext cx="914400" cy="246221"/>
          </a:xfrm>
          <a:prstGeom prst="rect">
            <a:avLst/>
          </a:prstGeom>
          <a:noFill/>
        </p:spPr>
        <p:txBody>
          <a:bodyPr wrap="square" lIns="0" tIns="0" rIns="0" bIns="0" anchor="ctr">
            <a:spAutoFit/>
          </a:bodyPr>
          <a:lstStyle/>
          <a:p>
            <a:pPr algn="ctr"/>
            <a:r>
              <a:rPr lang="fr-FR" sz="1600" b="1" i="0">
                <a:solidFill>
                  <a:srgbClr val="FFFFFF"/>
                </a:solidFill>
                <a:latin typeface="Calibri"/>
              </a:rPr>
              <a:t>1982</a:t>
            </a:r>
          </a:p>
        </p:txBody>
      </p:sp>
      <p:sp>
        <p:nvSpPr>
          <p:cNvPr id="15" name="TextBox 14"/>
          <p:cNvSpPr txBox="1"/>
          <p:nvPr/>
        </p:nvSpPr>
        <p:spPr>
          <a:xfrm>
            <a:off x="640080" y="2770406"/>
            <a:ext cx="1280160" cy="338554"/>
          </a:xfrm>
          <a:prstGeom prst="rect">
            <a:avLst/>
          </a:prstGeom>
          <a:noFill/>
        </p:spPr>
        <p:txBody>
          <a:bodyPr wrap="square" lIns="0" tIns="0" rIns="0" bIns="0" anchor="b">
            <a:spAutoFit/>
          </a:bodyPr>
          <a:lstStyle/>
          <a:p>
            <a:pPr algn="ctr"/>
            <a:r>
              <a:rPr lang="fr-FR" sz="1100" b="1" i="0">
                <a:solidFill>
                  <a:srgbClr val="1E2D5C"/>
                </a:solidFill>
                <a:latin typeface="Calibri"/>
              </a:rPr>
              <a:t>Dispositif
CatNat</a:t>
            </a:r>
          </a:p>
        </p:txBody>
      </p:sp>
      <p:cxnSp>
        <p:nvCxnSpPr>
          <p:cNvPr id="16" name="Connector 15"/>
          <p:cNvCxnSpPr/>
          <p:nvPr/>
        </p:nvCxnSpPr>
        <p:spPr>
          <a:xfrm>
            <a:off x="2231136" y="3154680"/>
            <a:ext cx="0" cy="457200"/>
          </a:xfrm>
          <a:prstGeom prst="line">
            <a:avLst/>
          </a:prstGeom>
          <a:ln w="19050">
            <a:solidFill>
              <a:srgbClr val="1E2D5C"/>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773936" y="3351610"/>
            <a:ext cx="914400" cy="246221"/>
          </a:xfrm>
          <a:prstGeom prst="rect">
            <a:avLst/>
          </a:prstGeom>
          <a:noFill/>
        </p:spPr>
        <p:txBody>
          <a:bodyPr wrap="square" lIns="0" tIns="0" rIns="0" bIns="0" anchor="ctr">
            <a:spAutoFit/>
          </a:bodyPr>
          <a:lstStyle/>
          <a:p>
            <a:pPr algn="ctr"/>
            <a:r>
              <a:rPr lang="fr-FR" sz="1600" b="1" i="0">
                <a:solidFill>
                  <a:srgbClr val="FFFFFF"/>
                </a:solidFill>
                <a:latin typeface="Calibri"/>
              </a:rPr>
              <a:t>1995</a:t>
            </a:r>
          </a:p>
        </p:txBody>
      </p:sp>
      <p:sp>
        <p:nvSpPr>
          <p:cNvPr id="18" name="TextBox 17"/>
          <p:cNvSpPr txBox="1"/>
          <p:nvPr/>
        </p:nvSpPr>
        <p:spPr>
          <a:xfrm>
            <a:off x="1591056" y="3749040"/>
            <a:ext cx="1280160" cy="338554"/>
          </a:xfrm>
          <a:prstGeom prst="rect">
            <a:avLst/>
          </a:prstGeom>
          <a:noFill/>
        </p:spPr>
        <p:txBody>
          <a:bodyPr wrap="square" lIns="0" tIns="0" rIns="0" bIns="0" anchor="t">
            <a:spAutoFit/>
          </a:bodyPr>
          <a:lstStyle/>
          <a:p>
            <a:pPr algn="ctr"/>
            <a:r>
              <a:rPr lang="fr-FR" sz="1100" b="1" i="0">
                <a:solidFill>
                  <a:srgbClr val="1E2D5C"/>
                </a:solidFill>
                <a:latin typeface="Calibri"/>
              </a:rPr>
              <a:t>Loi Barnier
PPRN + FPRNM</a:t>
            </a:r>
          </a:p>
        </p:txBody>
      </p:sp>
      <p:cxnSp>
        <p:nvCxnSpPr>
          <p:cNvPr id="19" name="Connector 18"/>
          <p:cNvCxnSpPr/>
          <p:nvPr/>
        </p:nvCxnSpPr>
        <p:spPr>
          <a:xfrm>
            <a:off x="3182112" y="3154680"/>
            <a:ext cx="0" cy="457200"/>
          </a:xfrm>
          <a:prstGeom prst="line">
            <a:avLst/>
          </a:prstGeom>
          <a:ln w="19050">
            <a:solidFill>
              <a:srgbClr val="1E2D5C"/>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724912" y="3351610"/>
            <a:ext cx="914400" cy="246221"/>
          </a:xfrm>
          <a:prstGeom prst="rect">
            <a:avLst/>
          </a:prstGeom>
          <a:noFill/>
        </p:spPr>
        <p:txBody>
          <a:bodyPr wrap="square" lIns="0" tIns="0" rIns="0" bIns="0" anchor="ctr">
            <a:spAutoFit/>
          </a:bodyPr>
          <a:lstStyle/>
          <a:p>
            <a:pPr algn="ctr"/>
            <a:r>
              <a:rPr lang="fr-FR" sz="1600" b="1" i="0">
                <a:solidFill>
                  <a:srgbClr val="FFFFFF"/>
                </a:solidFill>
                <a:latin typeface="Calibri"/>
              </a:rPr>
              <a:t>2002</a:t>
            </a:r>
          </a:p>
        </p:txBody>
      </p:sp>
      <p:sp>
        <p:nvSpPr>
          <p:cNvPr id="21" name="TextBox 20"/>
          <p:cNvSpPr txBox="1"/>
          <p:nvPr/>
        </p:nvSpPr>
        <p:spPr>
          <a:xfrm>
            <a:off x="2542032" y="2939683"/>
            <a:ext cx="1280160" cy="169277"/>
          </a:xfrm>
          <a:prstGeom prst="rect">
            <a:avLst/>
          </a:prstGeom>
          <a:noFill/>
        </p:spPr>
        <p:txBody>
          <a:bodyPr wrap="square" lIns="0" tIns="0" rIns="0" bIns="0" anchor="b">
            <a:spAutoFit/>
          </a:bodyPr>
          <a:lstStyle/>
          <a:p>
            <a:pPr algn="ctr"/>
            <a:r>
              <a:rPr lang="fr-FR" sz="1100" b="1" i="0">
                <a:solidFill>
                  <a:srgbClr val="1E2D5C"/>
                </a:solidFill>
                <a:latin typeface="Calibri"/>
              </a:rPr>
              <a:t>PAPI</a:t>
            </a:r>
          </a:p>
        </p:txBody>
      </p:sp>
      <p:cxnSp>
        <p:nvCxnSpPr>
          <p:cNvPr id="22" name="Connector 21"/>
          <p:cNvCxnSpPr/>
          <p:nvPr/>
        </p:nvCxnSpPr>
        <p:spPr>
          <a:xfrm>
            <a:off x="4133087" y="3154680"/>
            <a:ext cx="0" cy="457200"/>
          </a:xfrm>
          <a:prstGeom prst="line">
            <a:avLst/>
          </a:prstGeom>
          <a:ln w="19050">
            <a:solidFill>
              <a:srgbClr val="1E2D5C"/>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675887" y="3351610"/>
            <a:ext cx="914400" cy="246221"/>
          </a:xfrm>
          <a:prstGeom prst="rect">
            <a:avLst/>
          </a:prstGeom>
          <a:noFill/>
        </p:spPr>
        <p:txBody>
          <a:bodyPr wrap="square" lIns="0" tIns="0" rIns="0" bIns="0" anchor="ctr">
            <a:spAutoFit/>
          </a:bodyPr>
          <a:lstStyle/>
          <a:p>
            <a:pPr algn="ctr"/>
            <a:r>
              <a:rPr lang="fr-FR" sz="1600" b="1" i="0">
                <a:solidFill>
                  <a:srgbClr val="FFFFFF"/>
                </a:solidFill>
                <a:latin typeface="Calibri"/>
              </a:rPr>
              <a:t>2007</a:t>
            </a:r>
          </a:p>
        </p:txBody>
      </p:sp>
      <p:sp>
        <p:nvSpPr>
          <p:cNvPr id="24" name="TextBox 23"/>
          <p:cNvSpPr txBox="1"/>
          <p:nvPr/>
        </p:nvSpPr>
        <p:spPr>
          <a:xfrm>
            <a:off x="3493007" y="3749040"/>
            <a:ext cx="1280160" cy="338554"/>
          </a:xfrm>
          <a:prstGeom prst="rect">
            <a:avLst/>
          </a:prstGeom>
          <a:noFill/>
        </p:spPr>
        <p:txBody>
          <a:bodyPr wrap="square" lIns="0" tIns="0" rIns="0" bIns="0" anchor="t">
            <a:spAutoFit/>
          </a:bodyPr>
          <a:lstStyle/>
          <a:p>
            <a:pPr algn="ctr"/>
            <a:r>
              <a:rPr lang="fr-FR" sz="1100" b="1" i="0">
                <a:solidFill>
                  <a:srgbClr val="1E2D5C"/>
                </a:solidFill>
                <a:latin typeface="Calibri"/>
              </a:rPr>
              <a:t>Directive
inondation</a:t>
            </a:r>
          </a:p>
        </p:txBody>
      </p:sp>
      <p:cxnSp>
        <p:nvCxnSpPr>
          <p:cNvPr id="25" name="Connector 24"/>
          <p:cNvCxnSpPr/>
          <p:nvPr/>
        </p:nvCxnSpPr>
        <p:spPr>
          <a:xfrm>
            <a:off x="5084064" y="3154680"/>
            <a:ext cx="0" cy="457200"/>
          </a:xfrm>
          <a:prstGeom prst="line">
            <a:avLst/>
          </a:prstGeom>
          <a:ln w="19050">
            <a:solidFill>
              <a:srgbClr val="1E2D5C"/>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626864" y="3351610"/>
            <a:ext cx="914400" cy="246221"/>
          </a:xfrm>
          <a:prstGeom prst="rect">
            <a:avLst/>
          </a:prstGeom>
          <a:noFill/>
        </p:spPr>
        <p:txBody>
          <a:bodyPr wrap="square" lIns="0" tIns="0" rIns="0" bIns="0" anchor="ctr">
            <a:spAutoFit/>
          </a:bodyPr>
          <a:lstStyle/>
          <a:p>
            <a:pPr algn="ctr"/>
            <a:r>
              <a:rPr lang="fr-FR" sz="1600" b="1" i="0">
                <a:solidFill>
                  <a:srgbClr val="FFFFFF"/>
                </a:solidFill>
                <a:latin typeface="Calibri"/>
              </a:rPr>
              <a:t>2010</a:t>
            </a:r>
          </a:p>
        </p:txBody>
      </p:sp>
      <p:sp>
        <p:nvSpPr>
          <p:cNvPr id="27" name="TextBox 26"/>
          <p:cNvSpPr txBox="1"/>
          <p:nvPr/>
        </p:nvSpPr>
        <p:spPr>
          <a:xfrm>
            <a:off x="4443984" y="2770406"/>
            <a:ext cx="1280160" cy="338554"/>
          </a:xfrm>
          <a:prstGeom prst="rect">
            <a:avLst/>
          </a:prstGeom>
          <a:noFill/>
        </p:spPr>
        <p:txBody>
          <a:bodyPr wrap="square" lIns="0" tIns="0" rIns="0" bIns="0" anchor="b">
            <a:spAutoFit/>
          </a:bodyPr>
          <a:lstStyle/>
          <a:p>
            <a:pPr algn="ctr"/>
            <a:r>
              <a:rPr lang="fr-FR" sz="1100" b="1" i="0">
                <a:solidFill>
                  <a:srgbClr val="1E2D5C"/>
                </a:solidFill>
                <a:latin typeface="Calibri"/>
              </a:rPr>
              <a:t>Tempête
Xynthia</a:t>
            </a:r>
          </a:p>
        </p:txBody>
      </p:sp>
      <p:cxnSp>
        <p:nvCxnSpPr>
          <p:cNvPr id="28" name="Connector 27"/>
          <p:cNvCxnSpPr/>
          <p:nvPr/>
        </p:nvCxnSpPr>
        <p:spPr>
          <a:xfrm>
            <a:off x="6035040" y="3154680"/>
            <a:ext cx="0" cy="457200"/>
          </a:xfrm>
          <a:prstGeom prst="line">
            <a:avLst/>
          </a:prstGeom>
          <a:ln w="19050">
            <a:solidFill>
              <a:srgbClr val="1E2D5C"/>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577840" y="3351610"/>
            <a:ext cx="914400" cy="246221"/>
          </a:xfrm>
          <a:prstGeom prst="rect">
            <a:avLst/>
          </a:prstGeom>
          <a:noFill/>
        </p:spPr>
        <p:txBody>
          <a:bodyPr wrap="square" lIns="0" tIns="0" rIns="0" bIns="0" anchor="ctr">
            <a:spAutoFit/>
          </a:bodyPr>
          <a:lstStyle/>
          <a:p>
            <a:pPr algn="ctr"/>
            <a:r>
              <a:rPr lang="fr-FR" sz="1600" b="1" i="0">
                <a:solidFill>
                  <a:srgbClr val="FFFFFF"/>
                </a:solidFill>
                <a:latin typeface="Calibri"/>
              </a:rPr>
              <a:t>2011</a:t>
            </a:r>
          </a:p>
        </p:txBody>
      </p:sp>
      <p:sp>
        <p:nvSpPr>
          <p:cNvPr id="30" name="TextBox 29"/>
          <p:cNvSpPr txBox="1"/>
          <p:nvPr/>
        </p:nvSpPr>
        <p:spPr>
          <a:xfrm>
            <a:off x="5394959" y="3749040"/>
            <a:ext cx="1280160" cy="338554"/>
          </a:xfrm>
          <a:prstGeom prst="rect">
            <a:avLst/>
          </a:prstGeom>
          <a:noFill/>
        </p:spPr>
        <p:txBody>
          <a:bodyPr wrap="square" lIns="0" tIns="0" rIns="0" bIns="0" anchor="t">
            <a:spAutoFit/>
          </a:bodyPr>
          <a:lstStyle/>
          <a:p>
            <a:pPr algn="ctr"/>
            <a:r>
              <a:rPr lang="fr-FR" sz="1100" b="1" i="0">
                <a:solidFill>
                  <a:srgbClr val="1E2D5C"/>
                </a:solidFill>
                <a:latin typeface="Calibri"/>
              </a:rPr>
              <a:t>Plan submersions
rapides</a:t>
            </a:r>
          </a:p>
        </p:txBody>
      </p:sp>
      <p:cxnSp>
        <p:nvCxnSpPr>
          <p:cNvPr id="31" name="Connector 30"/>
          <p:cNvCxnSpPr/>
          <p:nvPr/>
        </p:nvCxnSpPr>
        <p:spPr>
          <a:xfrm>
            <a:off x="6986016" y="3154680"/>
            <a:ext cx="0" cy="457200"/>
          </a:xfrm>
          <a:prstGeom prst="line">
            <a:avLst/>
          </a:prstGeom>
          <a:ln w="19050">
            <a:solidFill>
              <a:srgbClr val="1E2D5C"/>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528816" y="3351610"/>
            <a:ext cx="914400" cy="246221"/>
          </a:xfrm>
          <a:prstGeom prst="rect">
            <a:avLst/>
          </a:prstGeom>
          <a:noFill/>
        </p:spPr>
        <p:txBody>
          <a:bodyPr wrap="square" lIns="0" tIns="0" rIns="0" bIns="0" anchor="ctr">
            <a:spAutoFit/>
          </a:bodyPr>
          <a:lstStyle/>
          <a:p>
            <a:pPr algn="ctr"/>
            <a:r>
              <a:rPr lang="fr-FR" sz="1600" b="1" i="0">
                <a:solidFill>
                  <a:srgbClr val="FFFFFF"/>
                </a:solidFill>
                <a:latin typeface="Calibri"/>
              </a:rPr>
              <a:t>2014</a:t>
            </a:r>
          </a:p>
        </p:txBody>
      </p:sp>
      <p:sp>
        <p:nvSpPr>
          <p:cNvPr id="33" name="TextBox 32"/>
          <p:cNvSpPr txBox="1"/>
          <p:nvPr/>
        </p:nvSpPr>
        <p:spPr>
          <a:xfrm>
            <a:off x="6345936" y="2939683"/>
            <a:ext cx="1280160" cy="169277"/>
          </a:xfrm>
          <a:prstGeom prst="rect">
            <a:avLst/>
          </a:prstGeom>
          <a:noFill/>
        </p:spPr>
        <p:txBody>
          <a:bodyPr wrap="square" lIns="0" tIns="0" rIns="0" bIns="0" anchor="b">
            <a:spAutoFit/>
          </a:bodyPr>
          <a:lstStyle/>
          <a:p>
            <a:pPr algn="ctr"/>
            <a:r>
              <a:rPr lang="fr-FR" sz="1100" b="1" i="0">
                <a:solidFill>
                  <a:srgbClr val="1E2D5C"/>
                </a:solidFill>
                <a:latin typeface="Calibri"/>
              </a:rPr>
              <a:t>SNGRI</a:t>
            </a:r>
          </a:p>
        </p:txBody>
      </p:sp>
      <p:cxnSp>
        <p:nvCxnSpPr>
          <p:cNvPr id="34" name="Connector 33"/>
          <p:cNvCxnSpPr/>
          <p:nvPr/>
        </p:nvCxnSpPr>
        <p:spPr>
          <a:xfrm>
            <a:off x="7936992" y="3154680"/>
            <a:ext cx="0" cy="457200"/>
          </a:xfrm>
          <a:prstGeom prst="line">
            <a:avLst/>
          </a:prstGeom>
          <a:ln w="19050">
            <a:solidFill>
              <a:srgbClr val="1E2D5C"/>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479792" y="3351610"/>
            <a:ext cx="914400" cy="246221"/>
          </a:xfrm>
          <a:prstGeom prst="rect">
            <a:avLst/>
          </a:prstGeom>
          <a:noFill/>
        </p:spPr>
        <p:txBody>
          <a:bodyPr wrap="square" lIns="0" tIns="0" rIns="0" bIns="0" anchor="ctr">
            <a:spAutoFit/>
          </a:bodyPr>
          <a:lstStyle/>
          <a:p>
            <a:pPr algn="ctr"/>
            <a:r>
              <a:rPr lang="fr-FR" sz="1600" b="1" i="0">
                <a:solidFill>
                  <a:srgbClr val="FFFFFF"/>
                </a:solidFill>
                <a:latin typeface="Calibri"/>
              </a:rPr>
              <a:t>2018</a:t>
            </a:r>
          </a:p>
        </p:txBody>
      </p:sp>
      <p:sp>
        <p:nvSpPr>
          <p:cNvPr id="36" name="TextBox 35"/>
          <p:cNvSpPr txBox="1"/>
          <p:nvPr/>
        </p:nvSpPr>
        <p:spPr>
          <a:xfrm>
            <a:off x="7296912" y="3749040"/>
            <a:ext cx="1280160" cy="169277"/>
          </a:xfrm>
          <a:prstGeom prst="rect">
            <a:avLst/>
          </a:prstGeom>
          <a:noFill/>
        </p:spPr>
        <p:txBody>
          <a:bodyPr wrap="square" lIns="0" tIns="0" rIns="0" bIns="0" anchor="t">
            <a:spAutoFit/>
          </a:bodyPr>
          <a:lstStyle/>
          <a:p>
            <a:pPr algn="ctr"/>
            <a:r>
              <a:rPr lang="fr-FR" sz="1100" b="1" i="0">
                <a:solidFill>
                  <a:srgbClr val="1E2D5C"/>
                </a:solidFill>
                <a:latin typeface="Calibri"/>
              </a:rPr>
              <a:t>GEMAPI</a:t>
            </a:r>
          </a:p>
        </p:txBody>
      </p:sp>
      <p:cxnSp>
        <p:nvCxnSpPr>
          <p:cNvPr id="37" name="Connector 36"/>
          <p:cNvCxnSpPr/>
          <p:nvPr/>
        </p:nvCxnSpPr>
        <p:spPr>
          <a:xfrm>
            <a:off x="8887968" y="3154680"/>
            <a:ext cx="0" cy="457200"/>
          </a:xfrm>
          <a:prstGeom prst="line">
            <a:avLst/>
          </a:prstGeom>
          <a:ln w="19050">
            <a:solidFill>
              <a:srgbClr val="1E2D5C"/>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8430768" y="3351610"/>
            <a:ext cx="914400" cy="246221"/>
          </a:xfrm>
          <a:prstGeom prst="rect">
            <a:avLst/>
          </a:prstGeom>
          <a:noFill/>
        </p:spPr>
        <p:txBody>
          <a:bodyPr wrap="square" lIns="0" tIns="0" rIns="0" bIns="0" anchor="ctr">
            <a:spAutoFit/>
          </a:bodyPr>
          <a:lstStyle/>
          <a:p>
            <a:pPr algn="ctr"/>
            <a:r>
              <a:rPr lang="fr-FR" sz="1600" b="1" i="0">
                <a:solidFill>
                  <a:srgbClr val="FFFFFF"/>
                </a:solidFill>
                <a:latin typeface="Calibri"/>
              </a:rPr>
              <a:t>2021</a:t>
            </a:r>
          </a:p>
        </p:txBody>
      </p:sp>
      <p:sp>
        <p:nvSpPr>
          <p:cNvPr id="39" name="TextBox 38"/>
          <p:cNvSpPr txBox="1"/>
          <p:nvPr/>
        </p:nvSpPr>
        <p:spPr>
          <a:xfrm>
            <a:off x="8247888" y="2770406"/>
            <a:ext cx="1280160" cy="338554"/>
          </a:xfrm>
          <a:prstGeom prst="rect">
            <a:avLst/>
          </a:prstGeom>
          <a:noFill/>
        </p:spPr>
        <p:txBody>
          <a:bodyPr wrap="square" lIns="0" tIns="0" rIns="0" bIns="0" anchor="b">
            <a:spAutoFit/>
          </a:bodyPr>
          <a:lstStyle/>
          <a:p>
            <a:pPr algn="ctr"/>
            <a:r>
              <a:rPr lang="fr-FR" sz="1100" b="1" i="0">
                <a:solidFill>
                  <a:srgbClr val="1E2D5C"/>
                </a:solidFill>
                <a:latin typeface="Calibri"/>
              </a:rPr>
              <a:t>Loi Climat
et Résilience</a:t>
            </a:r>
          </a:p>
        </p:txBody>
      </p:sp>
      <p:cxnSp>
        <p:nvCxnSpPr>
          <p:cNvPr id="40" name="Connector 39"/>
          <p:cNvCxnSpPr/>
          <p:nvPr/>
        </p:nvCxnSpPr>
        <p:spPr>
          <a:xfrm>
            <a:off x="9838944" y="3154680"/>
            <a:ext cx="0" cy="457200"/>
          </a:xfrm>
          <a:prstGeom prst="line">
            <a:avLst/>
          </a:prstGeom>
          <a:ln w="19050">
            <a:solidFill>
              <a:srgbClr val="1E2D5C"/>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381744" y="3351610"/>
            <a:ext cx="914400" cy="246221"/>
          </a:xfrm>
          <a:prstGeom prst="rect">
            <a:avLst/>
          </a:prstGeom>
          <a:noFill/>
        </p:spPr>
        <p:txBody>
          <a:bodyPr wrap="square" lIns="0" tIns="0" rIns="0" bIns="0" anchor="ctr">
            <a:spAutoFit/>
          </a:bodyPr>
          <a:lstStyle/>
          <a:p>
            <a:pPr algn="ctr"/>
            <a:r>
              <a:rPr lang="fr-FR" sz="1600" b="1" i="0">
                <a:solidFill>
                  <a:srgbClr val="FFFFFF"/>
                </a:solidFill>
                <a:latin typeface="Calibri"/>
              </a:rPr>
              <a:t>2024</a:t>
            </a:r>
          </a:p>
        </p:txBody>
      </p:sp>
      <p:sp>
        <p:nvSpPr>
          <p:cNvPr id="42" name="TextBox 41"/>
          <p:cNvSpPr txBox="1"/>
          <p:nvPr/>
        </p:nvSpPr>
        <p:spPr>
          <a:xfrm>
            <a:off x="9198864" y="3749040"/>
            <a:ext cx="1280160" cy="338554"/>
          </a:xfrm>
          <a:prstGeom prst="rect">
            <a:avLst/>
          </a:prstGeom>
          <a:noFill/>
        </p:spPr>
        <p:txBody>
          <a:bodyPr wrap="square" lIns="0" tIns="0" rIns="0" bIns="0" anchor="t">
            <a:spAutoFit/>
          </a:bodyPr>
          <a:lstStyle/>
          <a:p>
            <a:pPr algn="ctr"/>
            <a:r>
              <a:rPr lang="fr-FR" sz="1100" b="1" i="0">
                <a:solidFill>
                  <a:srgbClr val="1E2D5C"/>
                </a:solidFill>
                <a:latin typeface="Calibri"/>
              </a:rPr>
              <a:t>PNACC-3 (mars 2025)
+ TRACC</a:t>
            </a:r>
          </a:p>
        </p:txBody>
      </p:sp>
      <p:cxnSp>
        <p:nvCxnSpPr>
          <p:cNvPr id="43" name="Connector 42"/>
          <p:cNvCxnSpPr/>
          <p:nvPr/>
        </p:nvCxnSpPr>
        <p:spPr>
          <a:xfrm>
            <a:off x="10789920" y="3154680"/>
            <a:ext cx="0" cy="457200"/>
          </a:xfrm>
          <a:prstGeom prst="line">
            <a:avLst/>
          </a:prstGeom>
          <a:ln w="19050">
            <a:solidFill>
              <a:srgbClr val="1E2D5C"/>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0332720" y="3351610"/>
            <a:ext cx="914400" cy="246221"/>
          </a:xfrm>
          <a:prstGeom prst="rect">
            <a:avLst/>
          </a:prstGeom>
          <a:noFill/>
        </p:spPr>
        <p:txBody>
          <a:bodyPr wrap="square" lIns="0" tIns="0" rIns="0" bIns="0" anchor="ctr">
            <a:spAutoFit/>
          </a:bodyPr>
          <a:lstStyle/>
          <a:p>
            <a:pPr algn="ctr"/>
            <a:r>
              <a:rPr lang="fr-FR" sz="1600" b="1" i="0">
                <a:solidFill>
                  <a:srgbClr val="FFFFFF"/>
                </a:solidFill>
                <a:latin typeface="Calibri"/>
              </a:rPr>
              <a:t>2025</a:t>
            </a:r>
          </a:p>
        </p:txBody>
      </p:sp>
      <p:sp>
        <p:nvSpPr>
          <p:cNvPr id="45" name="TextBox 44"/>
          <p:cNvSpPr txBox="1"/>
          <p:nvPr/>
        </p:nvSpPr>
        <p:spPr>
          <a:xfrm>
            <a:off x="10149840" y="2770406"/>
            <a:ext cx="1280160" cy="338554"/>
          </a:xfrm>
          <a:prstGeom prst="rect">
            <a:avLst/>
          </a:prstGeom>
          <a:noFill/>
        </p:spPr>
        <p:txBody>
          <a:bodyPr wrap="square" lIns="0" tIns="0" rIns="0" bIns="0" anchor="b">
            <a:spAutoFit/>
          </a:bodyPr>
          <a:lstStyle/>
          <a:p>
            <a:pPr algn="ctr"/>
            <a:r>
              <a:rPr lang="fr-FR" sz="1100" b="1" i="0">
                <a:solidFill>
                  <a:srgbClr val="1E2D5C"/>
                </a:solidFill>
                <a:latin typeface="Calibri"/>
              </a:rPr>
              <a:t>Décret 2025-723
rôle des préfets</a:t>
            </a:r>
          </a:p>
        </p:txBody>
      </p:sp>
      <p:sp>
        <p:nvSpPr>
          <p:cNvPr id="46" name="Rectangle 45"/>
          <p:cNvSpPr/>
          <p:nvPr/>
        </p:nvSpPr>
        <p:spPr>
          <a:xfrm>
            <a:off x="457200" y="5532120"/>
            <a:ext cx="10972800" cy="86868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47" name="TextBox 46"/>
          <p:cNvSpPr txBox="1"/>
          <p:nvPr/>
        </p:nvSpPr>
        <p:spPr>
          <a:xfrm>
            <a:off x="640080" y="5623560"/>
            <a:ext cx="10698480" cy="777240"/>
          </a:xfrm>
          <a:prstGeom prst="rect">
            <a:avLst/>
          </a:prstGeom>
          <a:noFill/>
        </p:spPr>
        <p:txBody>
          <a:bodyPr wrap="square" lIns="0" tIns="0" rIns="0" bIns="0" anchor="t">
            <a:spAutoFit/>
          </a:bodyPr>
          <a:lstStyle/>
          <a:p>
            <a:pPr algn="l">
              <a:spcAft>
                <a:spcPts val="200"/>
              </a:spcAft>
            </a:pPr>
            <a:r>
              <a:rPr lang="fr-FR" sz="1100" b="1" i="0">
                <a:solidFill>
                  <a:srgbClr val="328088"/>
                </a:solidFill>
                <a:latin typeface="Calibri"/>
              </a:rPr>
              <a:t>Tendance de fond</a:t>
            </a:r>
          </a:p>
          <a:p>
            <a:pPr algn="l">
              <a:spcAft>
                <a:spcPts val="200"/>
              </a:spcAft>
            </a:pPr>
            <a:r>
              <a:rPr lang="fr-FR" sz="1100" b="0" i="0">
                <a:solidFill>
                  <a:srgbClr val="1A1A1A"/>
                </a:solidFill>
                <a:latin typeface="Calibri"/>
              </a:rPr>
              <a:t>  ·  Élargissement progressif du périmètre  ·  passage d'une logique de protection à une logique de prévention puis de résilience</a:t>
            </a:r>
          </a:p>
          <a:p>
            <a:pPr algn="l">
              <a:spcAft>
                <a:spcPts val="200"/>
              </a:spcAft>
            </a:pPr>
            <a:r>
              <a:rPr lang="fr-FR" sz="1100" b="0" i="0">
                <a:solidFill>
                  <a:srgbClr val="1A1A1A"/>
                </a:solidFill>
                <a:latin typeface="Calibri"/>
              </a:rPr>
              <a:t>  ·  Décentralisation et montée en compétence des collectivités (Gemapi Loi MAPTAM 2014, déploiement 2018)  ·  Intégration explicite du changement climatique (TRACC, PNACC-3)</a:t>
            </a:r>
          </a:p>
          <a:p>
            <a:pPr algn="l"/>
            <a:r>
              <a:rPr lang="fr-FR" sz="1100" b="0" i="0">
                <a:solidFill>
                  <a:srgbClr val="1A1A1A"/>
                </a:solidFill>
                <a:latin typeface="Calibri"/>
              </a:rPr>
              <a:t>  ·  Clarification du rôle territorial de l'État via les préfets (décret 2025-723) avec une approche systémique</a:t>
            </a:r>
          </a:p>
        </p:txBody>
      </p:sp>
      <p:sp>
        <p:nvSpPr>
          <p:cNvPr id="3" name="Espace réservé du numéro de diapositive 2">
            <a:extLst>
              <a:ext uri="{FF2B5EF4-FFF2-40B4-BE49-F238E27FC236}">
                <a16:creationId xmlns:a16="http://schemas.microsoft.com/office/drawing/2014/main" id="{7E8C3B1C-841F-43E4-91A6-816BDCECE73A}"/>
              </a:ext>
            </a:extLst>
          </p:cNvPr>
          <p:cNvSpPr>
            <a:spLocks noGrp="1"/>
          </p:cNvSpPr>
          <p:nvPr>
            <p:ph type="sldNum" sz="quarter" idx="4"/>
          </p:nvPr>
        </p:nvSpPr>
        <p:spPr/>
        <p:txBody>
          <a:bodyPr/>
          <a:lstStyle/>
          <a:p>
            <a:fld id="{9981E6DC-ACA4-4CC4-B142-EC9DBA1C6CBA}" type="slidenum">
              <a:rPr lang="en-US" smtClean="0"/>
              <a:pPr/>
              <a:t>35</a:t>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Loi Climat et Résilience (2021) — un tournant pour le littoral</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1624032"/>
            <a:ext cx="11247120" cy="3877985"/>
          </a:xfrm>
          <a:prstGeom prst="rect">
            <a:avLst/>
          </a:prstGeom>
          <a:noFill/>
        </p:spPr>
        <p:txBody>
          <a:bodyPr wrap="square" lIns="0" tIns="0" rIns="0" bIns="0" anchor="t">
            <a:spAutoFit/>
          </a:bodyPr>
          <a:lstStyle/>
          <a:p>
            <a:pPr algn="l">
              <a:spcAft>
                <a:spcPts val="1400"/>
              </a:spcAft>
            </a:pPr>
            <a:r>
              <a:rPr lang="fr-FR" sz="1600" b="0" i="1">
                <a:solidFill>
                  <a:srgbClr val="404040"/>
                </a:solidFill>
                <a:latin typeface="Calibri"/>
              </a:rPr>
              <a:t>Loi n° 2021-1104 du 22 août 2021 portant lutte contre le dérèglement climatique et renforcement de la résilience face à ses effets</a:t>
            </a:r>
          </a:p>
          <a:p>
            <a:pPr algn="l">
              <a:spcAft>
                <a:spcPts val="800"/>
              </a:spcAft>
            </a:pPr>
            <a:r>
              <a:rPr lang="fr-FR" sz="2000" b="1" i="0">
                <a:solidFill>
                  <a:srgbClr val="328088"/>
                </a:solidFill>
                <a:latin typeface="Calibri"/>
              </a:rPr>
              <a:t>Pour le littoral, deux dispositions structurantes</a:t>
            </a:r>
          </a:p>
          <a:p>
            <a:pPr algn="l">
              <a:spcAft>
                <a:spcPts val="400"/>
              </a:spcAft>
            </a:pPr>
            <a:r>
              <a:rPr lang="fr-FR" b="1" i="0">
                <a:solidFill>
                  <a:srgbClr val="1A1A1A"/>
                </a:solidFill>
                <a:latin typeface="Calibri"/>
              </a:rPr>
              <a:t>1.  Reconnaissance de l'érosion côtière comme phénomène spécifique (article 248)</a:t>
            </a:r>
          </a:p>
          <a:p>
            <a:pPr algn="l">
              <a:spcAft>
                <a:spcPts val="1200"/>
              </a:spcAft>
            </a:pPr>
            <a:r>
              <a:rPr lang="fr-FR" sz="1600" b="0" i="0">
                <a:solidFill>
                  <a:srgbClr val="1A1A1A"/>
                </a:solidFill>
                <a:latin typeface="Calibri"/>
              </a:rPr>
              <a:t>Liste de communes les plus exposées au recul du trait de côte (révisée tous les 9 ans). 126 communes inscrites au décret du 29 avril 2022 ; révision permanente : 371 aujourd’hui. Ces communes intègrent le phénomène dans leur PLU(i) via une carte locale d'exposition.</a:t>
            </a:r>
          </a:p>
          <a:p>
            <a:pPr algn="l">
              <a:spcAft>
                <a:spcPts val="400"/>
              </a:spcAft>
            </a:pPr>
            <a:r>
              <a:rPr lang="fr-FR" b="1" i="0">
                <a:solidFill>
                  <a:srgbClr val="1A1A1A"/>
                </a:solidFill>
                <a:latin typeface="Calibri"/>
              </a:rPr>
              <a:t>2.  Abrogation du volet « érosion » des PPR sur ces communes</a:t>
            </a:r>
          </a:p>
          <a:p>
            <a:pPr algn="l">
              <a:spcAft>
                <a:spcPts val="1400"/>
              </a:spcAft>
            </a:pPr>
            <a:r>
              <a:rPr lang="fr-FR" sz="1600" b="0" i="0">
                <a:solidFill>
                  <a:srgbClr val="1A1A1A"/>
                </a:solidFill>
                <a:latin typeface="Calibri"/>
              </a:rPr>
              <a:t>Pour les PPR prescrits après le 22 août 2021 : pas de dispositions réglementaires relatives à l'érosion. Prise en compte uniquement comme phénomène contributif de la submersion marine. Nécessité de faire des Porter à Connaissance en cas de révision ou abrogation du volet érosion.</a:t>
            </a:r>
          </a:p>
          <a:p>
            <a:pPr algn="l">
              <a:spcAft>
                <a:spcPts val="400"/>
              </a:spcAft>
            </a:pPr>
            <a:r>
              <a:rPr lang="fr-FR" b="1" i="0">
                <a:solidFill>
                  <a:srgbClr val="E86E55"/>
                </a:solidFill>
                <a:latin typeface="Calibri"/>
              </a:rPr>
              <a:t>Conséquence pratique pour les communes littorales</a:t>
            </a:r>
          </a:p>
          <a:p>
            <a:pPr algn="l"/>
            <a:r>
              <a:rPr lang="fr-FR" sz="1600" b="0" i="1">
                <a:solidFill>
                  <a:srgbClr val="1A1A1A"/>
                </a:solidFill>
                <a:latin typeface="Calibri"/>
              </a:rPr>
              <a:t>L'érosion sort du droit des sols réglementaire pour entrer dans le droit de l'urbanisme local. Le maire devient un acteur central — avec les outils PLU(i), zonage, droit de préemption, biens sans maître…</a:t>
            </a:r>
          </a:p>
        </p:txBody>
      </p:sp>
      <p:sp>
        <p:nvSpPr>
          <p:cNvPr id="3" name="Espace réservé du numéro de diapositive 2">
            <a:extLst>
              <a:ext uri="{FF2B5EF4-FFF2-40B4-BE49-F238E27FC236}">
                <a16:creationId xmlns:a16="http://schemas.microsoft.com/office/drawing/2014/main" id="{DFC11CB1-15CE-40C9-A1CF-3DFE7381CC98}"/>
              </a:ext>
            </a:extLst>
          </p:cNvPr>
          <p:cNvSpPr>
            <a:spLocks noGrp="1"/>
          </p:cNvSpPr>
          <p:nvPr>
            <p:ph type="sldNum" sz="quarter" idx="4"/>
          </p:nvPr>
        </p:nvSpPr>
        <p:spPr/>
        <p:txBody>
          <a:bodyPr/>
          <a:lstStyle/>
          <a:p>
            <a:fld id="{9981E6DC-ACA4-4CC4-B142-EC9DBA1C6CBA}" type="slidenum">
              <a:rPr lang="en-US" smtClean="0"/>
              <a:pPr/>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Décret 2025-723 — le préfet, pivot territorial de la résilience</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1531044"/>
            <a:ext cx="11247120" cy="3795911"/>
          </a:xfrm>
          <a:prstGeom prst="rect">
            <a:avLst/>
          </a:prstGeom>
          <a:noFill/>
        </p:spPr>
        <p:txBody>
          <a:bodyPr wrap="square" lIns="0" tIns="0" rIns="0" bIns="0" anchor="t">
            <a:spAutoFit/>
          </a:bodyPr>
          <a:lstStyle/>
          <a:p>
            <a:pPr algn="l">
              <a:spcAft>
                <a:spcPts val="1400"/>
              </a:spcAft>
            </a:pPr>
            <a:r>
              <a:rPr lang="fr-FR" sz="1600" b="0" i="1">
                <a:solidFill>
                  <a:srgbClr val="404040"/>
                </a:solidFill>
                <a:latin typeface="Calibri"/>
              </a:rPr>
              <a:t>Décret n° 2025-723 du 30 juillet 2025 modifiant le décret n° 2004-374 sur les pouvoirs des préfets</a:t>
            </a:r>
          </a:p>
          <a:p>
            <a:pPr algn="l">
              <a:spcAft>
                <a:spcPts val="600"/>
              </a:spcAft>
            </a:pPr>
            <a:r>
              <a:rPr lang="fr-FR" sz="2000" b="1" i="0">
                <a:solidFill>
                  <a:srgbClr val="328088"/>
                </a:solidFill>
                <a:latin typeface="Calibri"/>
              </a:rPr>
              <a:t>Ce que le décret modifie</a:t>
            </a:r>
          </a:p>
          <a:p>
            <a:pPr algn="l">
              <a:spcAft>
                <a:spcPts val="400"/>
              </a:spcAft>
            </a:pPr>
            <a:r>
              <a:rPr lang="fr-FR" sz="1600" b="0">
                <a:solidFill>
                  <a:srgbClr val="1A1A1A"/>
                </a:solidFill>
                <a:latin typeface="Calibri"/>
              </a:rPr>
              <a:t>• </a:t>
            </a:r>
            <a:r>
              <a:rPr lang="fr-FR" sz="1600" b="0" i="0">
                <a:solidFill>
                  <a:srgbClr val="1A1A1A"/>
                </a:solidFill>
                <a:latin typeface="Calibri"/>
              </a:rPr>
              <a:t>Renforcement explicite du rôle de coordination des préfets sur la prévention des risques naturels et l'adaptation au changement climatique</a:t>
            </a:r>
          </a:p>
          <a:p>
            <a:pPr algn="l">
              <a:spcAft>
                <a:spcPts val="400"/>
              </a:spcAft>
            </a:pPr>
            <a:r>
              <a:rPr lang="fr-FR" sz="1600" b="0">
                <a:solidFill>
                  <a:srgbClr val="1A1A1A"/>
                </a:solidFill>
                <a:latin typeface="Calibri"/>
              </a:rPr>
              <a:t>• </a:t>
            </a:r>
            <a:r>
              <a:rPr lang="fr-FR" sz="1600" b="0" i="0">
                <a:solidFill>
                  <a:srgbClr val="1A1A1A"/>
                </a:solidFill>
                <a:latin typeface="Calibri"/>
              </a:rPr>
              <a:t>Articulation plus claire entre échelon départemental et zonal pour la gestion de crise</a:t>
            </a:r>
          </a:p>
          <a:p>
            <a:pPr algn="l">
              <a:spcAft>
                <a:spcPts val="1400"/>
              </a:spcAft>
            </a:pPr>
            <a:r>
              <a:rPr lang="fr-FR" sz="1600" b="0">
                <a:solidFill>
                  <a:srgbClr val="1A1A1A"/>
                </a:solidFill>
                <a:latin typeface="Calibri"/>
              </a:rPr>
              <a:t>• </a:t>
            </a:r>
            <a:r>
              <a:rPr lang="fr-FR" sz="1600" b="0" i="0">
                <a:solidFill>
                  <a:srgbClr val="1A1A1A"/>
                </a:solidFill>
                <a:latin typeface="Calibri"/>
              </a:rPr>
              <a:t>Pivot pour les démarches transversales : prévention, sécurité civile, aménagement, climat</a:t>
            </a:r>
          </a:p>
          <a:p>
            <a:pPr algn="l">
              <a:spcAft>
                <a:spcPts val="600"/>
              </a:spcAft>
            </a:pPr>
            <a:r>
              <a:rPr lang="fr-FR" sz="2000" b="1" i="0">
                <a:solidFill>
                  <a:srgbClr val="328088"/>
                </a:solidFill>
                <a:latin typeface="Calibri"/>
              </a:rPr>
              <a:t>Implication concrète recommandée par la mission Alpes (recommandations 3 et 6)</a:t>
            </a:r>
          </a:p>
          <a:p>
            <a:pPr algn="l">
              <a:spcAft>
                <a:spcPts val="400"/>
              </a:spcAft>
            </a:pPr>
            <a:r>
              <a:rPr lang="fr-FR" sz="1600" b="0">
                <a:solidFill>
                  <a:srgbClr val="1A1A1A"/>
                </a:solidFill>
                <a:latin typeface="Calibri"/>
              </a:rPr>
              <a:t>• </a:t>
            </a:r>
            <a:r>
              <a:rPr lang="fr-FR" sz="1600" b="0" i="0">
                <a:solidFill>
                  <a:srgbClr val="1A1A1A"/>
                </a:solidFill>
                <a:latin typeface="Calibri"/>
              </a:rPr>
              <a:t>Mandater les préfets pour élaborer des stratégies de résilience départementales en s'appuyant sur la CDRNM (Commission départementale des risques naturels majeurs) aux compétences élargies.</a:t>
            </a:r>
          </a:p>
          <a:p>
            <a:pPr algn="l">
              <a:spcAft>
                <a:spcPts val="400"/>
              </a:spcAft>
            </a:pPr>
            <a:r>
              <a:rPr lang="fr-FR" sz="1600" b="0">
                <a:solidFill>
                  <a:srgbClr val="1A1A1A"/>
                </a:solidFill>
                <a:latin typeface="Calibri"/>
              </a:rPr>
              <a:t>• </a:t>
            </a:r>
            <a:r>
              <a:rPr lang="fr-FR" sz="1600" b="0" i="0">
                <a:solidFill>
                  <a:srgbClr val="1A1A1A"/>
                </a:solidFill>
                <a:latin typeface="Calibri"/>
              </a:rPr>
              <a:t>Renforcer la formation des préfets à leur prise de poste sur la prévention des risques et la gestion systémique en contexte d'incertitude climatique.</a:t>
            </a:r>
          </a:p>
          <a:p>
            <a:pPr algn="l"/>
            <a:r>
              <a:rPr lang="fr-FR" sz="1600" b="0">
                <a:solidFill>
                  <a:srgbClr val="1A1A1A"/>
                </a:solidFill>
                <a:latin typeface="Calibri"/>
              </a:rPr>
              <a:t>• </a:t>
            </a:r>
            <a:r>
              <a:rPr lang="fr-FR" sz="1600" b="0" i="0">
                <a:solidFill>
                  <a:srgbClr val="1A1A1A"/>
                </a:solidFill>
                <a:latin typeface="Calibri"/>
              </a:rPr>
              <a:t>Co-construire avec la DGSCGC et la DGPR des modules de formation aux élus locaux.</a:t>
            </a:r>
          </a:p>
        </p:txBody>
      </p:sp>
      <p:sp>
        <p:nvSpPr>
          <p:cNvPr id="3" name="Espace réservé du numéro de diapositive 2">
            <a:extLst>
              <a:ext uri="{FF2B5EF4-FFF2-40B4-BE49-F238E27FC236}">
                <a16:creationId xmlns:a16="http://schemas.microsoft.com/office/drawing/2014/main" id="{56F6562E-9B98-4562-962D-2A1C62F2E01C}"/>
              </a:ext>
            </a:extLst>
          </p:cNvPr>
          <p:cNvSpPr>
            <a:spLocks noGrp="1"/>
          </p:cNvSpPr>
          <p:nvPr>
            <p:ph type="sldNum" sz="quarter" idx="4"/>
          </p:nvPr>
        </p:nvSpPr>
        <p:spPr/>
        <p:txBody>
          <a:bodyPr/>
          <a:lstStyle/>
          <a:p>
            <a:fld id="{9981E6DC-ACA4-4CC4-B142-EC9DBA1C6CBA}" type="slidenum">
              <a:rPr lang="en-US" smtClean="0"/>
              <a:pPr/>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65760" y="3657600"/>
            <a:ext cx="1554480" cy="128016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3657600"/>
            <a:ext cx="1554480" cy="1280160"/>
          </a:xfrm>
          <a:prstGeom prst="rect">
            <a:avLst/>
          </a:prstGeom>
          <a:noFill/>
        </p:spPr>
        <p:txBody>
          <a:bodyPr wrap="square" lIns="0" tIns="0" rIns="0" bIns="0" anchor="ctr">
            <a:spAutoFit/>
          </a:bodyPr>
          <a:lstStyle/>
          <a:p>
            <a:pPr algn="ctr"/>
            <a:r>
              <a:rPr sz="4400" b="1" i="0">
                <a:solidFill>
                  <a:srgbClr val="FFFFFF"/>
                </a:solidFill>
                <a:latin typeface="Calibri"/>
              </a:rPr>
              <a:t>5.</a:t>
            </a:r>
          </a:p>
        </p:txBody>
      </p:sp>
      <p:sp>
        <p:nvSpPr>
          <p:cNvPr id="9" name="Rectangle 8"/>
          <p:cNvSpPr/>
          <p:nvPr/>
        </p:nvSpPr>
        <p:spPr>
          <a:xfrm>
            <a:off x="2011680" y="3657600"/>
            <a:ext cx="9784080" cy="128016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377440" y="3657600"/>
            <a:ext cx="9144000" cy="1280160"/>
          </a:xfrm>
          <a:prstGeom prst="rect">
            <a:avLst/>
          </a:prstGeom>
          <a:noFill/>
        </p:spPr>
        <p:txBody>
          <a:bodyPr wrap="square" lIns="0" tIns="0" rIns="0" bIns="0" anchor="ctr">
            <a:spAutoFit/>
          </a:bodyPr>
          <a:lstStyle/>
          <a:p>
            <a:pPr algn="l"/>
            <a:r>
              <a:rPr sz="3400" b="1" i="0">
                <a:solidFill>
                  <a:srgbClr val="FFFFFF"/>
                </a:solidFill>
                <a:latin typeface="Calibri"/>
              </a:rPr>
              <a:t>Spécificités du littoral</a:t>
            </a:r>
          </a:p>
        </p:txBody>
      </p:sp>
      <p:cxnSp>
        <p:nvCxnSpPr>
          <p:cNvPr id="11" name="Connector 10"/>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3" name="Espace réservé du numéro de diapositive 2">
            <a:extLst>
              <a:ext uri="{FF2B5EF4-FFF2-40B4-BE49-F238E27FC236}">
                <a16:creationId xmlns:a16="http://schemas.microsoft.com/office/drawing/2014/main" id="{2B7A876F-0237-4286-99F0-150D45AACF62}"/>
              </a:ext>
            </a:extLst>
          </p:cNvPr>
          <p:cNvSpPr>
            <a:spLocks noGrp="1"/>
          </p:cNvSpPr>
          <p:nvPr>
            <p:ph type="sldNum" sz="quarter" idx="4"/>
          </p:nvPr>
        </p:nvSpPr>
        <p:spPr/>
        <p:txBody>
          <a:bodyPr/>
          <a:lstStyle/>
          <a:p>
            <a:fld id="{9981E6DC-ACA4-4CC4-B142-EC9DBA1C6CBA}" type="slidenum">
              <a:rPr lang="en-US" smtClean="0"/>
              <a:pPr/>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De nombreux enjeux sur le littoral…</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39496" y="1558699"/>
            <a:ext cx="6858000" cy="3960058"/>
          </a:xfrm>
          <a:prstGeom prst="rect">
            <a:avLst/>
          </a:prstGeom>
          <a:noFill/>
        </p:spPr>
        <p:txBody>
          <a:bodyPr wrap="square" lIns="0" tIns="0" rIns="0" bIns="0" anchor="t">
            <a:spAutoFit/>
          </a:bodyPr>
          <a:lstStyle/>
          <a:p>
            <a:pPr algn="l">
              <a:spcAft>
                <a:spcPts val="600"/>
              </a:spcAft>
            </a:pPr>
            <a:r>
              <a:rPr lang="fr-FR" sz="2000" b="1" i="0">
                <a:solidFill>
                  <a:srgbClr val="328088"/>
                </a:solidFill>
                <a:latin typeface="Calibri"/>
              </a:rPr>
              <a:t>Des territoires littoraux très attractifs</a:t>
            </a:r>
          </a:p>
          <a:p>
            <a:pPr algn="l">
              <a:spcAft>
                <a:spcPts val="300"/>
              </a:spcAft>
            </a:pPr>
            <a:r>
              <a:rPr lang="fr-FR" sz="1600" b="0">
                <a:solidFill>
                  <a:srgbClr val="1A1A1A"/>
                </a:solidFill>
                <a:latin typeface="Calibri"/>
              </a:rPr>
              <a:t>• </a:t>
            </a:r>
            <a:r>
              <a:rPr lang="fr-FR" sz="1600" b="0" i="0">
                <a:solidFill>
                  <a:srgbClr val="1A1A1A"/>
                </a:solidFill>
                <a:latin typeface="Calibri"/>
              </a:rPr>
              <a:t>≈ 9 % de la population totale sur 4 % du territoire</a:t>
            </a:r>
          </a:p>
          <a:p>
            <a:pPr algn="l">
              <a:spcAft>
                <a:spcPts val="300"/>
              </a:spcAft>
            </a:pPr>
            <a:r>
              <a:rPr lang="fr-FR" sz="1600" b="0">
                <a:solidFill>
                  <a:srgbClr val="1A1A1A"/>
                </a:solidFill>
                <a:latin typeface="Calibri"/>
              </a:rPr>
              <a:t>• </a:t>
            </a:r>
            <a:r>
              <a:rPr lang="fr-FR" sz="1600" b="0" i="0">
                <a:solidFill>
                  <a:srgbClr val="1A1A1A"/>
                </a:solidFill>
                <a:latin typeface="Calibri"/>
              </a:rPr>
              <a:t>Densité 2,5 fois plus importante que la moyenne nationale</a:t>
            </a:r>
          </a:p>
          <a:p>
            <a:pPr algn="l">
              <a:spcAft>
                <a:spcPts val="1400"/>
              </a:spcAft>
            </a:pPr>
            <a:r>
              <a:rPr lang="fr-FR" sz="1600" b="0">
                <a:solidFill>
                  <a:srgbClr val="1A1A1A"/>
                </a:solidFill>
                <a:latin typeface="Calibri"/>
              </a:rPr>
              <a:t>• </a:t>
            </a:r>
            <a:r>
              <a:rPr lang="fr-FR" sz="1600" b="0" i="0">
                <a:solidFill>
                  <a:srgbClr val="1A1A1A"/>
                </a:solidFill>
                <a:latin typeface="Calibri"/>
              </a:rPr>
              <a:t>D'ici 2040 : + 1,4 million d'habitants attendus dans les communes littorales</a:t>
            </a:r>
          </a:p>
          <a:p>
            <a:pPr algn="l">
              <a:spcAft>
                <a:spcPts val="600"/>
              </a:spcAft>
            </a:pPr>
            <a:r>
              <a:rPr lang="fr-FR" sz="2000" b="1" i="0">
                <a:solidFill>
                  <a:srgbClr val="328088"/>
                </a:solidFill>
                <a:latin typeface="Calibri"/>
              </a:rPr>
              <a:t>Le littoral, 1ʳᵉ destination touristique</a:t>
            </a:r>
          </a:p>
          <a:p>
            <a:pPr algn="l">
              <a:spcAft>
                <a:spcPts val="300"/>
              </a:spcAft>
            </a:pPr>
            <a:r>
              <a:rPr lang="fr-FR" sz="1600" b="0">
                <a:solidFill>
                  <a:srgbClr val="1A1A1A"/>
                </a:solidFill>
                <a:latin typeface="Calibri"/>
              </a:rPr>
              <a:t>• </a:t>
            </a:r>
            <a:r>
              <a:rPr lang="fr-FR" sz="1600" b="0" i="0">
                <a:solidFill>
                  <a:srgbClr val="1A1A1A"/>
                </a:solidFill>
                <a:latin typeface="Calibri"/>
              </a:rPr>
              <a:t>85 des 100 premières villes touristiques</a:t>
            </a:r>
          </a:p>
          <a:p>
            <a:pPr algn="l">
              <a:spcAft>
                <a:spcPts val="300"/>
              </a:spcAft>
            </a:pPr>
            <a:r>
              <a:rPr lang="fr-FR" sz="1600" b="0">
                <a:solidFill>
                  <a:srgbClr val="1A1A1A"/>
                </a:solidFill>
                <a:latin typeface="Calibri"/>
              </a:rPr>
              <a:t>• </a:t>
            </a:r>
            <a:r>
              <a:rPr lang="fr-FR" sz="1600" b="0" i="0">
                <a:solidFill>
                  <a:srgbClr val="1A1A1A"/>
                </a:solidFill>
                <a:latin typeface="Calibri"/>
              </a:rPr>
              <a:t>1/3 des nuitées touristiques françaises (40 % l'été)</a:t>
            </a:r>
          </a:p>
          <a:p>
            <a:pPr algn="l">
              <a:spcAft>
                <a:spcPts val="1400"/>
              </a:spcAft>
            </a:pPr>
            <a:r>
              <a:rPr lang="fr-FR" sz="1600" b="0">
                <a:solidFill>
                  <a:srgbClr val="1A1A1A"/>
                </a:solidFill>
                <a:latin typeface="Calibri"/>
              </a:rPr>
              <a:t>• </a:t>
            </a:r>
            <a:r>
              <a:rPr lang="fr-FR" sz="1600" b="0" i="0">
                <a:solidFill>
                  <a:srgbClr val="1A1A1A"/>
                </a:solidFill>
                <a:latin typeface="Calibri"/>
              </a:rPr>
              <a:t>7 millions de lits d'hébergement touristique</a:t>
            </a:r>
          </a:p>
          <a:p>
            <a:pPr algn="l">
              <a:spcAft>
                <a:spcPts val="600"/>
              </a:spcAft>
            </a:pPr>
            <a:r>
              <a:rPr lang="fr-FR" sz="2000" b="1" i="0">
                <a:solidFill>
                  <a:srgbClr val="328088"/>
                </a:solidFill>
                <a:latin typeface="Calibri"/>
              </a:rPr>
              <a:t>Un territoire conséquent</a:t>
            </a:r>
          </a:p>
          <a:p>
            <a:pPr algn="l">
              <a:spcAft>
                <a:spcPts val="300"/>
              </a:spcAft>
            </a:pPr>
            <a:r>
              <a:rPr lang="fr-FR" sz="1600" b="0">
                <a:solidFill>
                  <a:srgbClr val="1A1A1A"/>
                </a:solidFill>
                <a:latin typeface="Calibri"/>
              </a:rPr>
              <a:t>• </a:t>
            </a:r>
            <a:r>
              <a:rPr lang="fr-FR" sz="1600" b="0" i="0">
                <a:solidFill>
                  <a:srgbClr val="1A1A1A"/>
                </a:solidFill>
                <a:latin typeface="Calibri"/>
              </a:rPr>
              <a:t>20 000 km de côtes (≈ 7 000 km en métropole) — 2ᵉ espace maritime mondial</a:t>
            </a:r>
          </a:p>
          <a:p>
            <a:pPr algn="l">
              <a:spcAft>
                <a:spcPts val="300"/>
              </a:spcAft>
            </a:pPr>
            <a:r>
              <a:rPr lang="fr-FR" sz="1600" b="0">
                <a:solidFill>
                  <a:srgbClr val="1A1A1A"/>
                </a:solidFill>
                <a:latin typeface="Calibri"/>
              </a:rPr>
              <a:t>• </a:t>
            </a:r>
            <a:r>
              <a:rPr lang="fr-FR" sz="1600" b="0" i="0">
                <a:solidFill>
                  <a:srgbClr val="1A1A1A"/>
                </a:solidFill>
                <a:latin typeface="Calibri"/>
              </a:rPr>
              <a:t>≈ 1 000 communes littorales (loi Littoral)</a:t>
            </a:r>
          </a:p>
          <a:p>
            <a:pPr algn="l"/>
            <a:r>
              <a:rPr lang="fr-FR" sz="1600" b="0">
                <a:solidFill>
                  <a:srgbClr val="1A1A1A"/>
                </a:solidFill>
                <a:latin typeface="Calibri"/>
              </a:rPr>
              <a:t>• </a:t>
            </a:r>
            <a:r>
              <a:rPr lang="fr-FR" sz="1600" b="0" i="0">
                <a:solidFill>
                  <a:srgbClr val="1A1A1A"/>
                </a:solidFill>
                <a:latin typeface="Calibri"/>
              </a:rPr>
              <a:t>30 % du littoral est artificialisé</a:t>
            </a:r>
          </a:p>
        </p:txBody>
      </p:sp>
      <p:sp>
        <p:nvSpPr>
          <p:cNvPr id="12" name="Rectangle 11"/>
          <p:cNvSpPr/>
          <p:nvPr/>
        </p:nvSpPr>
        <p:spPr>
          <a:xfrm>
            <a:off x="7589520" y="1188720"/>
            <a:ext cx="4206240" cy="502920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3" name="TextBox 12"/>
          <p:cNvSpPr txBox="1"/>
          <p:nvPr/>
        </p:nvSpPr>
        <p:spPr>
          <a:xfrm>
            <a:off x="7772400" y="1325880"/>
            <a:ext cx="3931920" cy="1918474"/>
          </a:xfrm>
          <a:prstGeom prst="rect">
            <a:avLst/>
          </a:prstGeom>
          <a:noFill/>
        </p:spPr>
        <p:txBody>
          <a:bodyPr wrap="square" lIns="0" tIns="0" rIns="0" bIns="0" anchor="t">
            <a:spAutoFit/>
          </a:bodyPr>
          <a:lstStyle/>
          <a:p>
            <a:pPr algn="l">
              <a:spcAft>
                <a:spcPts val="800"/>
              </a:spcAft>
            </a:pPr>
            <a:r>
              <a:rPr lang="fr-FR" sz="1400" b="1" i="0">
                <a:solidFill>
                  <a:srgbClr val="328088"/>
                </a:solidFill>
                <a:latin typeface="Calibri"/>
              </a:rPr>
              <a:t>Implications</a:t>
            </a:r>
          </a:p>
          <a:p>
            <a:pPr algn="l">
              <a:spcAft>
                <a:spcPts val="800"/>
              </a:spcAft>
            </a:pPr>
            <a:r>
              <a:rPr lang="fr-FR" sz="1200" b="1" i="0">
                <a:solidFill>
                  <a:srgbClr val="1A1A1A"/>
                </a:solidFill>
                <a:latin typeface="Calibri"/>
              </a:rPr>
              <a:t>L'EXPOSITION est très forte (densité, attractivité touristique)</a:t>
            </a:r>
          </a:p>
          <a:p>
            <a:pPr algn="l">
              <a:spcAft>
                <a:spcPts val="800"/>
              </a:spcAft>
            </a:pPr>
            <a:r>
              <a:rPr lang="fr-FR" sz="1200" b="0" i="0">
                <a:solidFill>
                  <a:srgbClr val="1A1A1A"/>
                </a:solidFill>
                <a:latin typeface="Calibri"/>
              </a:rPr>
              <a:t>L'évolution récente est à la hausse (population permanente, tourisme international, biens secondaires)</a:t>
            </a:r>
          </a:p>
          <a:p>
            <a:pPr algn="l">
              <a:spcAft>
                <a:spcPts val="800"/>
              </a:spcAft>
            </a:pPr>
            <a:r>
              <a:rPr lang="fr-FR" sz="1200" b="0" i="0">
                <a:solidFill>
                  <a:srgbClr val="1A1A1A"/>
                </a:solidFill>
                <a:latin typeface="Calibri"/>
              </a:rPr>
              <a:t>La VULNÉRABILITÉ se concentre sur des saisonnalités étroites — toute crise estivale a des conséquences disproportionnées</a:t>
            </a:r>
          </a:p>
          <a:p>
            <a:pPr algn="l"/>
            <a:r>
              <a:rPr lang="fr-FR" sz="1200" b="0" i="1">
                <a:solidFill>
                  <a:srgbClr val="E86E55"/>
                </a:solidFill>
                <a:latin typeface="Calibri"/>
              </a:rPr>
              <a:t>Comme dans les Alpes, on voit des territoires de mono-activité (tourisme balnéaire) confrontés à un modèle qui doit évoluer.</a:t>
            </a:r>
          </a:p>
        </p:txBody>
      </p:sp>
      <p:sp>
        <p:nvSpPr>
          <p:cNvPr id="3" name="Espace réservé du numéro de diapositive 2">
            <a:extLst>
              <a:ext uri="{FF2B5EF4-FFF2-40B4-BE49-F238E27FC236}">
                <a16:creationId xmlns:a16="http://schemas.microsoft.com/office/drawing/2014/main" id="{07B21C5C-3318-4873-BBE5-2BC2DB3FC26C}"/>
              </a:ext>
            </a:extLst>
          </p:cNvPr>
          <p:cNvSpPr>
            <a:spLocks noGrp="1"/>
          </p:cNvSpPr>
          <p:nvPr>
            <p:ph type="sldNum" sz="quarter" idx="4"/>
          </p:nvPr>
        </p:nvSpPr>
        <p:spPr/>
        <p:txBody>
          <a:bodyPr/>
          <a:lstStyle/>
          <a:p>
            <a:fld id="{9981E6DC-ACA4-4CC4-B142-EC9DBA1C6CBA}" type="slidenum">
              <a:rPr lang="en-US" smtClean="0"/>
              <a:pPr/>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14600" y="201168"/>
            <a:ext cx="9509760" cy="713232"/>
          </a:xfrm>
          <a:prstGeom prst="rect">
            <a:avLst/>
          </a:prstGeom>
          <a:noFill/>
        </p:spPr>
        <p:txBody>
          <a:bodyPr wrap="square" lIns="0" tIns="0" rIns="0" bIns="0" anchor="ctr">
            <a:spAutoFit/>
          </a:bodyPr>
          <a:lstStyle/>
          <a:p>
            <a:pPr algn="l"/>
            <a:r>
              <a:rPr sz="2600" b="1" i="0">
                <a:solidFill>
                  <a:srgbClr val="1A1A1A"/>
                </a:solidFill>
                <a:latin typeface="Calibri"/>
              </a:rPr>
              <a:t>…soumis à des aléas en évolution rapide</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65760" y="1188720"/>
            <a:ext cx="3749039" cy="457200"/>
          </a:xfrm>
          <a:prstGeom prst="rect">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1188720"/>
            <a:ext cx="3749039" cy="457200"/>
          </a:xfrm>
          <a:prstGeom prst="rect">
            <a:avLst/>
          </a:prstGeom>
          <a:noFill/>
        </p:spPr>
        <p:txBody>
          <a:bodyPr wrap="square" lIns="0" tIns="0" rIns="0" bIns="0" anchor="ctr">
            <a:spAutoFit/>
          </a:bodyPr>
          <a:lstStyle/>
          <a:p>
            <a:pPr algn="ctr"/>
            <a:r>
              <a:rPr sz="1400" b="1" i="0">
                <a:solidFill>
                  <a:srgbClr val="FFFFFF"/>
                </a:solidFill>
                <a:latin typeface="Calibri"/>
              </a:rPr>
              <a:t>Submersion marine</a:t>
            </a:r>
          </a:p>
        </p:txBody>
      </p:sp>
      <p:sp>
        <p:nvSpPr>
          <p:cNvPr id="13" name="Rectangle 12"/>
          <p:cNvSpPr/>
          <p:nvPr/>
        </p:nvSpPr>
        <p:spPr>
          <a:xfrm>
            <a:off x="365760" y="1645920"/>
            <a:ext cx="3749039" cy="1874519"/>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4" name="TextBox 13"/>
          <p:cNvSpPr txBox="1"/>
          <p:nvPr/>
        </p:nvSpPr>
        <p:spPr>
          <a:xfrm>
            <a:off x="502920" y="1691640"/>
            <a:ext cx="3474720" cy="830997"/>
          </a:xfrm>
          <a:prstGeom prst="rect">
            <a:avLst/>
          </a:prstGeom>
          <a:noFill/>
        </p:spPr>
        <p:txBody>
          <a:bodyPr wrap="square" lIns="0" tIns="0" rIns="0" bIns="0" anchor="t">
            <a:spAutoFit/>
          </a:bodyPr>
          <a:lstStyle/>
          <a:p>
            <a:pPr algn="l"/>
            <a:r>
              <a:rPr b="0" i="0">
                <a:solidFill>
                  <a:srgbClr val="1A1A1A"/>
                </a:solidFill>
                <a:latin typeface="Calibri"/>
              </a:rPr>
              <a:t>Élévation temporaire du niveau de la mer (tempête, surcote, vagues, marée)</a:t>
            </a:r>
          </a:p>
        </p:txBody>
      </p:sp>
      <p:sp>
        <p:nvSpPr>
          <p:cNvPr id="15" name="Rectangle 14"/>
          <p:cNvSpPr/>
          <p:nvPr/>
        </p:nvSpPr>
        <p:spPr>
          <a:xfrm>
            <a:off x="4206240" y="1188720"/>
            <a:ext cx="3749039" cy="457200"/>
          </a:xfrm>
          <a:prstGeom prst="rect">
            <a:avLst/>
          </a:prstGeom>
          <a:solidFill>
            <a:srgbClr val="E86E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06240" y="1188720"/>
            <a:ext cx="3749039" cy="457200"/>
          </a:xfrm>
          <a:prstGeom prst="rect">
            <a:avLst/>
          </a:prstGeom>
          <a:noFill/>
        </p:spPr>
        <p:txBody>
          <a:bodyPr wrap="square" lIns="0" tIns="0" rIns="0" bIns="0" anchor="ctr">
            <a:spAutoFit/>
          </a:bodyPr>
          <a:lstStyle/>
          <a:p>
            <a:pPr algn="ctr"/>
            <a:r>
              <a:rPr sz="1400" b="1" i="0">
                <a:solidFill>
                  <a:srgbClr val="FFFFFF"/>
                </a:solidFill>
                <a:latin typeface="Calibri"/>
              </a:rPr>
              <a:t>Érosion côtière</a:t>
            </a:r>
          </a:p>
        </p:txBody>
      </p:sp>
      <p:sp>
        <p:nvSpPr>
          <p:cNvPr id="17" name="Rectangle 16"/>
          <p:cNvSpPr/>
          <p:nvPr/>
        </p:nvSpPr>
        <p:spPr>
          <a:xfrm>
            <a:off x="4206240" y="1645920"/>
            <a:ext cx="3749039" cy="1874519"/>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8" name="TextBox 17"/>
          <p:cNvSpPr txBox="1"/>
          <p:nvPr/>
        </p:nvSpPr>
        <p:spPr>
          <a:xfrm>
            <a:off x="4343400" y="1691640"/>
            <a:ext cx="3474720" cy="830997"/>
          </a:xfrm>
          <a:prstGeom prst="rect">
            <a:avLst/>
          </a:prstGeom>
          <a:noFill/>
        </p:spPr>
        <p:txBody>
          <a:bodyPr wrap="square" lIns="0" tIns="0" rIns="0" bIns="0" anchor="t">
            <a:spAutoFit/>
          </a:bodyPr>
          <a:lstStyle/>
          <a:p>
            <a:pPr algn="l"/>
            <a:r>
              <a:rPr b="0" i="0">
                <a:solidFill>
                  <a:srgbClr val="1A1A1A"/>
                </a:solidFill>
                <a:latin typeface="Calibri"/>
              </a:rPr>
              <a:t>Recul du trait de côte par usure mécanique des falaises ou perte de sédiments</a:t>
            </a:r>
          </a:p>
        </p:txBody>
      </p:sp>
      <p:sp>
        <p:nvSpPr>
          <p:cNvPr id="19" name="Rectangle 18"/>
          <p:cNvSpPr/>
          <p:nvPr/>
        </p:nvSpPr>
        <p:spPr>
          <a:xfrm>
            <a:off x="8046719" y="1188720"/>
            <a:ext cx="3749039" cy="45720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46719" y="1188720"/>
            <a:ext cx="3749039" cy="457200"/>
          </a:xfrm>
          <a:prstGeom prst="rect">
            <a:avLst/>
          </a:prstGeom>
          <a:noFill/>
        </p:spPr>
        <p:txBody>
          <a:bodyPr wrap="square" lIns="0" tIns="0" rIns="0" bIns="0" anchor="ctr">
            <a:spAutoFit/>
          </a:bodyPr>
          <a:lstStyle/>
          <a:p>
            <a:pPr algn="ctr"/>
            <a:r>
              <a:rPr sz="1400" b="1" i="0">
                <a:solidFill>
                  <a:srgbClr val="FFFFFF"/>
                </a:solidFill>
                <a:latin typeface="Calibri"/>
              </a:rPr>
              <a:t>Inondations terrestres</a:t>
            </a:r>
          </a:p>
        </p:txBody>
      </p:sp>
      <p:sp>
        <p:nvSpPr>
          <p:cNvPr id="21" name="Rectangle 20"/>
          <p:cNvSpPr/>
          <p:nvPr/>
        </p:nvSpPr>
        <p:spPr>
          <a:xfrm>
            <a:off x="8046719" y="1645920"/>
            <a:ext cx="3749039" cy="1874519"/>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183879" y="1691640"/>
            <a:ext cx="3474720" cy="830997"/>
          </a:xfrm>
          <a:prstGeom prst="rect">
            <a:avLst/>
          </a:prstGeom>
          <a:noFill/>
        </p:spPr>
        <p:txBody>
          <a:bodyPr wrap="square" lIns="0" tIns="0" rIns="0" bIns="0" anchor="t">
            <a:spAutoFit/>
          </a:bodyPr>
          <a:lstStyle/>
          <a:p>
            <a:pPr algn="l"/>
            <a:r>
              <a:rPr b="0" i="0">
                <a:solidFill>
                  <a:srgbClr val="1A1A1A"/>
                </a:solidFill>
                <a:latin typeface="Calibri"/>
              </a:rPr>
              <a:t>Débordement de cours d'eau, ruissellement, remontée de nappe — souvent combinés à la submersion</a:t>
            </a:r>
          </a:p>
        </p:txBody>
      </p:sp>
      <p:sp>
        <p:nvSpPr>
          <p:cNvPr id="23" name="Rectangle 22"/>
          <p:cNvSpPr/>
          <p:nvPr/>
        </p:nvSpPr>
        <p:spPr>
          <a:xfrm>
            <a:off x="365760" y="3657600"/>
            <a:ext cx="3749039" cy="457200"/>
          </a:xfrm>
          <a:prstGeom prst="rect">
            <a:avLst/>
          </a:prstGeom>
          <a:solidFill>
            <a:srgbClr val="4A8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65760" y="3657600"/>
            <a:ext cx="3749039" cy="457200"/>
          </a:xfrm>
          <a:prstGeom prst="rect">
            <a:avLst/>
          </a:prstGeom>
          <a:noFill/>
        </p:spPr>
        <p:txBody>
          <a:bodyPr wrap="square" lIns="0" tIns="0" rIns="0" bIns="0" anchor="ctr">
            <a:spAutoFit/>
          </a:bodyPr>
          <a:lstStyle/>
          <a:p>
            <a:pPr algn="ctr"/>
            <a:r>
              <a:rPr sz="1400" b="1" i="0">
                <a:solidFill>
                  <a:srgbClr val="FFFFFF"/>
                </a:solidFill>
                <a:latin typeface="Calibri"/>
              </a:rPr>
              <a:t>Tempête / vent</a:t>
            </a:r>
          </a:p>
        </p:txBody>
      </p:sp>
      <p:sp>
        <p:nvSpPr>
          <p:cNvPr id="25" name="Rectangle 24"/>
          <p:cNvSpPr/>
          <p:nvPr/>
        </p:nvSpPr>
        <p:spPr>
          <a:xfrm>
            <a:off x="365760" y="4114800"/>
            <a:ext cx="3749039" cy="1874519"/>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4160520"/>
            <a:ext cx="3474720" cy="553998"/>
          </a:xfrm>
          <a:prstGeom prst="rect">
            <a:avLst/>
          </a:prstGeom>
          <a:noFill/>
        </p:spPr>
        <p:txBody>
          <a:bodyPr wrap="square" lIns="0" tIns="0" rIns="0" bIns="0" anchor="t">
            <a:spAutoFit/>
          </a:bodyPr>
          <a:lstStyle/>
          <a:p>
            <a:pPr algn="l"/>
            <a:r>
              <a:rPr b="0" i="0">
                <a:solidFill>
                  <a:srgbClr val="1A1A1A"/>
                </a:solidFill>
                <a:latin typeface="Calibri"/>
              </a:rPr>
              <a:t>Dommages aux toitures, réseaux, ouvrages portuaires</a:t>
            </a:r>
          </a:p>
        </p:txBody>
      </p:sp>
      <p:sp>
        <p:nvSpPr>
          <p:cNvPr id="27" name="Rectangle 26"/>
          <p:cNvSpPr/>
          <p:nvPr/>
        </p:nvSpPr>
        <p:spPr>
          <a:xfrm>
            <a:off x="4206240" y="3657600"/>
            <a:ext cx="3749039" cy="457200"/>
          </a:xfrm>
          <a:prstGeom prst="rect">
            <a:avLst/>
          </a:prstGeom>
          <a:solidFill>
            <a:srgbClr val="6B21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206240" y="3657600"/>
            <a:ext cx="3749039" cy="457200"/>
          </a:xfrm>
          <a:prstGeom prst="rect">
            <a:avLst/>
          </a:prstGeom>
          <a:noFill/>
        </p:spPr>
        <p:txBody>
          <a:bodyPr wrap="square" lIns="0" tIns="0" rIns="0" bIns="0" anchor="ctr">
            <a:spAutoFit/>
          </a:bodyPr>
          <a:lstStyle/>
          <a:p>
            <a:pPr algn="ctr"/>
            <a:r>
              <a:rPr sz="1400" b="1" i="0">
                <a:solidFill>
                  <a:srgbClr val="FFFFFF"/>
                </a:solidFill>
                <a:latin typeface="Calibri"/>
              </a:rPr>
              <a:t>Cyclones</a:t>
            </a:r>
          </a:p>
        </p:txBody>
      </p:sp>
      <p:sp>
        <p:nvSpPr>
          <p:cNvPr id="29" name="Rectangle 28"/>
          <p:cNvSpPr/>
          <p:nvPr/>
        </p:nvSpPr>
        <p:spPr>
          <a:xfrm>
            <a:off x="4206240" y="4114800"/>
            <a:ext cx="3749039" cy="1874519"/>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343400" y="4160520"/>
            <a:ext cx="3474720" cy="830997"/>
          </a:xfrm>
          <a:prstGeom prst="rect">
            <a:avLst/>
          </a:prstGeom>
          <a:noFill/>
        </p:spPr>
        <p:txBody>
          <a:bodyPr wrap="square" lIns="0" tIns="0" rIns="0" bIns="0" anchor="t">
            <a:spAutoFit/>
          </a:bodyPr>
          <a:lstStyle/>
          <a:p>
            <a:pPr algn="l"/>
            <a:r>
              <a:rPr b="0" i="0">
                <a:solidFill>
                  <a:srgbClr val="1A1A1A"/>
                </a:solidFill>
                <a:latin typeface="Calibri"/>
              </a:rPr>
              <a:t>Outre-mer principalement — cumul vent extrême + houle cyclonique + précipitations</a:t>
            </a:r>
          </a:p>
        </p:txBody>
      </p:sp>
      <p:sp>
        <p:nvSpPr>
          <p:cNvPr id="31" name="Rectangle 30"/>
          <p:cNvSpPr/>
          <p:nvPr/>
        </p:nvSpPr>
        <p:spPr>
          <a:xfrm>
            <a:off x="8046719" y="3657600"/>
            <a:ext cx="3749039" cy="457200"/>
          </a:xfrm>
          <a:prstGeom prst="rect">
            <a:avLst/>
          </a:prstGeom>
          <a:solidFill>
            <a:srgbClr val="7E5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046719" y="3657600"/>
            <a:ext cx="3749039" cy="457200"/>
          </a:xfrm>
          <a:prstGeom prst="rect">
            <a:avLst/>
          </a:prstGeom>
          <a:noFill/>
        </p:spPr>
        <p:txBody>
          <a:bodyPr wrap="square" lIns="0" tIns="0" rIns="0" bIns="0" anchor="ctr">
            <a:spAutoFit/>
          </a:bodyPr>
          <a:lstStyle/>
          <a:p>
            <a:pPr algn="ctr"/>
            <a:r>
              <a:rPr sz="1400" b="1" i="0">
                <a:solidFill>
                  <a:srgbClr val="FFFFFF"/>
                </a:solidFill>
                <a:latin typeface="Calibri"/>
              </a:rPr>
              <a:t>Tsunamis</a:t>
            </a:r>
          </a:p>
        </p:txBody>
      </p:sp>
      <p:sp>
        <p:nvSpPr>
          <p:cNvPr id="33" name="Rectangle 32"/>
          <p:cNvSpPr/>
          <p:nvPr/>
        </p:nvSpPr>
        <p:spPr>
          <a:xfrm>
            <a:off x="8046719" y="4114800"/>
            <a:ext cx="3749039" cy="1874519"/>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183879" y="4160520"/>
            <a:ext cx="3474720" cy="830997"/>
          </a:xfrm>
          <a:prstGeom prst="rect">
            <a:avLst/>
          </a:prstGeom>
          <a:noFill/>
        </p:spPr>
        <p:txBody>
          <a:bodyPr wrap="square" lIns="0" tIns="0" rIns="0" bIns="0" anchor="t">
            <a:spAutoFit/>
          </a:bodyPr>
          <a:lstStyle/>
          <a:p>
            <a:pPr algn="l"/>
            <a:r>
              <a:rPr b="0" i="0">
                <a:solidFill>
                  <a:srgbClr val="1A1A1A"/>
                </a:solidFill>
                <a:latin typeface="Calibri"/>
              </a:rPr>
              <a:t>Méditerranée (sismique), outre-mer (volcanique ou téléséismique). Aléa rare mais brutal</a:t>
            </a:r>
          </a:p>
        </p:txBody>
      </p:sp>
      <p:sp>
        <p:nvSpPr>
          <p:cNvPr id="35" name="TextBox 34"/>
          <p:cNvSpPr txBox="1"/>
          <p:nvPr/>
        </p:nvSpPr>
        <p:spPr>
          <a:xfrm>
            <a:off x="365760" y="6080760"/>
            <a:ext cx="11430000" cy="365760"/>
          </a:xfrm>
          <a:prstGeom prst="rect">
            <a:avLst/>
          </a:prstGeom>
          <a:noFill/>
        </p:spPr>
        <p:txBody>
          <a:bodyPr wrap="square" lIns="0" tIns="0" rIns="0" bIns="0" anchor="t">
            <a:spAutoFit/>
          </a:bodyPr>
          <a:lstStyle/>
          <a:p>
            <a:pPr algn="ctr"/>
            <a:r>
              <a:rPr sz="1300" b="0" i="1">
                <a:solidFill>
                  <a:srgbClr val="E86E55"/>
                </a:solidFill>
                <a:latin typeface="Calibri"/>
              </a:rPr>
              <a:t>→ Comme dans les Alpes (laves torrentielles, glissements, avalanches), on observe sur le littoral des aléas multiples qui interagissent et se renforcent.</a:t>
            </a:r>
          </a:p>
        </p:txBody>
      </p:sp>
      <p:sp>
        <p:nvSpPr>
          <p:cNvPr id="3" name="Espace réservé du numéro de diapositive 2">
            <a:extLst>
              <a:ext uri="{FF2B5EF4-FFF2-40B4-BE49-F238E27FC236}">
                <a16:creationId xmlns:a16="http://schemas.microsoft.com/office/drawing/2014/main" id="{49A4568A-0A2A-42BD-9D56-A4088DE88B90}"/>
              </a:ext>
            </a:extLst>
          </p:cNvPr>
          <p:cNvSpPr>
            <a:spLocks noGrp="1"/>
          </p:cNvSpPr>
          <p:nvPr>
            <p:ph type="sldNum" sz="quarter" idx="4"/>
          </p:nvPr>
        </p:nvSpPr>
        <p:spPr/>
        <p:txBody>
          <a:bodyPr/>
          <a:lstStyle/>
          <a:p>
            <a:fld id="{9981E6DC-ACA4-4CC4-B142-EC9DBA1C6CBA}" type="slidenum">
              <a:rPr lang="en-US" smtClean="0"/>
              <a:pPr/>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Le changement climatique change la donne sur le littoral</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1528064"/>
            <a:ext cx="6858000" cy="3908762"/>
          </a:xfrm>
          <a:prstGeom prst="rect">
            <a:avLst/>
          </a:prstGeom>
          <a:noFill/>
        </p:spPr>
        <p:txBody>
          <a:bodyPr wrap="square" lIns="0" tIns="0" rIns="0" bIns="0" anchor="t">
            <a:spAutoFit/>
          </a:bodyPr>
          <a:lstStyle/>
          <a:p>
            <a:pPr algn="l">
              <a:spcAft>
                <a:spcPts val="800"/>
              </a:spcAft>
            </a:pPr>
            <a:r>
              <a:rPr lang="fr-FR" sz="2000" b="1" i="0">
                <a:solidFill>
                  <a:srgbClr val="328088"/>
                </a:solidFill>
                <a:latin typeface="Calibri"/>
              </a:rPr>
              <a:t>Trois effets principaux pour les territoires littoraux</a:t>
            </a:r>
          </a:p>
          <a:p>
            <a:pPr algn="l">
              <a:spcAft>
                <a:spcPts val="200"/>
              </a:spcAft>
            </a:pPr>
            <a:r>
              <a:rPr lang="fr-FR" b="1" i="0">
                <a:solidFill>
                  <a:srgbClr val="1A1A1A"/>
                </a:solidFill>
                <a:latin typeface="Calibri"/>
              </a:rPr>
              <a:t>1.  Élévation du niveau moyen de la mer</a:t>
            </a:r>
          </a:p>
          <a:p>
            <a:pPr algn="l">
              <a:spcAft>
                <a:spcPts val="800"/>
              </a:spcAft>
            </a:pPr>
            <a:r>
              <a:rPr lang="fr-FR" sz="1600" b="0" i="0">
                <a:solidFill>
                  <a:srgbClr val="1A1A1A"/>
                </a:solidFill>
                <a:latin typeface="Calibri"/>
              </a:rPr>
              <a:t>Lent mais inexorable — élève le « plancher » de tous les autres aléas.</a:t>
            </a:r>
          </a:p>
          <a:p>
            <a:pPr algn="l">
              <a:spcAft>
                <a:spcPts val="200"/>
              </a:spcAft>
            </a:pPr>
            <a:r>
              <a:rPr lang="fr-FR" b="1" i="0">
                <a:solidFill>
                  <a:srgbClr val="1A1A1A"/>
                </a:solidFill>
                <a:latin typeface="Calibri"/>
              </a:rPr>
              <a:t>2.  Intensification des tempêtes et surcotes</a:t>
            </a:r>
          </a:p>
          <a:p>
            <a:pPr algn="l">
              <a:spcAft>
                <a:spcPts val="800"/>
              </a:spcAft>
            </a:pPr>
            <a:r>
              <a:rPr lang="fr-FR" sz="1600" b="0" i="0">
                <a:solidFill>
                  <a:srgbClr val="1A1A1A"/>
                </a:solidFill>
                <a:latin typeface="Calibri"/>
              </a:rPr>
              <a:t>Combinaisons vent + vagues + niveau marin élevé qui passent au-dessus des ouvrages.</a:t>
            </a:r>
          </a:p>
          <a:p>
            <a:pPr algn="l">
              <a:spcAft>
                <a:spcPts val="200"/>
              </a:spcAft>
            </a:pPr>
            <a:r>
              <a:rPr lang="fr-FR" b="1" i="0">
                <a:solidFill>
                  <a:srgbClr val="1A1A1A"/>
                </a:solidFill>
                <a:latin typeface="Calibri"/>
              </a:rPr>
              <a:t>3.  Modification des régimes hydrologiques</a:t>
            </a:r>
          </a:p>
          <a:p>
            <a:pPr algn="l">
              <a:spcAft>
                <a:spcPts val="1400"/>
              </a:spcAft>
            </a:pPr>
            <a:r>
              <a:rPr lang="fr-FR" sz="1600" b="0" i="0">
                <a:solidFill>
                  <a:srgbClr val="1A1A1A"/>
                </a:solidFill>
                <a:latin typeface="Calibri"/>
              </a:rPr>
              <a:t>Concomitance possible crue + tempête (cf. Xynthia), précipitations extrêmes, sécheresse, salinisation des nappes.</a:t>
            </a:r>
          </a:p>
          <a:p>
            <a:pPr algn="l">
              <a:spcAft>
                <a:spcPts val="400"/>
              </a:spcAft>
            </a:pPr>
            <a:r>
              <a:rPr lang="fr-FR" b="1" i="0">
                <a:solidFill>
                  <a:srgbClr val="E86E55"/>
                </a:solidFill>
                <a:latin typeface="Calibri"/>
              </a:rPr>
              <a:t>Le PPRSM intègre déjà le changement climatique</a:t>
            </a:r>
          </a:p>
          <a:p>
            <a:pPr algn="l"/>
            <a:r>
              <a:rPr lang="fr-FR" sz="1400" b="0" i="1">
                <a:solidFill>
                  <a:srgbClr val="1A1A1A"/>
                </a:solidFill>
                <a:latin typeface="Calibri"/>
              </a:rPr>
              <a:t>Seul plan de prévention des risques naturels qui présente DEUX aléas (article R. 562-11-2 du CE) : aléa de référence + aléa à échéance 100 ans (majoration ≥ 60 cm dont au moins 40 cm de long terme).</a:t>
            </a:r>
          </a:p>
        </p:txBody>
      </p:sp>
      <p:sp>
        <p:nvSpPr>
          <p:cNvPr id="12" name="Rectangle 11"/>
          <p:cNvSpPr/>
          <p:nvPr/>
        </p:nvSpPr>
        <p:spPr>
          <a:xfrm>
            <a:off x="7589520" y="1188720"/>
            <a:ext cx="4206240" cy="502920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3" name="TextBox 12"/>
          <p:cNvSpPr txBox="1"/>
          <p:nvPr/>
        </p:nvSpPr>
        <p:spPr>
          <a:xfrm>
            <a:off x="7772400" y="1325880"/>
            <a:ext cx="3931920" cy="3462486"/>
          </a:xfrm>
          <a:prstGeom prst="rect">
            <a:avLst/>
          </a:prstGeom>
          <a:noFill/>
        </p:spPr>
        <p:txBody>
          <a:bodyPr wrap="square" lIns="0" tIns="0" rIns="0" bIns="0" anchor="t">
            <a:spAutoFit/>
          </a:bodyPr>
          <a:lstStyle/>
          <a:p>
            <a:pPr algn="l">
              <a:spcAft>
                <a:spcPts val="200"/>
              </a:spcAft>
            </a:pPr>
            <a:r>
              <a:rPr lang="fr-FR" sz="1600" b="1" i="0">
                <a:solidFill>
                  <a:srgbClr val="FFFFFF"/>
                </a:solidFill>
                <a:latin typeface="Calibri"/>
              </a:rPr>
              <a:t>PNACC-3</a:t>
            </a:r>
          </a:p>
          <a:p>
            <a:pPr algn="l">
              <a:spcAft>
                <a:spcPts val="200"/>
              </a:spcAft>
            </a:pPr>
            <a:r>
              <a:rPr lang="fr-FR" sz="1100" b="0" i="1">
                <a:solidFill>
                  <a:srgbClr val="FFFFFF"/>
                </a:solidFill>
                <a:latin typeface="Calibri"/>
              </a:rPr>
              <a:t>Plan national d'adaptation au changement climatique</a:t>
            </a:r>
          </a:p>
          <a:p>
            <a:pPr algn="l">
              <a:spcAft>
                <a:spcPts val="1400"/>
              </a:spcAft>
            </a:pPr>
            <a:r>
              <a:rPr lang="fr-FR" sz="1100" b="0" i="1">
                <a:solidFill>
                  <a:srgbClr val="FFFFFF"/>
                </a:solidFill>
                <a:latin typeface="Calibri"/>
              </a:rPr>
              <a:t>Publié le 10 mars 2025</a:t>
            </a:r>
          </a:p>
          <a:p>
            <a:pPr algn="l">
              <a:spcAft>
                <a:spcPts val="1400"/>
              </a:spcAft>
            </a:pPr>
            <a:r>
              <a:rPr lang="fr-FR" sz="1200" b="0" i="0">
                <a:solidFill>
                  <a:srgbClr val="FFFFFF"/>
                </a:solidFill>
                <a:latin typeface="Calibri"/>
              </a:rPr>
              <a:t>5 axes  ·  52 mesures  ·  &gt; 200 actions</a:t>
            </a:r>
          </a:p>
          <a:p>
            <a:pPr algn="l">
              <a:spcAft>
                <a:spcPts val="200"/>
              </a:spcAft>
            </a:pPr>
            <a:r>
              <a:rPr lang="fr-FR" sz="1600" b="1" i="0">
                <a:solidFill>
                  <a:srgbClr val="FFFFFF"/>
                </a:solidFill>
                <a:latin typeface="Calibri"/>
              </a:rPr>
              <a:t>TRACC</a:t>
            </a:r>
          </a:p>
          <a:p>
            <a:pPr algn="l">
              <a:spcAft>
                <a:spcPts val="1400"/>
              </a:spcAft>
            </a:pPr>
            <a:r>
              <a:rPr lang="fr-FR" sz="1100" b="0" i="1">
                <a:solidFill>
                  <a:srgbClr val="FFFFFF"/>
                </a:solidFill>
                <a:latin typeface="Calibri"/>
              </a:rPr>
              <a:t>Trajectoire de réchauffement de référence pour l'adaptation</a:t>
            </a:r>
          </a:p>
          <a:p>
            <a:pPr algn="ctr">
              <a:spcAft>
                <a:spcPts val="200"/>
              </a:spcAft>
            </a:pPr>
            <a:r>
              <a:rPr lang="fr-FR" sz="2800" b="1" i="0">
                <a:solidFill>
                  <a:srgbClr val="FFFFFF"/>
                </a:solidFill>
                <a:latin typeface="Calibri"/>
              </a:rPr>
              <a:t>+2,7 °C</a:t>
            </a:r>
          </a:p>
          <a:p>
            <a:pPr algn="ctr">
              <a:spcAft>
                <a:spcPts val="1200"/>
              </a:spcAft>
            </a:pPr>
            <a:r>
              <a:rPr lang="fr-FR" sz="1100" b="0" i="1">
                <a:solidFill>
                  <a:srgbClr val="FFFFFF"/>
                </a:solidFill>
                <a:latin typeface="Calibri"/>
              </a:rPr>
              <a:t>France hexagonale en 2050</a:t>
            </a:r>
          </a:p>
          <a:p>
            <a:pPr algn="ctr">
              <a:spcAft>
                <a:spcPts val="200"/>
              </a:spcAft>
            </a:pPr>
            <a:r>
              <a:rPr lang="fr-FR" sz="2800" b="1" i="0">
                <a:solidFill>
                  <a:srgbClr val="FFFFFF"/>
                </a:solidFill>
                <a:latin typeface="Calibri"/>
              </a:rPr>
              <a:t>+4 °C</a:t>
            </a:r>
          </a:p>
          <a:p>
            <a:pPr algn="ctr">
              <a:spcAft>
                <a:spcPts val="800"/>
              </a:spcAft>
            </a:pPr>
            <a:r>
              <a:rPr lang="fr-FR" sz="1100" b="0" i="1">
                <a:solidFill>
                  <a:srgbClr val="FFFFFF"/>
                </a:solidFill>
                <a:latin typeface="Calibri"/>
              </a:rPr>
              <a:t>France hexagonale en 2100</a:t>
            </a:r>
          </a:p>
          <a:p>
            <a:pPr algn="ctr"/>
            <a:r>
              <a:rPr lang="fr-FR" sz="1000" b="0" i="1">
                <a:solidFill>
                  <a:srgbClr val="FFFFFF"/>
                </a:solidFill>
                <a:latin typeface="Calibri"/>
              </a:rPr>
              <a:t>Inscrite par décret au code de l'environnement le 26 janvier 2026.</a:t>
            </a:r>
          </a:p>
        </p:txBody>
      </p:sp>
      <p:sp>
        <p:nvSpPr>
          <p:cNvPr id="3" name="Espace réservé du numéro de diapositive 2">
            <a:extLst>
              <a:ext uri="{FF2B5EF4-FFF2-40B4-BE49-F238E27FC236}">
                <a16:creationId xmlns:a16="http://schemas.microsoft.com/office/drawing/2014/main" id="{57D73CDD-5E15-4EC8-AF5E-CB93915FD08C}"/>
              </a:ext>
            </a:extLst>
          </p:cNvPr>
          <p:cNvSpPr>
            <a:spLocks noGrp="1"/>
          </p:cNvSpPr>
          <p:nvPr>
            <p:ph type="sldNum" sz="quarter" idx="4"/>
          </p:nvPr>
        </p:nvSpPr>
        <p:spPr/>
        <p:txBody>
          <a:bodyPr/>
          <a:lstStyle/>
          <a:p>
            <a:fld id="{9981E6DC-ACA4-4CC4-B142-EC9DBA1C6CBA}" type="slidenum">
              <a:rPr lang="en-US" smtClean="0"/>
              <a:pPr/>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Focus — élévation du niveau moyen de la mer</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1712595"/>
            <a:ext cx="6400800" cy="230832"/>
          </a:xfrm>
          <a:prstGeom prst="rect">
            <a:avLst/>
          </a:prstGeom>
          <a:noFill/>
        </p:spPr>
        <p:txBody>
          <a:bodyPr wrap="square" lIns="0" tIns="0" rIns="0" bIns="0" anchor="t">
            <a:spAutoFit/>
          </a:bodyPr>
          <a:lstStyle/>
          <a:p>
            <a:pPr algn="l"/>
            <a:r>
              <a:rPr lang="fr-FR" sz="1500" b="1" i="0">
                <a:solidFill>
                  <a:srgbClr val="328088"/>
                </a:solidFill>
                <a:latin typeface="Calibri"/>
              </a:rPr>
              <a:t>Projections GIEC (AR6, 2021) — élévation au niveau global</a:t>
            </a:r>
          </a:p>
        </p:txBody>
      </p:sp>
      <p:sp>
        <p:nvSpPr>
          <p:cNvPr id="12" name="Rectangle 11"/>
          <p:cNvSpPr/>
          <p:nvPr/>
        </p:nvSpPr>
        <p:spPr>
          <a:xfrm>
            <a:off x="457200" y="2167890"/>
            <a:ext cx="1508760" cy="411480"/>
          </a:xfrm>
          <a:prstGeom prst="rect">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000"/>
          </a:p>
        </p:txBody>
      </p:sp>
      <p:sp>
        <p:nvSpPr>
          <p:cNvPr id="13" name="TextBox 12"/>
          <p:cNvSpPr txBox="1"/>
          <p:nvPr/>
        </p:nvSpPr>
        <p:spPr>
          <a:xfrm>
            <a:off x="457200" y="2265908"/>
            <a:ext cx="1508760" cy="215444"/>
          </a:xfrm>
          <a:prstGeom prst="rect">
            <a:avLst/>
          </a:prstGeom>
          <a:noFill/>
        </p:spPr>
        <p:txBody>
          <a:bodyPr wrap="square" lIns="0" tIns="0" rIns="0" bIns="0" anchor="ctr">
            <a:spAutoFit/>
          </a:bodyPr>
          <a:lstStyle/>
          <a:p>
            <a:pPr algn="ctr"/>
            <a:r>
              <a:rPr lang="fr-FR" sz="1400" b="1" i="0">
                <a:solidFill>
                  <a:srgbClr val="FFFFFF"/>
                </a:solidFill>
                <a:latin typeface="Calibri"/>
              </a:rPr>
              <a:t>Scénario</a:t>
            </a:r>
          </a:p>
        </p:txBody>
      </p:sp>
      <p:sp>
        <p:nvSpPr>
          <p:cNvPr id="14" name="Rectangle 13"/>
          <p:cNvSpPr/>
          <p:nvPr/>
        </p:nvSpPr>
        <p:spPr>
          <a:xfrm>
            <a:off x="1965960" y="2167890"/>
            <a:ext cx="1554480" cy="411480"/>
          </a:xfrm>
          <a:prstGeom prst="rect">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000"/>
          </a:p>
        </p:txBody>
      </p:sp>
      <p:sp>
        <p:nvSpPr>
          <p:cNvPr id="15" name="TextBox 14"/>
          <p:cNvSpPr txBox="1"/>
          <p:nvPr/>
        </p:nvSpPr>
        <p:spPr>
          <a:xfrm>
            <a:off x="1965960" y="2265908"/>
            <a:ext cx="1554480" cy="215444"/>
          </a:xfrm>
          <a:prstGeom prst="rect">
            <a:avLst/>
          </a:prstGeom>
          <a:noFill/>
        </p:spPr>
        <p:txBody>
          <a:bodyPr wrap="square" lIns="0" tIns="0" rIns="0" bIns="0" anchor="ctr">
            <a:spAutoFit/>
          </a:bodyPr>
          <a:lstStyle/>
          <a:p>
            <a:pPr algn="ctr"/>
            <a:r>
              <a:rPr lang="fr-FR" sz="1400" b="1" i="0">
                <a:solidFill>
                  <a:srgbClr val="FFFFFF"/>
                </a:solidFill>
                <a:latin typeface="Calibri"/>
              </a:rPr>
              <a:t>2050</a:t>
            </a:r>
          </a:p>
        </p:txBody>
      </p:sp>
      <p:sp>
        <p:nvSpPr>
          <p:cNvPr id="16" name="Rectangle 15"/>
          <p:cNvSpPr/>
          <p:nvPr/>
        </p:nvSpPr>
        <p:spPr>
          <a:xfrm>
            <a:off x="3520439" y="2167890"/>
            <a:ext cx="1554480" cy="411480"/>
          </a:xfrm>
          <a:prstGeom prst="rect">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000"/>
          </a:p>
        </p:txBody>
      </p:sp>
      <p:sp>
        <p:nvSpPr>
          <p:cNvPr id="17" name="TextBox 16"/>
          <p:cNvSpPr txBox="1"/>
          <p:nvPr/>
        </p:nvSpPr>
        <p:spPr>
          <a:xfrm>
            <a:off x="3520439" y="2265908"/>
            <a:ext cx="1554480" cy="215444"/>
          </a:xfrm>
          <a:prstGeom prst="rect">
            <a:avLst/>
          </a:prstGeom>
          <a:noFill/>
        </p:spPr>
        <p:txBody>
          <a:bodyPr wrap="square" lIns="0" tIns="0" rIns="0" bIns="0" anchor="ctr">
            <a:spAutoFit/>
          </a:bodyPr>
          <a:lstStyle/>
          <a:p>
            <a:pPr algn="ctr"/>
            <a:r>
              <a:rPr lang="fr-FR" sz="1400" b="1" i="0">
                <a:solidFill>
                  <a:srgbClr val="FFFFFF"/>
                </a:solidFill>
                <a:latin typeface="Calibri"/>
              </a:rPr>
              <a:t>2100</a:t>
            </a:r>
          </a:p>
        </p:txBody>
      </p:sp>
      <p:sp>
        <p:nvSpPr>
          <p:cNvPr id="18" name="Rectangle 17"/>
          <p:cNvSpPr/>
          <p:nvPr/>
        </p:nvSpPr>
        <p:spPr>
          <a:xfrm>
            <a:off x="5074920" y="2167890"/>
            <a:ext cx="1554480" cy="411480"/>
          </a:xfrm>
          <a:prstGeom prst="rect">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000"/>
          </a:p>
        </p:txBody>
      </p:sp>
      <p:sp>
        <p:nvSpPr>
          <p:cNvPr id="19" name="TextBox 18"/>
          <p:cNvSpPr txBox="1"/>
          <p:nvPr/>
        </p:nvSpPr>
        <p:spPr>
          <a:xfrm>
            <a:off x="5074920" y="2265908"/>
            <a:ext cx="1554480" cy="215444"/>
          </a:xfrm>
          <a:prstGeom prst="rect">
            <a:avLst/>
          </a:prstGeom>
          <a:noFill/>
        </p:spPr>
        <p:txBody>
          <a:bodyPr wrap="square" lIns="0" tIns="0" rIns="0" bIns="0" anchor="ctr">
            <a:spAutoFit/>
          </a:bodyPr>
          <a:lstStyle/>
          <a:p>
            <a:pPr algn="ctr"/>
            <a:r>
              <a:rPr lang="fr-FR" sz="1400" b="1" i="0">
                <a:solidFill>
                  <a:srgbClr val="FFFFFF"/>
                </a:solidFill>
                <a:latin typeface="Calibri"/>
              </a:rPr>
              <a:t>2150</a:t>
            </a:r>
          </a:p>
        </p:txBody>
      </p:sp>
      <p:sp>
        <p:nvSpPr>
          <p:cNvPr id="20" name="Rectangle 19"/>
          <p:cNvSpPr/>
          <p:nvPr/>
        </p:nvSpPr>
        <p:spPr>
          <a:xfrm>
            <a:off x="457200" y="2579370"/>
            <a:ext cx="1508760" cy="457200"/>
          </a:xfrm>
          <a:prstGeom prst="rect">
            <a:avLst/>
          </a:prstGeom>
          <a:solidFill>
            <a:srgbClr val="ECECEC"/>
          </a:solidFill>
          <a:ln w="6350">
            <a:solidFill>
              <a:srgbClr val="C0C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000"/>
          </a:p>
        </p:txBody>
      </p:sp>
      <p:sp>
        <p:nvSpPr>
          <p:cNvPr id="21" name="TextBox 20"/>
          <p:cNvSpPr txBox="1"/>
          <p:nvPr/>
        </p:nvSpPr>
        <p:spPr>
          <a:xfrm>
            <a:off x="457200" y="2715637"/>
            <a:ext cx="1508760" cy="184666"/>
          </a:xfrm>
          <a:prstGeom prst="rect">
            <a:avLst/>
          </a:prstGeom>
          <a:noFill/>
        </p:spPr>
        <p:txBody>
          <a:bodyPr wrap="square" lIns="0" tIns="0" rIns="0" bIns="0" anchor="ctr">
            <a:spAutoFit/>
          </a:bodyPr>
          <a:lstStyle/>
          <a:p>
            <a:pPr algn="ctr"/>
            <a:r>
              <a:rPr lang="fr-FR" sz="1200" b="1" i="0">
                <a:solidFill>
                  <a:srgbClr val="1A1A1A"/>
                </a:solidFill>
                <a:latin typeface="Calibri"/>
              </a:rPr>
              <a:t>SSP1 — RCP 2.6</a:t>
            </a:r>
          </a:p>
        </p:txBody>
      </p:sp>
      <p:sp>
        <p:nvSpPr>
          <p:cNvPr id="22" name="Rectangle 21"/>
          <p:cNvSpPr/>
          <p:nvPr/>
        </p:nvSpPr>
        <p:spPr>
          <a:xfrm>
            <a:off x="1965960" y="2579370"/>
            <a:ext cx="1554480" cy="457200"/>
          </a:xfrm>
          <a:prstGeom prst="rect">
            <a:avLst/>
          </a:prstGeom>
          <a:solidFill>
            <a:srgbClr val="ECECEC"/>
          </a:solidFill>
          <a:ln w="6350">
            <a:solidFill>
              <a:srgbClr val="C0C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000"/>
          </a:p>
        </p:txBody>
      </p:sp>
      <p:sp>
        <p:nvSpPr>
          <p:cNvPr id="23" name="TextBox 22"/>
          <p:cNvSpPr txBox="1"/>
          <p:nvPr/>
        </p:nvSpPr>
        <p:spPr>
          <a:xfrm>
            <a:off x="1965960" y="2715637"/>
            <a:ext cx="1554480" cy="184666"/>
          </a:xfrm>
          <a:prstGeom prst="rect">
            <a:avLst/>
          </a:prstGeom>
          <a:noFill/>
        </p:spPr>
        <p:txBody>
          <a:bodyPr wrap="square" lIns="0" tIns="0" rIns="0" bIns="0" anchor="ctr">
            <a:spAutoFit/>
          </a:bodyPr>
          <a:lstStyle/>
          <a:p>
            <a:pPr algn="ctr"/>
            <a:r>
              <a:rPr lang="fr-FR" sz="1200" b="0" i="0">
                <a:solidFill>
                  <a:srgbClr val="1A1A1A"/>
                </a:solidFill>
                <a:latin typeface="Calibri"/>
              </a:rPr>
              <a:t>0,19 m  [0,16-0,25]</a:t>
            </a:r>
          </a:p>
        </p:txBody>
      </p:sp>
      <p:sp>
        <p:nvSpPr>
          <p:cNvPr id="24" name="Rectangle 23"/>
          <p:cNvSpPr/>
          <p:nvPr/>
        </p:nvSpPr>
        <p:spPr>
          <a:xfrm>
            <a:off x="3520439" y="2579370"/>
            <a:ext cx="1554480" cy="457200"/>
          </a:xfrm>
          <a:prstGeom prst="rect">
            <a:avLst/>
          </a:prstGeom>
          <a:solidFill>
            <a:srgbClr val="ECECEC"/>
          </a:solidFill>
          <a:ln w="6350">
            <a:solidFill>
              <a:srgbClr val="C0C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000"/>
          </a:p>
        </p:txBody>
      </p:sp>
      <p:sp>
        <p:nvSpPr>
          <p:cNvPr id="25" name="TextBox 24"/>
          <p:cNvSpPr txBox="1"/>
          <p:nvPr/>
        </p:nvSpPr>
        <p:spPr>
          <a:xfrm>
            <a:off x="3520439" y="2715637"/>
            <a:ext cx="1554480" cy="184666"/>
          </a:xfrm>
          <a:prstGeom prst="rect">
            <a:avLst/>
          </a:prstGeom>
          <a:noFill/>
        </p:spPr>
        <p:txBody>
          <a:bodyPr wrap="square" lIns="0" tIns="0" rIns="0" bIns="0" anchor="ctr">
            <a:spAutoFit/>
          </a:bodyPr>
          <a:lstStyle/>
          <a:p>
            <a:pPr algn="ctr"/>
            <a:r>
              <a:rPr lang="fr-FR" sz="1200" b="0" i="0">
                <a:solidFill>
                  <a:srgbClr val="1A1A1A"/>
                </a:solidFill>
                <a:latin typeface="Calibri"/>
              </a:rPr>
              <a:t>0,44 m  [0,32-0,62]</a:t>
            </a:r>
          </a:p>
        </p:txBody>
      </p:sp>
      <p:sp>
        <p:nvSpPr>
          <p:cNvPr id="26" name="Rectangle 25"/>
          <p:cNvSpPr/>
          <p:nvPr/>
        </p:nvSpPr>
        <p:spPr>
          <a:xfrm>
            <a:off x="5074920" y="2579370"/>
            <a:ext cx="1554480" cy="457200"/>
          </a:xfrm>
          <a:prstGeom prst="rect">
            <a:avLst/>
          </a:prstGeom>
          <a:solidFill>
            <a:srgbClr val="ECECEC"/>
          </a:solidFill>
          <a:ln w="6350">
            <a:solidFill>
              <a:srgbClr val="C0C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000"/>
          </a:p>
        </p:txBody>
      </p:sp>
      <p:sp>
        <p:nvSpPr>
          <p:cNvPr id="27" name="TextBox 26"/>
          <p:cNvSpPr txBox="1"/>
          <p:nvPr/>
        </p:nvSpPr>
        <p:spPr>
          <a:xfrm>
            <a:off x="5074920" y="2715637"/>
            <a:ext cx="1554480" cy="184666"/>
          </a:xfrm>
          <a:prstGeom prst="rect">
            <a:avLst/>
          </a:prstGeom>
          <a:noFill/>
        </p:spPr>
        <p:txBody>
          <a:bodyPr wrap="square" lIns="0" tIns="0" rIns="0" bIns="0" anchor="ctr">
            <a:spAutoFit/>
          </a:bodyPr>
          <a:lstStyle/>
          <a:p>
            <a:pPr algn="ctr"/>
            <a:r>
              <a:rPr lang="fr-FR" sz="1200" b="0" i="0">
                <a:solidFill>
                  <a:srgbClr val="1A1A1A"/>
                </a:solidFill>
                <a:latin typeface="Calibri"/>
              </a:rPr>
              <a:t>0,68 m  [0,46-0,99]</a:t>
            </a:r>
          </a:p>
        </p:txBody>
      </p:sp>
      <p:sp>
        <p:nvSpPr>
          <p:cNvPr id="28" name="Rectangle 27"/>
          <p:cNvSpPr/>
          <p:nvPr/>
        </p:nvSpPr>
        <p:spPr>
          <a:xfrm>
            <a:off x="457200" y="3036570"/>
            <a:ext cx="1508760" cy="457200"/>
          </a:xfrm>
          <a:prstGeom prst="rect">
            <a:avLst/>
          </a:prstGeom>
          <a:solidFill>
            <a:srgbClr val="FFFFFF"/>
          </a:solidFill>
          <a:ln w="6350">
            <a:solidFill>
              <a:srgbClr val="C0C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000"/>
          </a:p>
        </p:txBody>
      </p:sp>
      <p:sp>
        <p:nvSpPr>
          <p:cNvPr id="29" name="TextBox 28"/>
          <p:cNvSpPr txBox="1"/>
          <p:nvPr/>
        </p:nvSpPr>
        <p:spPr>
          <a:xfrm>
            <a:off x="457200" y="3172837"/>
            <a:ext cx="1508760" cy="184666"/>
          </a:xfrm>
          <a:prstGeom prst="rect">
            <a:avLst/>
          </a:prstGeom>
          <a:noFill/>
        </p:spPr>
        <p:txBody>
          <a:bodyPr wrap="square" lIns="0" tIns="0" rIns="0" bIns="0" anchor="ctr">
            <a:spAutoFit/>
          </a:bodyPr>
          <a:lstStyle/>
          <a:p>
            <a:pPr algn="ctr"/>
            <a:r>
              <a:rPr lang="fr-FR" sz="1200" b="1" i="0">
                <a:solidFill>
                  <a:srgbClr val="1A1A1A"/>
                </a:solidFill>
                <a:latin typeface="Calibri"/>
              </a:rPr>
              <a:t>SSP2 — RCP 4.5</a:t>
            </a:r>
          </a:p>
        </p:txBody>
      </p:sp>
      <p:sp>
        <p:nvSpPr>
          <p:cNvPr id="30" name="Rectangle 29"/>
          <p:cNvSpPr/>
          <p:nvPr/>
        </p:nvSpPr>
        <p:spPr>
          <a:xfrm>
            <a:off x="1965960" y="3036570"/>
            <a:ext cx="1554480" cy="457200"/>
          </a:xfrm>
          <a:prstGeom prst="rect">
            <a:avLst/>
          </a:prstGeom>
          <a:solidFill>
            <a:srgbClr val="FFFFFF"/>
          </a:solidFill>
          <a:ln w="6350">
            <a:solidFill>
              <a:srgbClr val="C0C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000"/>
          </a:p>
        </p:txBody>
      </p:sp>
      <p:sp>
        <p:nvSpPr>
          <p:cNvPr id="31" name="TextBox 30"/>
          <p:cNvSpPr txBox="1"/>
          <p:nvPr/>
        </p:nvSpPr>
        <p:spPr>
          <a:xfrm>
            <a:off x="1965960" y="3172837"/>
            <a:ext cx="1554480" cy="184666"/>
          </a:xfrm>
          <a:prstGeom prst="rect">
            <a:avLst/>
          </a:prstGeom>
          <a:noFill/>
        </p:spPr>
        <p:txBody>
          <a:bodyPr wrap="square" lIns="0" tIns="0" rIns="0" bIns="0" anchor="ctr">
            <a:spAutoFit/>
          </a:bodyPr>
          <a:lstStyle/>
          <a:p>
            <a:pPr algn="ctr"/>
            <a:r>
              <a:rPr lang="fr-FR" sz="1200" b="0" i="0">
                <a:solidFill>
                  <a:srgbClr val="1A1A1A"/>
                </a:solidFill>
                <a:latin typeface="Calibri"/>
              </a:rPr>
              <a:t>0,20 m  [0,17-0,26]</a:t>
            </a:r>
          </a:p>
        </p:txBody>
      </p:sp>
      <p:sp>
        <p:nvSpPr>
          <p:cNvPr id="32" name="Rectangle 31"/>
          <p:cNvSpPr/>
          <p:nvPr/>
        </p:nvSpPr>
        <p:spPr>
          <a:xfrm>
            <a:off x="3520439" y="3036570"/>
            <a:ext cx="1554480" cy="457200"/>
          </a:xfrm>
          <a:prstGeom prst="rect">
            <a:avLst/>
          </a:prstGeom>
          <a:solidFill>
            <a:srgbClr val="FFFFFF"/>
          </a:solidFill>
          <a:ln w="6350">
            <a:solidFill>
              <a:srgbClr val="C0C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000"/>
          </a:p>
        </p:txBody>
      </p:sp>
      <p:sp>
        <p:nvSpPr>
          <p:cNvPr id="33" name="TextBox 32"/>
          <p:cNvSpPr txBox="1"/>
          <p:nvPr/>
        </p:nvSpPr>
        <p:spPr>
          <a:xfrm>
            <a:off x="3520439" y="3172837"/>
            <a:ext cx="1554480" cy="184666"/>
          </a:xfrm>
          <a:prstGeom prst="rect">
            <a:avLst/>
          </a:prstGeom>
          <a:noFill/>
        </p:spPr>
        <p:txBody>
          <a:bodyPr wrap="square" lIns="0" tIns="0" rIns="0" bIns="0" anchor="ctr">
            <a:spAutoFit/>
          </a:bodyPr>
          <a:lstStyle/>
          <a:p>
            <a:pPr algn="ctr"/>
            <a:r>
              <a:rPr lang="fr-FR" sz="1200" b="0" i="0">
                <a:solidFill>
                  <a:srgbClr val="1A1A1A"/>
                </a:solidFill>
                <a:latin typeface="Calibri"/>
              </a:rPr>
              <a:t>0,56 m  [0,44-0,76]</a:t>
            </a:r>
          </a:p>
        </p:txBody>
      </p:sp>
      <p:sp>
        <p:nvSpPr>
          <p:cNvPr id="34" name="Rectangle 33"/>
          <p:cNvSpPr/>
          <p:nvPr/>
        </p:nvSpPr>
        <p:spPr>
          <a:xfrm>
            <a:off x="5074920" y="3036570"/>
            <a:ext cx="1554480" cy="457200"/>
          </a:xfrm>
          <a:prstGeom prst="rect">
            <a:avLst/>
          </a:prstGeom>
          <a:solidFill>
            <a:srgbClr val="FFFFFF"/>
          </a:solidFill>
          <a:ln w="6350">
            <a:solidFill>
              <a:srgbClr val="C0C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000"/>
          </a:p>
        </p:txBody>
      </p:sp>
      <p:sp>
        <p:nvSpPr>
          <p:cNvPr id="35" name="TextBox 34"/>
          <p:cNvSpPr txBox="1"/>
          <p:nvPr/>
        </p:nvSpPr>
        <p:spPr>
          <a:xfrm>
            <a:off x="5074920" y="3172837"/>
            <a:ext cx="1554480" cy="184666"/>
          </a:xfrm>
          <a:prstGeom prst="rect">
            <a:avLst/>
          </a:prstGeom>
          <a:noFill/>
        </p:spPr>
        <p:txBody>
          <a:bodyPr wrap="square" lIns="0" tIns="0" rIns="0" bIns="0" anchor="ctr">
            <a:spAutoFit/>
          </a:bodyPr>
          <a:lstStyle/>
          <a:p>
            <a:pPr algn="ctr"/>
            <a:r>
              <a:rPr lang="fr-FR" sz="1200" b="0" i="0">
                <a:solidFill>
                  <a:srgbClr val="1A1A1A"/>
                </a:solidFill>
                <a:latin typeface="Calibri"/>
              </a:rPr>
              <a:t>0,92 m  [0,66-1,33]</a:t>
            </a:r>
          </a:p>
        </p:txBody>
      </p:sp>
      <p:sp>
        <p:nvSpPr>
          <p:cNvPr id="36" name="Rectangle 35"/>
          <p:cNvSpPr/>
          <p:nvPr/>
        </p:nvSpPr>
        <p:spPr>
          <a:xfrm>
            <a:off x="457200" y="3493770"/>
            <a:ext cx="1508760" cy="457200"/>
          </a:xfrm>
          <a:prstGeom prst="rect">
            <a:avLst/>
          </a:prstGeom>
          <a:solidFill>
            <a:srgbClr val="ECECEC"/>
          </a:solidFill>
          <a:ln w="6350">
            <a:solidFill>
              <a:srgbClr val="C0C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000"/>
          </a:p>
        </p:txBody>
      </p:sp>
      <p:sp>
        <p:nvSpPr>
          <p:cNvPr id="37" name="TextBox 36"/>
          <p:cNvSpPr txBox="1"/>
          <p:nvPr/>
        </p:nvSpPr>
        <p:spPr>
          <a:xfrm>
            <a:off x="457200" y="3630037"/>
            <a:ext cx="1508760" cy="184666"/>
          </a:xfrm>
          <a:prstGeom prst="rect">
            <a:avLst/>
          </a:prstGeom>
          <a:noFill/>
        </p:spPr>
        <p:txBody>
          <a:bodyPr wrap="square" lIns="0" tIns="0" rIns="0" bIns="0" anchor="ctr">
            <a:spAutoFit/>
          </a:bodyPr>
          <a:lstStyle/>
          <a:p>
            <a:pPr algn="ctr"/>
            <a:r>
              <a:rPr lang="fr-FR" sz="1200" b="1" i="0">
                <a:solidFill>
                  <a:srgbClr val="1A1A1A"/>
                </a:solidFill>
                <a:latin typeface="Calibri"/>
              </a:rPr>
              <a:t>SSP5 — RCP 8.5</a:t>
            </a:r>
          </a:p>
        </p:txBody>
      </p:sp>
      <p:sp>
        <p:nvSpPr>
          <p:cNvPr id="38" name="Rectangle 37"/>
          <p:cNvSpPr/>
          <p:nvPr/>
        </p:nvSpPr>
        <p:spPr>
          <a:xfrm>
            <a:off x="1965960" y="3493770"/>
            <a:ext cx="1554480" cy="457200"/>
          </a:xfrm>
          <a:prstGeom prst="rect">
            <a:avLst/>
          </a:prstGeom>
          <a:solidFill>
            <a:srgbClr val="ECECEC"/>
          </a:solidFill>
          <a:ln w="6350">
            <a:solidFill>
              <a:srgbClr val="C0C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000"/>
          </a:p>
        </p:txBody>
      </p:sp>
      <p:sp>
        <p:nvSpPr>
          <p:cNvPr id="39" name="TextBox 38"/>
          <p:cNvSpPr txBox="1"/>
          <p:nvPr/>
        </p:nvSpPr>
        <p:spPr>
          <a:xfrm>
            <a:off x="1965960" y="3630037"/>
            <a:ext cx="1554480" cy="184666"/>
          </a:xfrm>
          <a:prstGeom prst="rect">
            <a:avLst/>
          </a:prstGeom>
          <a:noFill/>
        </p:spPr>
        <p:txBody>
          <a:bodyPr wrap="square" lIns="0" tIns="0" rIns="0" bIns="0" anchor="ctr">
            <a:spAutoFit/>
          </a:bodyPr>
          <a:lstStyle/>
          <a:p>
            <a:pPr algn="ctr"/>
            <a:r>
              <a:rPr lang="fr-FR" sz="1200" b="0" i="0">
                <a:solidFill>
                  <a:srgbClr val="1A1A1A"/>
                </a:solidFill>
                <a:latin typeface="Calibri"/>
              </a:rPr>
              <a:t>0,23 m  [0,20-0,29]</a:t>
            </a:r>
          </a:p>
        </p:txBody>
      </p:sp>
      <p:sp>
        <p:nvSpPr>
          <p:cNvPr id="40" name="Rectangle 39"/>
          <p:cNvSpPr/>
          <p:nvPr/>
        </p:nvSpPr>
        <p:spPr>
          <a:xfrm>
            <a:off x="3520439" y="3493770"/>
            <a:ext cx="1554480" cy="457200"/>
          </a:xfrm>
          <a:prstGeom prst="rect">
            <a:avLst/>
          </a:prstGeom>
          <a:solidFill>
            <a:srgbClr val="ECECEC"/>
          </a:solidFill>
          <a:ln w="6350">
            <a:solidFill>
              <a:srgbClr val="C0C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000"/>
          </a:p>
        </p:txBody>
      </p:sp>
      <p:sp>
        <p:nvSpPr>
          <p:cNvPr id="41" name="TextBox 40"/>
          <p:cNvSpPr txBox="1"/>
          <p:nvPr/>
        </p:nvSpPr>
        <p:spPr>
          <a:xfrm>
            <a:off x="3520439" y="3630037"/>
            <a:ext cx="1554480" cy="184666"/>
          </a:xfrm>
          <a:prstGeom prst="rect">
            <a:avLst/>
          </a:prstGeom>
          <a:noFill/>
        </p:spPr>
        <p:txBody>
          <a:bodyPr wrap="square" lIns="0" tIns="0" rIns="0" bIns="0" anchor="ctr">
            <a:spAutoFit/>
          </a:bodyPr>
          <a:lstStyle/>
          <a:p>
            <a:pPr algn="ctr"/>
            <a:r>
              <a:rPr lang="fr-FR" sz="1200" b="0" i="0">
                <a:solidFill>
                  <a:srgbClr val="1A1A1A"/>
                </a:solidFill>
                <a:latin typeface="Calibri"/>
              </a:rPr>
              <a:t>0,77 m  [0,63-1,01]</a:t>
            </a:r>
          </a:p>
        </p:txBody>
      </p:sp>
      <p:sp>
        <p:nvSpPr>
          <p:cNvPr id="42" name="Rectangle 41"/>
          <p:cNvSpPr/>
          <p:nvPr/>
        </p:nvSpPr>
        <p:spPr>
          <a:xfrm>
            <a:off x="5074920" y="3493770"/>
            <a:ext cx="1554480" cy="457200"/>
          </a:xfrm>
          <a:prstGeom prst="rect">
            <a:avLst/>
          </a:prstGeom>
          <a:solidFill>
            <a:srgbClr val="ECECEC"/>
          </a:solidFill>
          <a:ln w="6350">
            <a:solidFill>
              <a:srgbClr val="C0C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000"/>
          </a:p>
        </p:txBody>
      </p:sp>
      <p:sp>
        <p:nvSpPr>
          <p:cNvPr id="43" name="TextBox 42"/>
          <p:cNvSpPr txBox="1"/>
          <p:nvPr/>
        </p:nvSpPr>
        <p:spPr>
          <a:xfrm>
            <a:off x="5074920" y="3630037"/>
            <a:ext cx="1554480" cy="184666"/>
          </a:xfrm>
          <a:prstGeom prst="rect">
            <a:avLst/>
          </a:prstGeom>
          <a:noFill/>
        </p:spPr>
        <p:txBody>
          <a:bodyPr wrap="square" lIns="0" tIns="0" rIns="0" bIns="0" anchor="ctr">
            <a:spAutoFit/>
          </a:bodyPr>
          <a:lstStyle/>
          <a:p>
            <a:pPr algn="ctr"/>
            <a:r>
              <a:rPr lang="fr-FR" sz="1200" b="0" i="0">
                <a:solidFill>
                  <a:srgbClr val="1A1A1A"/>
                </a:solidFill>
                <a:latin typeface="Calibri"/>
              </a:rPr>
              <a:t>1,32 m  [0,98-1,88]</a:t>
            </a:r>
          </a:p>
        </p:txBody>
      </p:sp>
      <p:sp>
        <p:nvSpPr>
          <p:cNvPr id="44" name="Rectangle 43"/>
          <p:cNvSpPr/>
          <p:nvPr/>
        </p:nvSpPr>
        <p:spPr>
          <a:xfrm>
            <a:off x="6766560" y="1691640"/>
            <a:ext cx="5029200" cy="292608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45" name="TextBox 44"/>
          <p:cNvSpPr txBox="1"/>
          <p:nvPr/>
        </p:nvSpPr>
        <p:spPr>
          <a:xfrm>
            <a:off x="6949440" y="1828800"/>
            <a:ext cx="4754880" cy="2092881"/>
          </a:xfrm>
          <a:prstGeom prst="rect">
            <a:avLst/>
          </a:prstGeom>
          <a:noFill/>
        </p:spPr>
        <p:txBody>
          <a:bodyPr wrap="square" lIns="0" tIns="0" rIns="0" bIns="0" anchor="t">
            <a:spAutoFit/>
          </a:bodyPr>
          <a:lstStyle/>
          <a:p>
            <a:pPr algn="l">
              <a:spcAft>
                <a:spcPts val="800"/>
              </a:spcAft>
            </a:pPr>
            <a:r>
              <a:rPr lang="fr-FR" b="1" i="0">
                <a:solidFill>
                  <a:srgbClr val="FFFFFF"/>
                </a:solidFill>
                <a:latin typeface="Calibri"/>
              </a:rPr>
              <a:t>À retenir pour le littoral français</a:t>
            </a:r>
          </a:p>
          <a:p>
            <a:pPr algn="l">
              <a:spcAft>
                <a:spcPts val="800"/>
              </a:spcAft>
            </a:pPr>
            <a:r>
              <a:rPr lang="fr-FR" sz="1400" b="0" i="1">
                <a:solidFill>
                  <a:srgbClr val="FFFFFF"/>
                </a:solidFill>
                <a:latin typeface="Calibri"/>
              </a:rPr>
              <a:t>Seul aléa sur lequel les connaissances scientifiques permettent de trouver un consensus.</a:t>
            </a:r>
          </a:p>
          <a:p>
            <a:pPr algn="l">
              <a:spcAft>
                <a:spcPts val="800"/>
              </a:spcAft>
            </a:pPr>
            <a:r>
              <a:rPr lang="fr-FR" sz="1400" b="0" i="0">
                <a:solidFill>
                  <a:srgbClr val="FFFFFF"/>
                </a:solidFill>
                <a:latin typeface="Calibri"/>
              </a:rPr>
              <a:t>À horizon 2100, les hauteurs d'eau atteintes une fois par siècle pourraient l'être au moins une fois par an sur plus de la moitié des emplacements des marégraphes.</a:t>
            </a:r>
          </a:p>
          <a:p>
            <a:pPr algn="l"/>
            <a:r>
              <a:rPr lang="fr-FR" sz="1400" b="0" i="0">
                <a:solidFill>
                  <a:srgbClr val="FFFFFF"/>
                </a:solidFill>
                <a:latin typeface="Calibri"/>
              </a:rPr>
              <a:t>Régions WCE et MED à horizon 2100 : + 0,4 m à + 0,8 m selon les scénarios.</a:t>
            </a:r>
          </a:p>
        </p:txBody>
      </p:sp>
      <p:sp>
        <p:nvSpPr>
          <p:cNvPr id="46" name="Rectangle 45"/>
          <p:cNvSpPr/>
          <p:nvPr/>
        </p:nvSpPr>
        <p:spPr>
          <a:xfrm>
            <a:off x="457200" y="4846320"/>
            <a:ext cx="11338560" cy="141732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47" name="TextBox 46"/>
          <p:cNvSpPr txBox="1"/>
          <p:nvPr/>
        </p:nvSpPr>
        <p:spPr>
          <a:xfrm>
            <a:off x="640080" y="4983480"/>
            <a:ext cx="10972800" cy="789960"/>
          </a:xfrm>
          <a:prstGeom prst="rect">
            <a:avLst/>
          </a:prstGeom>
          <a:noFill/>
        </p:spPr>
        <p:txBody>
          <a:bodyPr wrap="square" lIns="0" tIns="0" rIns="0" bIns="0" anchor="t">
            <a:spAutoFit/>
          </a:bodyPr>
          <a:lstStyle/>
          <a:p>
            <a:pPr algn="l">
              <a:spcAft>
                <a:spcPts val="400"/>
              </a:spcAft>
            </a:pPr>
            <a:r>
              <a:rPr lang="fr-FR" sz="1600" b="1" i="0">
                <a:solidFill>
                  <a:srgbClr val="E86E55"/>
                </a:solidFill>
                <a:latin typeface="Calibri"/>
              </a:rPr>
              <a:t>→ Le niveau marin global ne suffit pas</a:t>
            </a:r>
          </a:p>
          <a:p>
            <a:pPr algn="l"/>
            <a:r>
              <a:rPr lang="fr-FR" sz="1600" b="0" i="1">
                <a:solidFill>
                  <a:srgbClr val="1A1A1A"/>
                </a:solidFill>
                <a:latin typeface="Calibri"/>
              </a:rPr>
              <a:t>Il faut le combiner avec la subsidence locale, la marée astronomique, la surcote de tempête et l'effet vague pour calculer l'aléa réel qu'une commune doit prendre en compte. C'est tout l'enjeu de la régionalisation BRGM en cours, en lien avec la TRACC et le PNACC-3.</a:t>
            </a:r>
          </a:p>
        </p:txBody>
      </p:sp>
      <p:sp>
        <p:nvSpPr>
          <p:cNvPr id="3" name="Espace réservé du numéro de diapositive 2">
            <a:extLst>
              <a:ext uri="{FF2B5EF4-FFF2-40B4-BE49-F238E27FC236}">
                <a16:creationId xmlns:a16="http://schemas.microsoft.com/office/drawing/2014/main" id="{30211348-63B1-4DB5-91CB-84D5921352DD}"/>
              </a:ext>
            </a:extLst>
          </p:cNvPr>
          <p:cNvSpPr>
            <a:spLocks noGrp="1"/>
          </p:cNvSpPr>
          <p:nvPr>
            <p:ph type="sldNum" sz="quarter" idx="4"/>
          </p:nvPr>
        </p:nvSpPr>
        <p:spPr/>
        <p:txBody>
          <a:bodyPr/>
          <a:lstStyle/>
          <a:p>
            <a:fld id="{9981E6DC-ACA4-4CC4-B142-EC9DBA1C6CBA}" type="slidenum">
              <a:rPr lang="en-US" smtClean="0"/>
              <a:pPr/>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14600" y="201168"/>
            <a:ext cx="9509760" cy="713232"/>
          </a:xfrm>
          <a:prstGeom prst="rect">
            <a:avLst/>
          </a:prstGeom>
          <a:noFill/>
        </p:spPr>
        <p:txBody>
          <a:bodyPr wrap="square" lIns="0" tIns="0" rIns="0" bIns="0" anchor="ctr">
            <a:spAutoFit/>
          </a:bodyPr>
          <a:lstStyle/>
          <a:p>
            <a:pPr algn="l"/>
            <a:r>
              <a:rPr sz="2600" b="1" i="0">
                <a:solidFill>
                  <a:srgbClr val="1A1A1A"/>
                </a:solidFill>
                <a:latin typeface="Calibri"/>
              </a:rPr>
              <a:t>Quelques retours d'expérience pour comprendre</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65760" y="1188720"/>
            <a:ext cx="2011680" cy="1554480"/>
          </a:xfrm>
          <a:prstGeom prst="rect">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1188720"/>
            <a:ext cx="2011680" cy="914400"/>
          </a:xfrm>
          <a:prstGeom prst="rect">
            <a:avLst/>
          </a:prstGeom>
          <a:noFill/>
        </p:spPr>
        <p:txBody>
          <a:bodyPr wrap="square" lIns="0" tIns="0" rIns="0" bIns="0" anchor="ctr">
            <a:spAutoFit/>
          </a:bodyPr>
          <a:lstStyle/>
          <a:p>
            <a:pPr algn="ctr"/>
            <a:r>
              <a:rPr sz="1500" b="1" i="0">
                <a:solidFill>
                  <a:srgbClr val="FFFFFF"/>
                </a:solidFill>
                <a:latin typeface="Calibri"/>
              </a:rPr>
              <a:t>XYNTHIA</a:t>
            </a:r>
          </a:p>
        </p:txBody>
      </p:sp>
      <p:sp>
        <p:nvSpPr>
          <p:cNvPr id="13" name="TextBox 12"/>
          <p:cNvSpPr txBox="1"/>
          <p:nvPr/>
        </p:nvSpPr>
        <p:spPr>
          <a:xfrm>
            <a:off x="365760" y="2103120"/>
            <a:ext cx="2011680" cy="548640"/>
          </a:xfrm>
          <a:prstGeom prst="rect">
            <a:avLst/>
          </a:prstGeom>
          <a:noFill/>
        </p:spPr>
        <p:txBody>
          <a:bodyPr wrap="square" lIns="0" tIns="0" rIns="0" bIns="0" anchor="ctr">
            <a:spAutoFit/>
          </a:bodyPr>
          <a:lstStyle/>
          <a:p>
            <a:pPr algn="ctr"/>
            <a:r>
              <a:rPr sz="1100" b="0" i="1">
                <a:solidFill>
                  <a:srgbClr val="FFFFFF"/>
                </a:solidFill>
                <a:latin typeface="Calibri"/>
              </a:rPr>
              <a:t>27-28 février 2010</a:t>
            </a:r>
          </a:p>
        </p:txBody>
      </p:sp>
      <p:sp>
        <p:nvSpPr>
          <p:cNvPr id="14" name="Rectangle 13"/>
          <p:cNvSpPr/>
          <p:nvPr/>
        </p:nvSpPr>
        <p:spPr>
          <a:xfrm>
            <a:off x="2423160" y="1188720"/>
            <a:ext cx="9372600" cy="155448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p:cNvSpPr txBox="1"/>
          <p:nvPr/>
        </p:nvSpPr>
        <p:spPr>
          <a:xfrm>
            <a:off x="2606040" y="1280160"/>
            <a:ext cx="9144000" cy="1205458"/>
          </a:xfrm>
          <a:prstGeom prst="rect">
            <a:avLst/>
          </a:prstGeom>
          <a:noFill/>
        </p:spPr>
        <p:txBody>
          <a:bodyPr wrap="square" lIns="0" tIns="0" rIns="0" bIns="0" anchor="t">
            <a:spAutoFit/>
          </a:bodyPr>
          <a:lstStyle/>
          <a:p>
            <a:pPr algn="l">
              <a:spcAft>
                <a:spcPts val="400"/>
              </a:spcAft>
            </a:pPr>
            <a:r>
              <a:rPr sz="1400" b="1" i="0">
                <a:solidFill>
                  <a:srgbClr val="1A1A1A"/>
                </a:solidFill>
                <a:latin typeface="Calibri"/>
              </a:rPr>
              <a:t>BILAN  ·  53 morts en France (29 sur la commune de La Faute-sur-Mer). 2 Md € de dégâts.</a:t>
            </a:r>
          </a:p>
          <a:p>
            <a:pPr algn="l">
              <a:spcAft>
                <a:spcPts val="600"/>
              </a:spcAft>
            </a:pPr>
            <a:r>
              <a:rPr sz="1400" b="0" i="0">
                <a:solidFill>
                  <a:srgbClr val="1A1A1A"/>
                </a:solidFill>
                <a:latin typeface="Calibri"/>
              </a:rPr>
              <a:t>Concomitance tempête + très grande marée + surcote + ouvrages sous-dimensionnés. Plus de 50 000 ha submergés en Vendée et Charente-Maritime.</a:t>
            </a:r>
          </a:p>
          <a:p>
            <a:pPr algn="l"/>
            <a:r>
              <a:rPr sz="1400" b="0" i="1">
                <a:solidFill>
                  <a:srgbClr val="328088"/>
                </a:solidFill>
                <a:latin typeface="Calibri"/>
              </a:rPr>
              <a:t>LEÇON  ·  Refonte de la doctrine PPRSM. Plan submersions rapides 2011-2016. Délimitation des « zones noires » très contestée — leçon : la concertation conditionne l'acceptabilité.</a:t>
            </a:r>
          </a:p>
        </p:txBody>
      </p:sp>
      <p:sp>
        <p:nvSpPr>
          <p:cNvPr id="16" name="Rectangle 15"/>
          <p:cNvSpPr/>
          <p:nvPr/>
        </p:nvSpPr>
        <p:spPr>
          <a:xfrm>
            <a:off x="365760" y="2862072"/>
            <a:ext cx="2011680" cy="1554480"/>
          </a:xfrm>
          <a:prstGeom prst="rect">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760" y="2862072"/>
            <a:ext cx="2011680" cy="914400"/>
          </a:xfrm>
          <a:prstGeom prst="rect">
            <a:avLst/>
          </a:prstGeom>
          <a:noFill/>
        </p:spPr>
        <p:txBody>
          <a:bodyPr wrap="square" lIns="0" tIns="0" rIns="0" bIns="0" anchor="ctr">
            <a:spAutoFit/>
          </a:bodyPr>
          <a:lstStyle/>
          <a:p>
            <a:pPr algn="ctr"/>
            <a:r>
              <a:rPr sz="1500" b="1" i="0">
                <a:solidFill>
                  <a:srgbClr val="FFFFFF"/>
                </a:solidFill>
                <a:latin typeface="Calibri"/>
              </a:rPr>
              <a:t>ALEX</a:t>
            </a:r>
          </a:p>
        </p:txBody>
      </p:sp>
      <p:sp>
        <p:nvSpPr>
          <p:cNvPr id="18" name="TextBox 17"/>
          <p:cNvSpPr txBox="1"/>
          <p:nvPr/>
        </p:nvSpPr>
        <p:spPr>
          <a:xfrm>
            <a:off x="365760" y="3776472"/>
            <a:ext cx="2011680" cy="548640"/>
          </a:xfrm>
          <a:prstGeom prst="rect">
            <a:avLst/>
          </a:prstGeom>
          <a:noFill/>
        </p:spPr>
        <p:txBody>
          <a:bodyPr wrap="square" lIns="0" tIns="0" rIns="0" bIns="0" anchor="ctr">
            <a:spAutoFit/>
          </a:bodyPr>
          <a:lstStyle/>
          <a:p>
            <a:pPr algn="ctr"/>
            <a:r>
              <a:rPr sz="1100" b="0" i="1">
                <a:solidFill>
                  <a:srgbClr val="FFFFFF"/>
                </a:solidFill>
                <a:latin typeface="Calibri"/>
              </a:rPr>
              <a:t>2-3 octobre 2020</a:t>
            </a:r>
          </a:p>
        </p:txBody>
      </p:sp>
      <p:sp>
        <p:nvSpPr>
          <p:cNvPr id="19" name="Rectangle 18"/>
          <p:cNvSpPr/>
          <p:nvPr/>
        </p:nvSpPr>
        <p:spPr>
          <a:xfrm>
            <a:off x="2423160" y="2862072"/>
            <a:ext cx="9372600" cy="155448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TextBox 19"/>
          <p:cNvSpPr txBox="1"/>
          <p:nvPr/>
        </p:nvSpPr>
        <p:spPr>
          <a:xfrm>
            <a:off x="2606040" y="2953512"/>
            <a:ext cx="9144000" cy="1205458"/>
          </a:xfrm>
          <a:prstGeom prst="rect">
            <a:avLst/>
          </a:prstGeom>
          <a:noFill/>
        </p:spPr>
        <p:txBody>
          <a:bodyPr wrap="square" lIns="0" tIns="0" rIns="0" bIns="0" anchor="t">
            <a:spAutoFit/>
          </a:bodyPr>
          <a:lstStyle/>
          <a:p>
            <a:pPr algn="l">
              <a:spcAft>
                <a:spcPts val="400"/>
              </a:spcAft>
            </a:pPr>
            <a:r>
              <a:rPr sz="1400" b="1" i="0">
                <a:solidFill>
                  <a:srgbClr val="1A1A1A"/>
                </a:solidFill>
                <a:latin typeface="Calibri"/>
              </a:rPr>
              <a:t>BILAN  ·  10 morts dans les Alpes-Maritimes. Plusieurs centaines de M € de dégâts.</a:t>
            </a:r>
          </a:p>
          <a:p>
            <a:pPr algn="l">
              <a:spcAft>
                <a:spcPts val="600"/>
              </a:spcAft>
            </a:pPr>
            <a:r>
              <a:rPr sz="1400" b="0" i="0">
                <a:solidFill>
                  <a:srgbClr val="1A1A1A"/>
                </a:solidFill>
                <a:latin typeface="Calibri"/>
              </a:rPr>
              <a:t>Crues torrentielles + laves torrentielles dans les vallées de la Roya et de la Vésubie. Plusieurs villages détruits. Mobilisation exceptionnelle de l'EPF PACA + fonds Barnier exceptionnel.</a:t>
            </a:r>
          </a:p>
          <a:p>
            <a:pPr algn="l"/>
            <a:r>
              <a:rPr sz="1400" b="0" i="1">
                <a:solidFill>
                  <a:srgbClr val="328088"/>
                </a:solidFill>
                <a:latin typeface="Calibri"/>
              </a:rPr>
              <a:t>LEÇON  ·  Coordination préfet délégué + recomposition urbaine confiée à un architecte (Eric Daniel-Lacombe). Voir le rapport Alpes — l'expérience inspire les démarches littorales.</a:t>
            </a:r>
          </a:p>
        </p:txBody>
      </p:sp>
      <p:sp>
        <p:nvSpPr>
          <p:cNvPr id="21" name="Rectangle 20"/>
          <p:cNvSpPr/>
          <p:nvPr/>
        </p:nvSpPr>
        <p:spPr>
          <a:xfrm>
            <a:off x="365760" y="4535424"/>
            <a:ext cx="2011680" cy="1554480"/>
          </a:xfrm>
          <a:prstGeom prst="rect">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4535424"/>
            <a:ext cx="2011680" cy="914400"/>
          </a:xfrm>
          <a:prstGeom prst="rect">
            <a:avLst/>
          </a:prstGeom>
          <a:noFill/>
        </p:spPr>
        <p:txBody>
          <a:bodyPr wrap="square" lIns="0" tIns="0" rIns="0" bIns="0" anchor="ctr">
            <a:spAutoFit/>
          </a:bodyPr>
          <a:lstStyle/>
          <a:p>
            <a:pPr algn="ctr"/>
            <a:r>
              <a:rPr sz="1500" b="1" i="0">
                <a:solidFill>
                  <a:srgbClr val="FFFFFF"/>
                </a:solidFill>
                <a:latin typeface="Calibri"/>
              </a:rPr>
              <a:t>CIARAN + DOMINGOS</a:t>
            </a:r>
          </a:p>
        </p:txBody>
      </p:sp>
      <p:sp>
        <p:nvSpPr>
          <p:cNvPr id="23" name="TextBox 22"/>
          <p:cNvSpPr txBox="1"/>
          <p:nvPr/>
        </p:nvSpPr>
        <p:spPr>
          <a:xfrm>
            <a:off x="365760" y="5449824"/>
            <a:ext cx="2011680" cy="548640"/>
          </a:xfrm>
          <a:prstGeom prst="rect">
            <a:avLst/>
          </a:prstGeom>
          <a:noFill/>
        </p:spPr>
        <p:txBody>
          <a:bodyPr wrap="square" lIns="0" tIns="0" rIns="0" bIns="0" anchor="ctr">
            <a:spAutoFit/>
          </a:bodyPr>
          <a:lstStyle/>
          <a:p>
            <a:pPr algn="ctr"/>
            <a:r>
              <a:rPr sz="1100" b="0" i="1">
                <a:solidFill>
                  <a:srgbClr val="FFFFFF"/>
                </a:solidFill>
                <a:latin typeface="Calibri"/>
              </a:rPr>
              <a:t>1ᵉʳ-5 novembre 2023</a:t>
            </a:r>
          </a:p>
        </p:txBody>
      </p:sp>
      <p:sp>
        <p:nvSpPr>
          <p:cNvPr id="24" name="Rectangle 23"/>
          <p:cNvSpPr/>
          <p:nvPr/>
        </p:nvSpPr>
        <p:spPr>
          <a:xfrm>
            <a:off x="2423160" y="4535424"/>
            <a:ext cx="9372600" cy="155448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5" name="TextBox 24"/>
          <p:cNvSpPr txBox="1"/>
          <p:nvPr/>
        </p:nvSpPr>
        <p:spPr>
          <a:xfrm>
            <a:off x="2606040" y="4626864"/>
            <a:ext cx="9144000" cy="1205458"/>
          </a:xfrm>
          <a:prstGeom prst="rect">
            <a:avLst/>
          </a:prstGeom>
          <a:noFill/>
        </p:spPr>
        <p:txBody>
          <a:bodyPr wrap="square" lIns="0" tIns="0" rIns="0" bIns="0" anchor="t">
            <a:spAutoFit/>
          </a:bodyPr>
          <a:lstStyle/>
          <a:p>
            <a:pPr algn="l">
              <a:spcAft>
                <a:spcPts val="400"/>
              </a:spcAft>
            </a:pPr>
            <a:r>
              <a:rPr sz="1400" b="1" i="0">
                <a:solidFill>
                  <a:srgbClr val="1A1A1A"/>
                </a:solidFill>
                <a:latin typeface="Calibri"/>
              </a:rPr>
              <a:t>BILAN  ·  517 000 sinistres déclarés. 1,3 Md € de coût pour les assureurs.</a:t>
            </a:r>
          </a:p>
          <a:p>
            <a:pPr algn="l">
              <a:spcAft>
                <a:spcPts val="600"/>
              </a:spcAft>
            </a:pPr>
            <a:r>
              <a:rPr sz="1400" b="0" i="0">
                <a:solidFill>
                  <a:srgbClr val="1A1A1A"/>
                </a:solidFill>
                <a:latin typeface="Calibri"/>
              </a:rPr>
              <a:t>5ᵉ tempête la plus dévastatrice en métropole. 207 km/h à la Pointe du Raz. Vagues &gt; 10 m mesurées à Cap Ferret et Oléron. Reculs dunaires de plusieurs mètres en Nouvelle-Aquitaine.</a:t>
            </a:r>
          </a:p>
          <a:p>
            <a:pPr algn="l"/>
            <a:r>
              <a:rPr sz="1400" b="0" i="1">
                <a:solidFill>
                  <a:srgbClr val="328088"/>
                </a:solidFill>
                <a:latin typeface="Calibri"/>
              </a:rPr>
              <a:t>LEÇON  ·  Pas de victime liée à la submersion en métropole : la chaîne d'alerte a fonctionné. Mais : difficulté de gestion sur des littoraux déjà fragilisés par les tempêtes Aline et Céline d'octobre.</a:t>
            </a:r>
          </a:p>
        </p:txBody>
      </p:sp>
      <p:sp>
        <p:nvSpPr>
          <p:cNvPr id="3" name="Espace réservé du numéro de diapositive 2">
            <a:extLst>
              <a:ext uri="{FF2B5EF4-FFF2-40B4-BE49-F238E27FC236}">
                <a16:creationId xmlns:a16="http://schemas.microsoft.com/office/drawing/2014/main" id="{BE3B4AAD-B11A-4DF0-84D3-3831A124C14D}"/>
              </a:ext>
            </a:extLst>
          </p:cNvPr>
          <p:cNvSpPr>
            <a:spLocks noGrp="1"/>
          </p:cNvSpPr>
          <p:nvPr>
            <p:ph type="sldNum" sz="quarter" idx="4"/>
          </p:nvPr>
        </p:nvSpPr>
        <p:spPr/>
        <p:txBody>
          <a:bodyPr/>
          <a:lstStyle/>
          <a:p>
            <a:fld id="{9981E6DC-ACA4-4CC4-B142-EC9DBA1C6CBA}" type="slidenum">
              <a:rPr lang="en-US" smtClean="0"/>
              <a:pPr/>
              <a:t>43</a:t>
            </a:fld>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65760" y="3657600"/>
            <a:ext cx="1554480" cy="128016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3657600"/>
            <a:ext cx="1554480" cy="1280160"/>
          </a:xfrm>
          <a:prstGeom prst="rect">
            <a:avLst/>
          </a:prstGeom>
          <a:noFill/>
        </p:spPr>
        <p:txBody>
          <a:bodyPr wrap="square" lIns="0" tIns="0" rIns="0" bIns="0" anchor="ctr">
            <a:spAutoFit/>
          </a:bodyPr>
          <a:lstStyle/>
          <a:p>
            <a:pPr algn="ctr"/>
            <a:r>
              <a:rPr sz="4400" b="1" i="0">
                <a:solidFill>
                  <a:srgbClr val="FFFFFF"/>
                </a:solidFill>
                <a:latin typeface="Calibri"/>
              </a:rPr>
              <a:t>6.</a:t>
            </a:r>
          </a:p>
        </p:txBody>
      </p:sp>
      <p:sp>
        <p:nvSpPr>
          <p:cNvPr id="9" name="Rectangle 8"/>
          <p:cNvSpPr/>
          <p:nvPr/>
        </p:nvSpPr>
        <p:spPr>
          <a:xfrm>
            <a:off x="2011680" y="3657600"/>
            <a:ext cx="9784080" cy="128016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377440" y="3657600"/>
            <a:ext cx="9144000" cy="1280160"/>
          </a:xfrm>
          <a:prstGeom prst="rect">
            <a:avLst/>
          </a:prstGeom>
          <a:noFill/>
        </p:spPr>
        <p:txBody>
          <a:bodyPr wrap="square" lIns="0" tIns="0" rIns="0" bIns="0" anchor="ctr">
            <a:spAutoFit/>
          </a:bodyPr>
          <a:lstStyle/>
          <a:p>
            <a:pPr algn="l"/>
            <a:r>
              <a:rPr sz="3400" b="1" i="0">
                <a:solidFill>
                  <a:srgbClr val="FFFFFF"/>
                </a:solidFill>
                <a:latin typeface="Calibri"/>
              </a:rPr>
              <a:t>Apports du rapport IGEDD/IGA/IGSC sur les Alpes</a:t>
            </a:r>
          </a:p>
        </p:txBody>
      </p:sp>
      <p:cxnSp>
        <p:nvCxnSpPr>
          <p:cNvPr id="11" name="Connector 10"/>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3" name="Espace réservé du numéro de diapositive 2">
            <a:extLst>
              <a:ext uri="{FF2B5EF4-FFF2-40B4-BE49-F238E27FC236}">
                <a16:creationId xmlns:a16="http://schemas.microsoft.com/office/drawing/2014/main" id="{AE2C4D66-ECB6-461A-9574-A69EA7F0AC18}"/>
              </a:ext>
            </a:extLst>
          </p:cNvPr>
          <p:cNvSpPr>
            <a:spLocks noGrp="1"/>
          </p:cNvSpPr>
          <p:nvPr>
            <p:ph type="sldNum" sz="quarter" idx="4"/>
          </p:nvPr>
        </p:nvSpPr>
        <p:spPr/>
        <p:txBody>
          <a:bodyPr/>
          <a:lstStyle/>
          <a:p>
            <a:fld id="{9981E6DC-ACA4-4CC4-B142-EC9DBA1C6CBA}" type="slidenum">
              <a:rPr lang="en-US" smtClean="0"/>
              <a:pPr/>
              <a:t>44</a:t>
            </a:fld>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Pourquoi passer de la prévention à la résilience ?</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31368" y="1614343"/>
            <a:ext cx="11247120" cy="3903633"/>
          </a:xfrm>
          <a:prstGeom prst="rect">
            <a:avLst/>
          </a:prstGeom>
          <a:noFill/>
        </p:spPr>
        <p:txBody>
          <a:bodyPr wrap="square" lIns="0" tIns="0" rIns="0" bIns="0" anchor="t">
            <a:spAutoFit/>
          </a:bodyPr>
          <a:lstStyle/>
          <a:p>
            <a:pPr algn="l">
              <a:spcAft>
                <a:spcPts val="1400"/>
              </a:spcAft>
            </a:pPr>
            <a:r>
              <a:rPr lang="fr-FR" sz="1600" b="0" i="1">
                <a:solidFill>
                  <a:srgbClr val="404040"/>
                </a:solidFill>
                <a:latin typeface="Calibri"/>
              </a:rPr>
              <a:t>Le constat de la mission IGEDD/IGA/IGSC sur les Alpes (rapport publié décembre 2025)</a:t>
            </a:r>
          </a:p>
          <a:p>
            <a:pPr algn="l">
              <a:spcAft>
                <a:spcPts val="1600"/>
              </a:spcAft>
            </a:pPr>
            <a:r>
              <a:rPr lang="fr-FR" b="0" i="1">
                <a:solidFill>
                  <a:srgbClr val="1E2D5C"/>
                </a:solidFill>
                <a:latin typeface="Calibri"/>
              </a:rPr>
              <a:t>« Face à des aléas toujours plus fréquents, plus intenses mais de moins en moins prévisibles, la politique de prévention des risques naturels majeurs, fondée sur la définition d'un aléa de référence déterminé dans un modèle climatique stationnaire, ne suffit plus à répondre aux besoins des territoires. »</a:t>
            </a:r>
          </a:p>
          <a:p>
            <a:pPr algn="l">
              <a:spcAft>
                <a:spcPts val="600"/>
              </a:spcAft>
            </a:pPr>
            <a:r>
              <a:rPr lang="fr-FR" sz="2000" b="1" i="0">
                <a:solidFill>
                  <a:srgbClr val="328088"/>
                </a:solidFill>
                <a:latin typeface="Calibri"/>
              </a:rPr>
              <a:t>Trois constats partagés</a:t>
            </a:r>
          </a:p>
          <a:p>
            <a:pPr algn="l">
              <a:spcAft>
                <a:spcPts val="600"/>
              </a:spcAft>
            </a:pPr>
            <a:r>
              <a:rPr lang="fr-FR" sz="1600" b="0">
                <a:solidFill>
                  <a:srgbClr val="1A1A1A"/>
                </a:solidFill>
                <a:latin typeface="Calibri"/>
              </a:rPr>
              <a:t>• </a:t>
            </a:r>
            <a:r>
              <a:rPr lang="fr-FR" sz="1600" b="0" i="0">
                <a:solidFill>
                  <a:srgbClr val="1A1A1A"/>
                </a:solidFill>
                <a:latin typeface="Calibri"/>
              </a:rPr>
              <a:t>Les crises ne résultent pas seulement des aléas : ce sont les vulnérabilités territoriales (infrastructures, économie, ingénierie, gouvernance) qui les transforment en catastrophes.</a:t>
            </a:r>
          </a:p>
          <a:p>
            <a:pPr algn="l">
              <a:spcAft>
                <a:spcPts val="600"/>
              </a:spcAft>
            </a:pPr>
            <a:r>
              <a:rPr lang="fr-FR" sz="1600" b="0">
                <a:solidFill>
                  <a:srgbClr val="1A1A1A"/>
                </a:solidFill>
                <a:latin typeface="Calibri"/>
              </a:rPr>
              <a:t>• </a:t>
            </a:r>
            <a:r>
              <a:rPr lang="fr-FR" sz="1600" b="0" i="0">
                <a:solidFill>
                  <a:srgbClr val="1A1A1A"/>
                </a:solidFill>
                <a:latin typeface="Calibri"/>
              </a:rPr>
              <a:t>L'interaction entre vulnérabilités et aléas multiples sur un même territoire rend les crises plus systémiques. Une rupture de réseau peut isoler une vallée, un littoral, une presqu'île.</a:t>
            </a:r>
          </a:p>
          <a:p>
            <a:pPr algn="l">
              <a:spcAft>
                <a:spcPts val="1400"/>
              </a:spcAft>
            </a:pPr>
            <a:r>
              <a:rPr lang="fr-FR" sz="1600" b="0">
                <a:solidFill>
                  <a:srgbClr val="1A1A1A"/>
                </a:solidFill>
                <a:latin typeface="Calibri"/>
              </a:rPr>
              <a:t>• </a:t>
            </a:r>
            <a:r>
              <a:rPr lang="fr-FR" sz="1600" b="0" i="0">
                <a:solidFill>
                  <a:srgbClr val="1A1A1A"/>
                </a:solidFill>
                <a:latin typeface="Calibri"/>
              </a:rPr>
              <a:t>Au-delà de la hiérarchisation classique, il faut désormais changer la façon de penser les territoires — y compris pour s'adapter à des phénomènes dangereux et fréquents.</a:t>
            </a:r>
          </a:p>
          <a:p>
            <a:pPr algn="ctr"/>
            <a:r>
              <a:rPr lang="fr-FR" b="1" i="1">
                <a:solidFill>
                  <a:srgbClr val="E86E55"/>
                </a:solidFill>
                <a:latin typeface="Calibri"/>
              </a:rPr>
              <a:t>→ Les Alpes comme le littoral sont confrontés aux mêmes défis structurels.</a:t>
            </a:r>
          </a:p>
        </p:txBody>
      </p:sp>
      <p:sp>
        <p:nvSpPr>
          <p:cNvPr id="3" name="Espace réservé du numéro de diapositive 2">
            <a:extLst>
              <a:ext uri="{FF2B5EF4-FFF2-40B4-BE49-F238E27FC236}">
                <a16:creationId xmlns:a16="http://schemas.microsoft.com/office/drawing/2014/main" id="{1BB72423-6D9C-4D3A-B87D-CF2DAE0E3270}"/>
              </a:ext>
            </a:extLst>
          </p:cNvPr>
          <p:cNvSpPr>
            <a:spLocks noGrp="1"/>
          </p:cNvSpPr>
          <p:nvPr>
            <p:ph type="sldNum" sz="quarter" idx="4"/>
          </p:nvPr>
        </p:nvSpPr>
        <p:spPr/>
        <p:txBody>
          <a:bodyPr/>
          <a:lstStyle/>
          <a:p>
            <a:fld id="{9981E6DC-ACA4-4CC4-B142-EC9DBA1C6CBA}" type="slidenum">
              <a:rPr lang="en-US" smtClean="0"/>
              <a:pPr/>
              <a:t>45</a:t>
            </a:fld>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Le continuum de la résilience</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1188720"/>
            <a:ext cx="11247120" cy="230832"/>
          </a:xfrm>
          <a:prstGeom prst="rect">
            <a:avLst/>
          </a:prstGeom>
          <a:noFill/>
        </p:spPr>
        <p:txBody>
          <a:bodyPr wrap="square" lIns="0" tIns="0" rIns="0" bIns="0" anchor="t">
            <a:spAutoFit/>
          </a:bodyPr>
          <a:lstStyle/>
          <a:p>
            <a:pPr algn="l"/>
            <a:r>
              <a:rPr lang="fr-FR" sz="1500" b="0" i="1">
                <a:solidFill>
                  <a:srgbClr val="404040"/>
                </a:solidFill>
                <a:latin typeface="Calibri"/>
              </a:rPr>
              <a:t>La résilience n'est pas un état, c'est un cycle continu</a:t>
            </a:r>
          </a:p>
        </p:txBody>
      </p:sp>
      <p:sp>
        <p:nvSpPr>
          <p:cNvPr id="12" name="Rectangle 11"/>
          <p:cNvSpPr/>
          <p:nvPr/>
        </p:nvSpPr>
        <p:spPr>
          <a:xfrm>
            <a:off x="365760" y="1828800"/>
            <a:ext cx="1993392" cy="402336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3" name="Rectangle 12"/>
          <p:cNvSpPr/>
          <p:nvPr/>
        </p:nvSpPr>
        <p:spPr>
          <a:xfrm>
            <a:off x="365760" y="1828800"/>
            <a:ext cx="1993392" cy="100584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4" name="TextBox 13"/>
          <p:cNvSpPr txBox="1"/>
          <p:nvPr/>
        </p:nvSpPr>
        <p:spPr>
          <a:xfrm>
            <a:off x="457200" y="2147053"/>
            <a:ext cx="1810512" cy="369332"/>
          </a:xfrm>
          <a:prstGeom prst="rect">
            <a:avLst/>
          </a:prstGeom>
          <a:noFill/>
        </p:spPr>
        <p:txBody>
          <a:bodyPr wrap="square" lIns="0" tIns="0" rIns="0" bIns="0" anchor="ctr">
            <a:spAutoFit/>
          </a:bodyPr>
          <a:lstStyle/>
          <a:p>
            <a:pPr algn="ctr"/>
            <a:r>
              <a:rPr lang="fr-FR" sz="1200" b="1" i="0">
                <a:solidFill>
                  <a:srgbClr val="FFFFFF"/>
                </a:solidFill>
                <a:latin typeface="Calibri"/>
              </a:rPr>
              <a:t>ANTICIPATION &amp; PRÉPARATION</a:t>
            </a:r>
          </a:p>
        </p:txBody>
      </p:sp>
      <p:sp>
        <p:nvSpPr>
          <p:cNvPr id="15" name="TextBox 14"/>
          <p:cNvSpPr txBox="1"/>
          <p:nvPr/>
        </p:nvSpPr>
        <p:spPr>
          <a:xfrm>
            <a:off x="502920" y="2926080"/>
            <a:ext cx="1719072" cy="984885"/>
          </a:xfrm>
          <a:prstGeom prst="rect">
            <a:avLst/>
          </a:prstGeom>
          <a:noFill/>
        </p:spPr>
        <p:txBody>
          <a:bodyPr wrap="square" lIns="0" tIns="0" rIns="0" bIns="0" anchor="t">
            <a:spAutoFit/>
          </a:bodyPr>
          <a:lstStyle/>
          <a:p>
            <a:pPr algn="ctr"/>
            <a:r>
              <a:rPr lang="fr-FR" sz="1600" b="0" i="0">
                <a:solidFill>
                  <a:srgbClr val="1A1A1A"/>
                </a:solidFill>
                <a:latin typeface="Calibri"/>
              </a:rPr>
              <a:t>Avant la crise — culture du risque, planification, alerte, formation</a:t>
            </a:r>
          </a:p>
        </p:txBody>
      </p:sp>
      <p:sp>
        <p:nvSpPr>
          <p:cNvPr id="16" name="Right Arrow 15"/>
          <p:cNvSpPr/>
          <p:nvPr/>
        </p:nvSpPr>
        <p:spPr>
          <a:xfrm>
            <a:off x="2404872" y="3703320"/>
            <a:ext cx="274320" cy="274320"/>
          </a:xfrm>
          <a:prstGeom prst="rightArrow">
            <a:avLst/>
          </a:prstGeom>
          <a:solidFill>
            <a:srgbClr val="1E2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7" name="Rectangle 16"/>
          <p:cNvSpPr/>
          <p:nvPr/>
        </p:nvSpPr>
        <p:spPr>
          <a:xfrm>
            <a:off x="2724912" y="1828800"/>
            <a:ext cx="1993392" cy="402336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8" name="Rectangle 17"/>
          <p:cNvSpPr/>
          <p:nvPr/>
        </p:nvSpPr>
        <p:spPr>
          <a:xfrm>
            <a:off x="2724912" y="1828800"/>
            <a:ext cx="1993392" cy="1005840"/>
          </a:xfrm>
          <a:prstGeom prst="rect">
            <a:avLst/>
          </a:prstGeom>
          <a:solidFill>
            <a:srgbClr val="E100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9" name="TextBox 18"/>
          <p:cNvSpPr txBox="1"/>
          <p:nvPr/>
        </p:nvSpPr>
        <p:spPr>
          <a:xfrm>
            <a:off x="2816352" y="2239386"/>
            <a:ext cx="1810512" cy="184666"/>
          </a:xfrm>
          <a:prstGeom prst="rect">
            <a:avLst/>
          </a:prstGeom>
          <a:noFill/>
        </p:spPr>
        <p:txBody>
          <a:bodyPr wrap="square" lIns="0" tIns="0" rIns="0" bIns="0" anchor="ctr">
            <a:spAutoFit/>
          </a:bodyPr>
          <a:lstStyle/>
          <a:p>
            <a:pPr algn="ctr"/>
            <a:r>
              <a:rPr lang="fr-FR" sz="1200" b="1" i="0">
                <a:solidFill>
                  <a:srgbClr val="FFFFFF"/>
                </a:solidFill>
                <a:latin typeface="Calibri"/>
              </a:rPr>
              <a:t>CRISE</a:t>
            </a:r>
          </a:p>
        </p:txBody>
      </p:sp>
      <p:sp>
        <p:nvSpPr>
          <p:cNvPr id="20" name="TextBox 19"/>
          <p:cNvSpPr txBox="1"/>
          <p:nvPr/>
        </p:nvSpPr>
        <p:spPr>
          <a:xfrm>
            <a:off x="2862072" y="2926080"/>
            <a:ext cx="1719072" cy="1231106"/>
          </a:xfrm>
          <a:prstGeom prst="rect">
            <a:avLst/>
          </a:prstGeom>
          <a:noFill/>
        </p:spPr>
        <p:txBody>
          <a:bodyPr wrap="square" lIns="0" tIns="0" rIns="0" bIns="0" anchor="t">
            <a:spAutoFit/>
          </a:bodyPr>
          <a:lstStyle/>
          <a:p>
            <a:pPr algn="ctr"/>
            <a:r>
              <a:rPr lang="fr-FR" sz="1600" b="0" i="0">
                <a:solidFill>
                  <a:srgbClr val="1A1A1A"/>
                </a:solidFill>
                <a:latin typeface="Calibri"/>
              </a:rPr>
              <a:t>Manifestation brutale qui dépasse les capacités normales de réaction</a:t>
            </a:r>
          </a:p>
        </p:txBody>
      </p:sp>
      <p:sp>
        <p:nvSpPr>
          <p:cNvPr id="21" name="Right Arrow 20"/>
          <p:cNvSpPr/>
          <p:nvPr/>
        </p:nvSpPr>
        <p:spPr>
          <a:xfrm>
            <a:off x="4764024" y="3703320"/>
            <a:ext cx="274320" cy="274320"/>
          </a:xfrm>
          <a:prstGeom prst="rightArrow">
            <a:avLst/>
          </a:prstGeom>
          <a:solidFill>
            <a:srgbClr val="1E2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2" name="Rectangle 21"/>
          <p:cNvSpPr/>
          <p:nvPr/>
        </p:nvSpPr>
        <p:spPr>
          <a:xfrm>
            <a:off x="5084064" y="1828800"/>
            <a:ext cx="1993392" cy="402336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3" name="Rectangle 22"/>
          <p:cNvSpPr/>
          <p:nvPr/>
        </p:nvSpPr>
        <p:spPr>
          <a:xfrm>
            <a:off x="5084064" y="1828800"/>
            <a:ext cx="1993392" cy="1005840"/>
          </a:xfrm>
          <a:prstGeom prst="rect">
            <a:avLst/>
          </a:prstGeom>
          <a:solidFill>
            <a:srgbClr val="E86E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4" name="TextBox 23"/>
          <p:cNvSpPr txBox="1"/>
          <p:nvPr/>
        </p:nvSpPr>
        <p:spPr>
          <a:xfrm>
            <a:off x="5175504" y="2239386"/>
            <a:ext cx="1810512" cy="184666"/>
          </a:xfrm>
          <a:prstGeom prst="rect">
            <a:avLst/>
          </a:prstGeom>
          <a:noFill/>
        </p:spPr>
        <p:txBody>
          <a:bodyPr wrap="square" lIns="0" tIns="0" rIns="0" bIns="0" anchor="ctr">
            <a:spAutoFit/>
          </a:bodyPr>
          <a:lstStyle/>
          <a:p>
            <a:pPr algn="ctr"/>
            <a:r>
              <a:rPr lang="fr-FR" sz="1200" b="1" i="0">
                <a:solidFill>
                  <a:srgbClr val="FFFFFF"/>
                </a:solidFill>
                <a:latin typeface="Calibri"/>
              </a:rPr>
              <a:t>GESTION DE CRISE</a:t>
            </a:r>
          </a:p>
        </p:txBody>
      </p:sp>
      <p:sp>
        <p:nvSpPr>
          <p:cNvPr id="25" name="TextBox 24"/>
          <p:cNvSpPr txBox="1"/>
          <p:nvPr/>
        </p:nvSpPr>
        <p:spPr>
          <a:xfrm>
            <a:off x="5221224" y="2926080"/>
            <a:ext cx="1719072" cy="1231106"/>
          </a:xfrm>
          <a:prstGeom prst="rect">
            <a:avLst/>
          </a:prstGeom>
          <a:noFill/>
        </p:spPr>
        <p:txBody>
          <a:bodyPr wrap="square" lIns="0" tIns="0" rIns="0" bIns="0" anchor="t">
            <a:spAutoFit/>
          </a:bodyPr>
          <a:lstStyle/>
          <a:p>
            <a:pPr algn="ctr"/>
            <a:r>
              <a:rPr lang="fr-FR" sz="1600" b="0" i="0">
                <a:solidFill>
                  <a:srgbClr val="1A1A1A"/>
                </a:solidFill>
                <a:latin typeface="Calibri"/>
              </a:rPr>
              <a:t>Actions d'urgence — alerte, secours, évacuation, sécurisation, assistance</a:t>
            </a:r>
          </a:p>
        </p:txBody>
      </p:sp>
      <p:sp>
        <p:nvSpPr>
          <p:cNvPr id="26" name="Right Arrow 25"/>
          <p:cNvSpPr/>
          <p:nvPr/>
        </p:nvSpPr>
        <p:spPr>
          <a:xfrm>
            <a:off x="7123176" y="3703320"/>
            <a:ext cx="274320" cy="274320"/>
          </a:xfrm>
          <a:prstGeom prst="rightArrow">
            <a:avLst/>
          </a:prstGeom>
          <a:solidFill>
            <a:srgbClr val="1E2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7" name="Rectangle 26"/>
          <p:cNvSpPr/>
          <p:nvPr/>
        </p:nvSpPr>
        <p:spPr>
          <a:xfrm>
            <a:off x="7443216" y="1828800"/>
            <a:ext cx="1993392" cy="402336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8" name="Rectangle 27"/>
          <p:cNvSpPr/>
          <p:nvPr/>
        </p:nvSpPr>
        <p:spPr>
          <a:xfrm>
            <a:off x="7443216" y="1828800"/>
            <a:ext cx="1993392" cy="1005840"/>
          </a:xfrm>
          <a:prstGeom prst="rect">
            <a:avLst/>
          </a:prstGeom>
          <a:solidFill>
            <a:srgbClr val="4A8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9" name="TextBox 28"/>
          <p:cNvSpPr txBox="1"/>
          <p:nvPr/>
        </p:nvSpPr>
        <p:spPr>
          <a:xfrm>
            <a:off x="7534656" y="2239386"/>
            <a:ext cx="1810512" cy="184666"/>
          </a:xfrm>
          <a:prstGeom prst="rect">
            <a:avLst/>
          </a:prstGeom>
          <a:noFill/>
        </p:spPr>
        <p:txBody>
          <a:bodyPr wrap="square" lIns="0" tIns="0" rIns="0" bIns="0" anchor="ctr">
            <a:spAutoFit/>
          </a:bodyPr>
          <a:lstStyle/>
          <a:p>
            <a:pPr algn="ctr"/>
            <a:r>
              <a:rPr lang="fr-FR" sz="1200" b="1" i="0">
                <a:solidFill>
                  <a:srgbClr val="FFFFFF"/>
                </a:solidFill>
                <a:latin typeface="Calibri"/>
              </a:rPr>
              <a:t>RELÈVEMENT</a:t>
            </a:r>
          </a:p>
        </p:txBody>
      </p:sp>
      <p:sp>
        <p:nvSpPr>
          <p:cNvPr id="30" name="TextBox 29"/>
          <p:cNvSpPr txBox="1"/>
          <p:nvPr/>
        </p:nvSpPr>
        <p:spPr>
          <a:xfrm>
            <a:off x="7580376" y="2926080"/>
            <a:ext cx="1719072" cy="1477328"/>
          </a:xfrm>
          <a:prstGeom prst="rect">
            <a:avLst/>
          </a:prstGeom>
          <a:noFill/>
        </p:spPr>
        <p:txBody>
          <a:bodyPr wrap="square" lIns="0" tIns="0" rIns="0" bIns="0" anchor="t">
            <a:spAutoFit/>
          </a:bodyPr>
          <a:lstStyle/>
          <a:p>
            <a:pPr algn="ctr"/>
            <a:r>
              <a:rPr lang="fr-FR" sz="1600" b="0" i="0">
                <a:solidFill>
                  <a:srgbClr val="1A1A1A"/>
                </a:solidFill>
                <a:latin typeface="Calibri"/>
              </a:rPr>
              <a:t>Réparer, réhabiliter, reconstruire, rétablir les conditions minimales — sans reproduire la vulnérabilité</a:t>
            </a:r>
          </a:p>
        </p:txBody>
      </p:sp>
      <p:sp>
        <p:nvSpPr>
          <p:cNvPr id="31" name="Right Arrow 30"/>
          <p:cNvSpPr/>
          <p:nvPr/>
        </p:nvSpPr>
        <p:spPr>
          <a:xfrm>
            <a:off x="9482328" y="3703320"/>
            <a:ext cx="274320" cy="274320"/>
          </a:xfrm>
          <a:prstGeom prst="rightArrow">
            <a:avLst/>
          </a:prstGeom>
          <a:solidFill>
            <a:srgbClr val="1E2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2" name="Rectangle 31"/>
          <p:cNvSpPr/>
          <p:nvPr/>
        </p:nvSpPr>
        <p:spPr>
          <a:xfrm>
            <a:off x="9802368" y="1828800"/>
            <a:ext cx="1993392" cy="402336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3" name="Rectangle 32"/>
          <p:cNvSpPr/>
          <p:nvPr/>
        </p:nvSpPr>
        <p:spPr>
          <a:xfrm>
            <a:off x="9802368" y="1828800"/>
            <a:ext cx="1993392" cy="1005840"/>
          </a:xfrm>
          <a:prstGeom prst="rect">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4" name="TextBox 33"/>
          <p:cNvSpPr txBox="1"/>
          <p:nvPr/>
        </p:nvSpPr>
        <p:spPr>
          <a:xfrm>
            <a:off x="9893808" y="2239386"/>
            <a:ext cx="1810512" cy="184666"/>
          </a:xfrm>
          <a:prstGeom prst="rect">
            <a:avLst/>
          </a:prstGeom>
          <a:noFill/>
        </p:spPr>
        <p:txBody>
          <a:bodyPr wrap="square" lIns="0" tIns="0" rIns="0" bIns="0" anchor="ctr">
            <a:spAutoFit/>
          </a:bodyPr>
          <a:lstStyle/>
          <a:p>
            <a:pPr algn="ctr"/>
            <a:r>
              <a:rPr lang="fr-FR" sz="1200" b="1" i="0">
                <a:solidFill>
                  <a:srgbClr val="FFFFFF"/>
                </a:solidFill>
                <a:latin typeface="Calibri"/>
              </a:rPr>
              <a:t>RETOUR D'EXPÉRIENCE</a:t>
            </a:r>
          </a:p>
        </p:txBody>
      </p:sp>
      <p:sp>
        <p:nvSpPr>
          <p:cNvPr id="35" name="TextBox 34"/>
          <p:cNvSpPr txBox="1"/>
          <p:nvPr/>
        </p:nvSpPr>
        <p:spPr>
          <a:xfrm>
            <a:off x="9939528" y="2926080"/>
            <a:ext cx="1719072" cy="1231106"/>
          </a:xfrm>
          <a:prstGeom prst="rect">
            <a:avLst/>
          </a:prstGeom>
          <a:noFill/>
        </p:spPr>
        <p:txBody>
          <a:bodyPr wrap="square" lIns="0" tIns="0" rIns="0" bIns="0" anchor="t">
            <a:spAutoFit/>
          </a:bodyPr>
          <a:lstStyle/>
          <a:p>
            <a:pPr algn="ctr"/>
            <a:r>
              <a:rPr lang="fr-FR" sz="1600" b="0" i="0">
                <a:solidFill>
                  <a:srgbClr val="1A1A1A"/>
                </a:solidFill>
                <a:latin typeface="Calibri"/>
              </a:rPr>
              <a:t>Capitaliser, améliorer, alimenter la prochaine itération d'anticipation</a:t>
            </a:r>
          </a:p>
        </p:txBody>
      </p:sp>
      <p:sp>
        <p:nvSpPr>
          <p:cNvPr id="36" name="TextBox 35"/>
          <p:cNvSpPr txBox="1"/>
          <p:nvPr/>
        </p:nvSpPr>
        <p:spPr>
          <a:xfrm>
            <a:off x="457200" y="5989320"/>
            <a:ext cx="11247120" cy="184666"/>
          </a:xfrm>
          <a:prstGeom prst="rect">
            <a:avLst/>
          </a:prstGeom>
          <a:noFill/>
        </p:spPr>
        <p:txBody>
          <a:bodyPr wrap="square" lIns="0" tIns="0" rIns="0" bIns="0" anchor="t">
            <a:spAutoFit/>
          </a:bodyPr>
          <a:lstStyle/>
          <a:p>
            <a:pPr algn="ctr"/>
            <a:r>
              <a:rPr lang="fr-FR" sz="1200" b="0" i="1">
                <a:solidFill>
                  <a:srgbClr val="E86E55"/>
                </a:solidFill>
                <a:latin typeface="Calibri"/>
              </a:rPr>
              <a:t>← Le REX nourrit l'anticipation suivante. La résilience est cyclique, elle ne se mesure pas en fin de crise mais sur la durée.</a:t>
            </a:r>
          </a:p>
        </p:txBody>
      </p:sp>
      <p:sp>
        <p:nvSpPr>
          <p:cNvPr id="3" name="Espace réservé du numéro de diapositive 2">
            <a:extLst>
              <a:ext uri="{FF2B5EF4-FFF2-40B4-BE49-F238E27FC236}">
                <a16:creationId xmlns:a16="http://schemas.microsoft.com/office/drawing/2014/main" id="{1DB28537-4862-4E64-A4C5-E3643CF8A37C}"/>
              </a:ext>
            </a:extLst>
          </p:cNvPr>
          <p:cNvSpPr>
            <a:spLocks noGrp="1"/>
          </p:cNvSpPr>
          <p:nvPr>
            <p:ph type="sldNum" sz="quarter" idx="4"/>
          </p:nvPr>
        </p:nvSpPr>
        <p:spPr/>
        <p:txBody>
          <a:bodyPr/>
          <a:lstStyle/>
          <a:p>
            <a:fld id="{9981E6DC-ACA4-4CC4-B142-EC9DBA1C6CBA}" type="slidenum">
              <a:rPr lang="en-US" smtClean="0"/>
              <a:pPr/>
              <a:t>46</a:t>
            </a:fld>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Les « lignes directrices » — une approche transposable au littoral</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1188720"/>
            <a:ext cx="6858000" cy="4691028"/>
          </a:xfrm>
          <a:prstGeom prst="rect">
            <a:avLst/>
          </a:prstGeom>
          <a:noFill/>
        </p:spPr>
        <p:txBody>
          <a:bodyPr wrap="square" lIns="0" tIns="0" rIns="0" bIns="0" anchor="t">
            <a:spAutoFit/>
          </a:bodyPr>
          <a:lstStyle/>
          <a:p>
            <a:pPr algn="l">
              <a:spcAft>
                <a:spcPts val="400"/>
              </a:spcAft>
            </a:pPr>
            <a:r>
              <a:rPr lang="fr-FR" sz="2400" b="1" i="0">
                <a:solidFill>
                  <a:srgbClr val="328088"/>
                </a:solidFill>
                <a:latin typeface="Calibri"/>
              </a:rPr>
              <a:t>Qu'est-ce qu'une ligne directrice ?</a:t>
            </a:r>
          </a:p>
          <a:p>
            <a:pPr algn="l">
              <a:spcAft>
                <a:spcPts val="1400"/>
              </a:spcAft>
            </a:pPr>
            <a:r>
              <a:rPr lang="fr-FR" b="0" i="0">
                <a:solidFill>
                  <a:srgbClr val="1A1A1A"/>
                </a:solidFill>
                <a:latin typeface="Calibri"/>
              </a:rPr>
              <a:t>Un cadre stratégique et méthodologique. Pas une norme, pas une doctrine, pas un règlement.</a:t>
            </a:r>
          </a:p>
          <a:p>
            <a:pPr algn="l">
              <a:spcAft>
                <a:spcPts val="600"/>
              </a:spcAft>
            </a:pPr>
            <a:r>
              <a:rPr lang="fr-FR" sz="2400" b="1" i="0">
                <a:solidFill>
                  <a:srgbClr val="328088"/>
                </a:solidFill>
                <a:latin typeface="Calibri"/>
              </a:rPr>
              <a:t>Cinq principes méthodologiques</a:t>
            </a:r>
          </a:p>
          <a:p>
            <a:pPr algn="l">
              <a:spcAft>
                <a:spcPts val="100"/>
              </a:spcAft>
            </a:pPr>
            <a:r>
              <a:rPr lang="fr-FR" b="1" i="0">
                <a:solidFill>
                  <a:srgbClr val="1A1A1A"/>
                </a:solidFill>
                <a:latin typeface="Calibri"/>
              </a:rPr>
              <a:t>Opérationnalité  ·  Quoi faire ?</a:t>
            </a:r>
          </a:p>
          <a:p>
            <a:pPr algn="l">
              <a:spcAft>
                <a:spcPts val="800"/>
              </a:spcAft>
            </a:pPr>
            <a:r>
              <a:rPr lang="fr-FR" sz="1600" b="0" i="1">
                <a:solidFill>
                  <a:srgbClr val="404040"/>
                </a:solidFill>
                <a:latin typeface="Calibri"/>
              </a:rPr>
              <a:t>Traduction en actions concrètes pour les territoires.</a:t>
            </a:r>
          </a:p>
          <a:p>
            <a:pPr algn="l">
              <a:spcAft>
                <a:spcPts val="100"/>
              </a:spcAft>
            </a:pPr>
            <a:r>
              <a:rPr lang="fr-FR" b="1" i="0">
                <a:solidFill>
                  <a:srgbClr val="1A1A1A"/>
                </a:solidFill>
                <a:latin typeface="Calibri"/>
              </a:rPr>
              <a:t>Contextualisation  ·  Où et comment l'adapter ?</a:t>
            </a:r>
          </a:p>
          <a:p>
            <a:pPr algn="l">
              <a:spcAft>
                <a:spcPts val="800"/>
              </a:spcAft>
            </a:pPr>
            <a:r>
              <a:rPr lang="fr-FR" sz="1600" b="0" i="1">
                <a:solidFill>
                  <a:srgbClr val="404040"/>
                </a:solidFill>
                <a:latin typeface="Calibri"/>
              </a:rPr>
              <a:t>Refléter la diversité des situations, déclinaisons différenciées.</a:t>
            </a:r>
          </a:p>
          <a:p>
            <a:pPr algn="l">
              <a:spcAft>
                <a:spcPts val="100"/>
              </a:spcAft>
            </a:pPr>
            <a:r>
              <a:rPr lang="fr-FR" b="1" i="0">
                <a:solidFill>
                  <a:srgbClr val="1A1A1A"/>
                </a:solidFill>
                <a:latin typeface="Calibri"/>
              </a:rPr>
              <a:t>Appropriation  ·  Par qui et comment portée ?</a:t>
            </a:r>
          </a:p>
          <a:p>
            <a:pPr algn="l">
              <a:spcAft>
                <a:spcPts val="800"/>
              </a:spcAft>
            </a:pPr>
            <a:r>
              <a:rPr lang="fr-FR" sz="1600" b="0" i="1">
                <a:solidFill>
                  <a:srgbClr val="404040"/>
                </a:solidFill>
                <a:latin typeface="Calibri"/>
              </a:rPr>
              <a:t>Lisibilité, processus participatifs, narratif partagé.</a:t>
            </a:r>
          </a:p>
          <a:p>
            <a:pPr algn="l">
              <a:spcAft>
                <a:spcPts val="100"/>
              </a:spcAft>
            </a:pPr>
            <a:r>
              <a:rPr lang="fr-FR" b="1" i="0">
                <a:solidFill>
                  <a:srgbClr val="1A1A1A"/>
                </a:solidFill>
                <a:latin typeface="Calibri"/>
              </a:rPr>
              <a:t>Cohérence systémique  ·  Comment cela s'inscrit-il ?</a:t>
            </a:r>
          </a:p>
          <a:p>
            <a:pPr algn="l">
              <a:spcAft>
                <a:spcPts val="800"/>
              </a:spcAft>
            </a:pPr>
            <a:r>
              <a:rPr lang="fr-FR" sz="1600" b="0" i="1">
                <a:solidFill>
                  <a:srgbClr val="404040"/>
                </a:solidFill>
                <a:latin typeface="Calibri"/>
              </a:rPr>
              <a:t>Articuler les échelles, les secteurs, les temporalités.</a:t>
            </a:r>
          </a:p>
          <a:p>
            <a:pPr algn="l">
              <a:spcAft>
                <a:spcPts val="100"/>
              </a:spcAft>
            </a:pPr>
            <a:r>
              <a:rPr lang="fr-FR" b="1" i="0">
                <a:solidFill>
                  <a:srgbClr val="1A1A1A"/>
                </a:solidFill>
                <a:latin typeface="Calibri"/>
              </a:rPr>
              <a:t>Faisabilité  ·  Peut-on le faire ici ?</a:t>
            </a:r>
          </a:p>
          <a:p>
            <a:pPr algn="l"/>
            <a:r>
              <a:rPr lang="fr-FR" sz="1600" b="0" i="1">
                <a:solidFill>
                  <a:srgbClr val="404040"/>
                </a:solidFill>
                <a:latin typeface="Calibri"/>
              </a:rPr>
              <a:t>Capacités institutionnelles, techniques, financières du territoire.</a:t>
            </a:r>
          </a:p>
        </p:txBody>
      </p:sp>
      <p:sp>
        <p:nvSpPr>
          <p:cNvPr id="12" name="Rectangle 11"/>
          <p:cNvSpPr/>
          <p:nvPr/>
        </p:nvSpPr>
        <p:spPr>
          <a:xfrm>
            <a:off x="7589520" y="1188720"/>
            <a:ext cx="4206240" cy="502920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3" name="TextBox 12"/>
          <p:cNvSpPr txBox="1"/>
          <p:nvPr/>
        </p:nvSpPr>
        <p:spPr>
          <a:xfrm>
            <a:off x="7772400" y="1325880"/>
            <a:ext cx="3931920" cy="3308598"/>
          </a:xfrm>
          <a:prstGeom prst="rect">
            <a:avLst/>
          </a:prstGeom>
          <a:noFill/>
        </p:spPr>
        <p:txBody>
          <a:bodyPr wrap="square" lIns="0" tIns="0" rIns="0" bIns="0" anchor="t">
            <a:spAutoFit/>
          </a:bodyPr>
          <a:lstStyle/>
          <a:p>
            <a:pPr algn="l">
              <a:spcAft>
                <a:spcPts val="1200"/>
              </a:spcAft>
            </a:pPr>
            <a:r>
              <a:rPr lang="fr-FR" sz="2000" b="1" i="0">
                <a:solidFill>
                  <a:srgbClr val="FFFFFF"/>
                </a:solidFill>
                <a:latin typeface="Calibri"/>
              </a:rPr>
              <a:t>6 axes structurants</a:t>
            </a:r>
          </a:p>
          <a:p>
            <a:pPr algn="l">
              <a:spcAft>
                <a:spcPts val="800"/>
              </a:spcAft>
            </a:pPr>
            <a:r>
              <a:rPr lang="fr-FR" sz="1600" b="0" i="0">
                <a:solidFill>
                  <a:srgbClr val="FFFFFF"/>
                </a:solidFill>
                <a:latin typeface="Calibri"/>
              </a:rPr>
              <a:t>Axe 1  ·  Choisir son échelle d'action territoriale</a:t>
            </a:r>
          </a:p>
          <a:p>
            <a:pPr algn="l">
              <a:spcAft>
                <a:spcPts val="800"/>
              </a:spcAft>
            </a:pPr>
            <a:r>
              <a:rPr lang="fr-FR" sz="1600" b="0" i="0">
                <a:solidFill>
                  <a:srgbClr val="FFFFFF"/>
                </a:solidFill>
                <a:latin typeface="Calibri"/>
              </a:rPr>
              <a:t>Axe 2  ·  Anticiper les aléas dans un climat en mutation</a:t>
            </a:r>
          </a:p>
          <a:p>
            <a:pPr algn="l">
              <a:spcAft>
                <a:spcPts val="800"/>
              </a:spcAft>
            </a:pPr>
            <a:r>
              <a:rPr lang="fr-FR" sz="1600" b="0" i="0">
                <a:solidFill>
                  <a:srgbClr val="FFFFFF"/>
                </a:solidFill>
                <a:latin typeface="Calibri"/>
              </a:rPr>
              <a:t>Axe 3  ·  Transformer l'aménagement en levier de prévention</a:t>
            </a:r>
          </a:p>
          <a:p>
            <a:pPr algn="l">
              <a:spcAft>
                <a:spcPts val="800"/>
              </a:spcAft>
            </a:pPr>
            <a:r>
              <a:rPr lang="fr-FR" sz="1600" b="0" i="0">
                <a:solidFill>
                  <a:srgbClr val="FFFFFF"/>
                </a:solidFill>
                <a:latin typeface="Calibri"/>
              </a:rPr>
              <a:t>Axe 4  ·  Stratégie socio-économique résiliente</a:t>
            </a:r>
          </a:p>
          <a:p>
            <a:pPr algn="l">
              <a:spcAft>
                <a:spcPts val="800"/>
              </a:spcAft>
            </a:pPr>
            <a:r>
              <a:rPr lang="fr-FR" sz="1600" b="0" i="0">
                <a:solidFill>
                  <a:srgbClr val="FFFFFF"/>
                </a:solidFill>
                <a:latin typeface="Calibri"/>
              </a:rPr>
              <a:t>Axe 5  ·  Armer la gouvernance territoriale</a:t>
            </a:r>
          </a:p>
          <a:p>
            <a:pPr algn="l">
              <a:spcAft>
                <a:spcPts val="1400"/>
              </a:spcAft>
            </a:pPr>
            <a:r>
              <a:rPr lang="fr-FR" sz="1600" b="0" i="0">
                <a:solidFill>
                  <a:srgbClr val="FFFFFF"/>
                </a:solidFill>
                <a:latin typeface="Calibri"/>
              </a:rPr>
              <a:t>Axe 6  ·  Crise, post-crise, culture du risque</a:t>
            </a:r>
          </a:p>
          <a:p>
            <a:pPr algn="ctr"/>
            <a:r>
              <a:rPr lang="fr-FR" sz="1400" b="0" i="1">
                <a:solidFill>
                  <a:srgbClr val="FFFFFF"/>
                </a:solidFill>
                <a:latin typeface="Calibri"/>
              </a:rPr>
              <a:t>≈ 30 lignes directrices déclinées</a:t>
            </a:r>
          </a:p>
        </p:txBody>
      </p:sp>
      <p:sp>
        <p:nvSpPr>
          <p:cNvPr id="3" name="Espace réservé du numéro de diapositive 2">
            <a:extLst>
              <a:ext uri="{FF2B5EF4-FFF2-40B4-BE49-F238E27FC236}">
                <a16:creationId xmlns:a16="http://schemas.microsoft.com/office/drawing/2014/main" id="{BE215679-03ED-4320-849C-ADB3CC5FE825}"/>
              </a:ext>
            </a:extLst>
          </p:cNvPr>
          <p:cNvSpPr>
            <a:spLocks noGrp="1"/>
          </p:cNvSpPr>
          <p:nvPr>
            <p:ph type="sldNum" sz="quarter" idx="4"/>
          </p:nvPr>
        </p:nvSpPr>
        <p:spPr/>
        <p:txBody>
          <a:bodyPr/>
          <a:lstStyle/>
          <a:p>
            <a:fld id="{9981E6DC-ACA4-4CC4-B142-EC9DBA1C6CBA}" type="slidenum">
              <a:rPr lang="en-US" smtClean="0"/>
              <a:pPr/>
              <a:t>47</a:t>
            </a:fld>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Axe 1  ·  Choisir son échelle d'action territoriale</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65760" y="1188720"/>
            <a:ext cx="1188720" cy="118872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2" name="TextBox 11"/>
          <p:cNvSpPr txBox="1"/>
          <p:nvPr/>
        </p:nvSpPr>
        <p:spPr>
          <a:xfrm>
            <a:off x="365760" y="1444526"/>
            <a:ext cx="1188720" cy="677108"/>
          </a:xfrm>
          <a:prstGeom prst="rect">
            <a:avLst/>
          </a:prstGeom>
          <a:noFill/>
        </p:spPr>
        <p:txBody>
          <a:bodyPr wrap="square" lIns="0" tIns="0" rIns="0" bIns="0" anchor="ctr">
            <a:spAutoFit/>
          </a:bodyPr>
          <a:lstStyle/>
          <a:p>
            <a:pPr algn="ctr"/>
            <a:r>
              <a:rPr lang="fr-FR" sz="4400" b="1" i="0">
                <a:solidFill>
                  <a:srgbClr val="FFFFFF"/>
                </a:solidFill>
                <a:latin typeface="Calibri"/>
              </a:rPr>
              <a:t>1</a:t>
            </a:r>
          </a:p>
        </p:txBody>
      </p:sp>
      <p:sp>
        <p:nvSpPr>
          <p:cNvPr id="13" name="TextBox 12"/>
          <p:cNvSpPr txBox="1"/>
          <p:nvPr/>
        </p:nvSpPr>
        <p:spPr>
          <a:xfrm>
            <a:off x="1691640" y="1188720"/>
            <a:ext cx="10058400" cy="215444"/>
          </a:xfrm>
          <a:prstGeom prst="rect">
            <a:avLst/>
          </a:prstGeom>
          <a:noFill/>
        </p:spPr>
        <p:txBody>
          <a:bodyPr wrap="square" lIns="0" tIns="0" rIns="0" bIns="0" anchor="t">
            <a:spAutoFit/>
          </a:bodyPr>
          <a:lstStyle/>
          <a:p>
            <a:pPr algn="l"/>
            <a:r>
              <a:rPr lang="fr-FR" sz="1400" b="1" i="0">
                <a:solidFill>
                  <a:srgbClr val="328088"/>
                </a:solidFill>
                <a:latin typeface="Calibri"/>
              </a:rPr>
              <a:t>Objectif structurel</a:t>
            </a:r>
          </a:p>
        </p:txBody>
      </p:sp>
      <p:sp>
        <p:nvSpPr>
          <p:cNvPr id="14" name="TextBox 13"/>
          <p:cNvSpPr txBox="1"/>
          <p:nvPr/>
        </p:nvSpPr>
        <p:spPr>
          <a:xfrm>
            <a:off x="1691640" y="1508760"/>
            <a:ext cx="10058400" cy="184666"/>
          </a:xfrm>
          <a:prstGeom prst="rect">
            <a:avLst/>
          </a:prstGeom>
          <a:noFill/>
        </p:spPr>
        <p:txBody>
          <a:bodyPr wrap="square" lIns="0" tIns="0" rIns="0" bIns="0" anchor="t">
            <a:spAutoFit/>
          </a:bodyPr>
          <a:lstStyle/>
          <a:p>
            <a:pPr algn="l"/>
            <a:r>
              <a:rPr lang="fr-FR" sz="1200" b="0" i="0">
                <a:solidFill>
                  <a:srgbClr val="1A1A1A"/>
                </a:solidFill>
                <a:latin typeface="Calibri"/>
              </a:rPr>
              <a:t>Dépasser les périmètres administratifs traditionnels pour adopter des géographies fonctionnelles et systémiques, adaptées aux interdépendances territoriales.</a:t>
            </a:r>
          </a:p>
        </p:txBody>
      </p:sp>
      <p:sp>
        <p:nvSpPr>
          <p:cNvPr id="15" name="TextBox 14"/>
          <p:cNvSpPr txBox="1"/>
          <p:nvPr/>
        </p:nvSpPr>
        <p:spPr>
          <a:xfrm>
            <a:off x="365760" y="2514600"/>
            <a:ext cx="5486400" cy="215444"/>
          </a:xfrm>
          <a:prstGeom prst="rect">
            <a:avLst/>
          </a:prstGeom>
          <a:noFill/>
        </p:spPr>
        <p:txBody>
          <a:bodyPr wrap="square" lIns="0" tIns="0" rIns="0" bIns="0" anchor="t">
            <a:spAutoFit/>
          </a:bodyPr>
          <a:lstStyle/>
          <a:p>
            <a:pPr algn="l"/>
            <a:r>
              <a:rPr lang="fr-FR" sz="1400" b="1" i="0">
                <a:solidFill>
                  <a:srgbClr val="328088"/>
                </a:solidFill>
                <a:latin typeface="Calibri"/>
              </a:rPr>
              <a:t>5 lignes directrices</a:t>
            </a:r>
          </a:p>
        </p:txBody>
      </p:sp>
      <p:sp>
        <p:nvSpPr>
          <p:cNvPr id="16" name="TextBox 15"/>
          <p:cNvSpPr txBox="1"/>
          <p:nvPr/>
        </p:nvSpPr>
        <p:spPr>
          <a:xfrm>
            <a:off x="365760" y="2926080"/>
            <a:ext cx="5486400" cy="2718693"/>
          </a:xfrm>
          <a:prstGeom prst="rect">
            <a:avLst/>
          </a:prstGeom>
          <a:noFill/>
        </p:spPr>
        <p:txBody>
          <a:bodyPr wrap="square" lIns="0" tIns="0" rIns="0" bIns="0" anchor="t">
            <a:spAutoFit/>
          </a:bodyPr>
          <a:lstStyle/>
          <a:p>
            <a:pPr algn="l">
              <a:spcAft>
                <a:spcPts val="500"/>
              </a:spcAft>
            </a:pPr>
            <a:r>
              <a:rPr lang="fr-FR" sz="1600" b="0">
                <a:solidFill>
                  <a:srgbClr val="1A1A1A"/>
                </a:solidFill>
                <a:latin typeface="Calibri"/>
              </a:rPr>
              <a:t>• </a:t>
            </a:r>
            <a:r>
              <a:rPr lang="fr-FR" sz="1600" b="0" i="0">
                <a:solidFill>
                  <a:srgbClr val="1A1A1A"/>
                </a:solidFill>
                <a:latin typeface="Calibri"/>
              </a:rPr>
              <a:t>L1.1 — Identifier l'échelle pertinente pour construire sa démarche (commune, EPCI, bassin versant…)</a:t>
            </a:r>
          </a:p>
          <a:p>
            <a:pPr algn="l">
              <a:spcAft>
                <a:spcPts val="500"/>
              </a:spcAft>
            </a:pPr>
            <a:r>
              <a:rPr lang="fr-FR" sz="1600" b="0">
                <a:solidFill>
                  <a:srgbClr val="1A1A1A"/>
                </a:solidFill>
                <a:latin typeface="Calibri"/>
              </a:rPr>
              <a:t>• </a:t>
            </a:r>
            <a:r>
              <a:rPr lang="fr-FR" sz="1600" b="0" i="0">
                <a:solidFill>
                  <a:srgbClr val="1A1A1A"/>
                </a:solidFill>
                <a:latin typeface="Calibri"/>
              </a:rPr>
              <a:t>L1.2 — Articuler bassins versants (logique d'aléa) et collectivités gestionnaires (logique de compétences)</a:t>
            </a:r>
          </a:p>
          <a:p>
            <a:pPr algn="l">
              <a:spcAft>
                <a:spcPts val="500"/>
              </a:spcAft>
            </a:pPr>
            <a:r>
              <a:rPr lang="fr-FR" sz="1600" b="0">
                <a:solidFill>
                  <a:srgbClr val="1A1A1A"/>
                </a:solidFill>
                <a:latin typeface="Calibri"/>
              </a:rPr>
              <a:t>• </a:t>
            </a:r>
            <a:r>
              <a:rPr lang="fr-FR" sz="1600" b="0" i="0">
                <a:solidFill>
                  <a:srgbClr val="1A1A1A"/>
                </a:solidFill>
                <a:latin typeface="Calibri"/>
              </a:rPr>
              <a:t>L1.3 — Reconnaître les territoires de projet existants (PNR, syndicats mixtes, EPTB) comme leviers d'intégration</a:t>
            </a:r>
          </a:p>
          <a:p>
            <a:pPr algn="l">
              <a:spcAft>
                <a:spcPts val="500"/>
              </a:spcAft>
            </a:pPr>
            <a:r>
              <a:rPr lang="fr-FR" sz="1600" b="0">
                <a:solidFill>
                  <a:srgbClr val="1A1A1A"/>
                </a:solidFill>
                <a:latin typeface="Calibri"/>
              </a:rPr>
              <a:t>• </a:t>
            </a:r>
            <a:r>
              <a:rPr lang="fr-FR" sz="1600" b="0" i="0">
                <a:solidFill>
                  <a:srgbClr val="1A1A1A"/>
                </a:solidFill>
                <a:latin typeface="Calibri"/>
              </a:rPr>
              <a:t>L1.4 — Assurer la cohérence inter-échelles (SRADDET, PGRI, SCoT, PCAET, PCS)</a:t>
            </a:r>
          </a:p>
          <a:p>
            <a:pPr algn="l">
              <a:spcAft>
                <a:spcPts val="500"/>
              </a:spcAft>
            </a:pPr>
            <a:r>
              <a:rPr lang="fr-FR" sz="1600" b="0">
                <a:solidFill>
                  <a:srgbClr val="1A1A1A"/>
                </a:solidFill>
                <a:latin typeface="Calibri"/>
              </a:rPr>
              <a:t>• </a:t>
            </a:r>
            <a:r>
              <a:rPr lang="fr-FR" sz="1600" b="0" i="0">
                <a:solidFill>
                  <a:srgbClr val="1A1A1A"/>
                </a:solidFill>
                <a:latin typeface="Calibri"/>
              </a:rPr>
              <a:t>L1.5 — Identifier toutes les parties prenantes — y compris les opposants — dès le départ</a:t>
            </a:r>
          </a:p>
        </p:txBody>
      </p:sp>
      <p:sp>
        <p:nvSpPr>
          <p:cNvPr id="17" name="Rectangle 16"/>
          <p:cNvSpPr/>
          <p:nvPr/>
        </p:nvSpPr>
        <p:spPr>
          <a:xfrm>
            <a:off x="6126480" y="2514600"/>
            <a:ext cx="5669280" cy="370332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8" name="TextBox 17"/>
          <p:cNvSpPr txBox="1"/>
          <p:nvPr/>
        </p:nvSpPr>
        <p:spPr>
          <a:xfrm>
            <a:off x="6309360" y="2606040"/>
            <a:ext cx="5394960" cy="184666"/>
          </a:xfrm>
          <a:prstGeom prst="rect">
            <a:avLst/>
          </a:prstGeom>
          <a:noFill/>
        </p:spPr>
        <p:txBody>
          <a:bodyPr wrap="square" lIns="0" tIns="0" rIns="0" bIns="0" anchor="t">
            <a:spAutoFit/>
          </a:bodyPr>
          <a:lstStyle/>
          <a:p>
            <a:pPr algn="l"/>
            <a:r>
              <a:rPr lang="fr-FR" sz="1200" b="1" i="0">
                <a:solidFill>
                  <a:srgbClr val="E86E55"/>
                </a:solidFill>
                <a:latin typeface="Calibri"/>
              </a:rPr>
              <a:t>TRANSPOSITION  ·  ce que cela donne sur le littoral</a:t>
            </a:r>
          </a:p>
        </p:txBody>
      </p:sp>
      <p:sp>
        <p:nvSpPr>
          <p:cNvPr id="19" name="TextBox 18"/>
          <p:cNvSpPr txBox="1"/>
          <p:nvPr/>
        </p:nvSpPr>
        <p:spPr>
          <a:xfrm>
            <a:off x="6309360" y="3017520"/>
            <a:ext cx="5394960" cy="2400657"/>
          </a:xfrm>
          <a:prstGeom prst="rect">
            <a:avLst/>
          </a:prstGeom>
          <a:noFill/>
        </p:spPr>
        <p:txBody>
          <a:bodyPr wrap="square" lIns="0" tIns="0" rIns="0" bIns="0" anchor="t">
            <a:spAutoFit/>
          </a:bodyPr>
          <a:lstStyle/>
          <a:p>
            <a:pPr algn="l"/>
            <a:r>
              <a:rPr lang="fr-FR" sz="1200" b="0" i="0">
                <a:solidFill>
                  <a:srgbClr val="1A1A1A"/>
                </a:solidFill>
                <a:latin typeface="Calibri"/>
              </a:rPr>
              <a:t>Sur le littoral, l'échelle pertinente n'est presque jamais la commune seule. Une cellule sédimentaire (de cap à cap), une baie, un estuaire, un secteur SCoT, un EPTB littoral : autant de candidats.
Le SM3A pour l'Arve dans les Alpes est l'analogue d'un syndicat mixte de bassin versant côtier ou d'un EPTB littoral.
Penser systématiquement « amont-aval » : une intervention dunaire à l'embouchure ne se conçoit pas sans intégrer le bassin versant terrestre — la concomitance avec une crue change tout.
Cartographier les parties prenantes AVANT d'écrire le projet, comme à Métabief dans le Jura.</a:t>
            </a:r>
          </a:p>
        </p:txBody>
      </p:sp>
      <p:sp>
        <p:nvSpPr>
          <p:cNvPr id="3" name="Espace réservé du numéro de diapositive 2">
            <a:extLst>
              <a:ext uri="{FF2B5EF4-FFF2-40B4-BE49-F238E27FC236}">
                <a16:creationId xmlns:a16="http://schemas.microsoft.com/office/drawing/2014/main" id="{92E4876A-2958-40D4-831C-3BAC4B371057}"/>
              </a:ext>
            </a:extLst>
          </p:cNvPr>
          <p:cNvSpPr>
            <a:spLocks noGrp="1"/>
          </p:cNvSpPr>
          <p:nvPr>
            <p:ph type="sldNum" sz="quarter" idx="4"/>
          </p:nvPr>
        </p:nvSpPr>
        <p:spPr/>
        <p:txBody>
          <a:bodyPr/>
          <a:lstStyle/>
          <a:p>
            <a:fld id="{9981E6DC-ACA4-4CC4-B142-EC9DBA1C6CBA}" type="slidenum">
              <a:rPr lang="en-US" smtClean="0"/>
              <a:pPr/>
              <a:t>48</a:t>
            </a:fld>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Axe 2  ·  Anticiper les aléas dans un climat en mutation</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65760" y="1188720"/>
            <a:ext cx="1188720" cy="118872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2" name="TextBox 11"/>
          <p:cNvSpPr txBox="1"/>
          <p:nvPr/>
        </p:nvSpPr>
        <p:spPr>
          <a:xfrm>
            <a:off x="365760" y="1444526"/>
            <a:ext cx="1188720" cy="677108"/>
          </a:xfrm>
          <a:prstGeom prst="rect">
            <a:avLst/>
          </a:prstGeom>
          <a:noFill/>
        </p:spPr>
        <p:txBody>
          <a:bodyPr wrap="square" lIns="0" tIns="0" rIns="0" bIns="0" anchor="ctr">
            <a:spAutoFit/>
          </a:bodyPr>
          <a:lstStyle/>
          <a:p>
            <a:pPr algn="ctr"/>
            <a:r>
              <a:rPr lang="fr-FR" sz="4400" b="1" i="0">
                <a:solidFill>
                  <a:srgbClr val="FFFFFF"/>
                </a:solidFill>
                <a:latin typeface="Calibri"/>
              </a:rPr>
              <a:t>2</a:t>
            </a:r>
          </a:p>
        </p:txBody>
      </p:sp>
      <p:sp>
        <p:nvSpPr>
          <p:cNvPr id="13" name="TextBox 12"/>
          <p:cNvSpPr txBox="1"/>
          <p:nvPr/>
        </p:nvSpPr>
        <p:spPr>
          <a:xfrm>
            <a:off x="1691640" y="1188720"/>
            <a:ext cx="10058400" cy="215444"/>
          </a:xfrm>
          <a:prstGeom prst="rect">
            <a:avLst/>
          </a:prstGeom>
          <a:noFill/>
        </p:spPr>
        <p:txBody>
          <a:bodyPr wrap="square" lIns="0" tIns="0" rIns="0" bIns="0" anchor="t">
            <a:spAutoFit/>
          </a:bodyPr>
          <a:lstStyle/>
          <a:p>
            <a:pPr algn="l"/>
            <a:r>
              <a:rPr lang="fr-FR" sz="1400" b="1" i="0">
                <a:solidFill>
                  <a:srgbClr val="328088"/>
                </a:solidFill>
                <a:latin typeface="Calibri"/>
              </a:rPr>
              <a:t>Objectif structurel</a:t>
            </a:r>
          </a:p>
        </p:txBody>
      </p:sp>
      <p:sp>
        <p:nvSpPr>
          <p:cNvPr id="14" name="TextBox 13"/>
          <p:cNvSpPr txBox="1"/>
          <p:nvPr/>
        </p:nvSpPr>
        <p:spPr>
          <a:xfrm>
            <a:off x="1691640" y="1554480"/>
            <a:ext cx="10058400" cy="369332"/>
          </a:xfrm>
          <a:prstGeom prst="rect">
            <a:avLst/>
          </a:prstGeom>
          <a:noFill/>
        </p:spPr>
        <p:txBody>
          <a:bodyPr wrap="square" lIns="0" tIns="0" rIns="0" bIns="0" anchor="t">
            <a:spAutoFit/>
          </a:bodyPr>
          <a:lstStyle/>
          <a:p>
            <a:pPr algn="l"/>
            <a:r>
              <a:rPr lang="fr-FR" sz="1200" b="0" i="0">
                <a:solidFill>
                  <a:srgbClr val="1A1A1A"/>
                </a:solidFill>
                <a:latin typeface="Calibri"/>
              </a:rPr>
              <a:t>Intégrer l'évolution des régimes d'aléas dans les politiques publiques territoriales : passer d'une logique fondée sur les événements passés à une approche prospective.</a:t>
            </a:r>
          </a:p>
        </p:txBody>
      </p:sp>
      <p:sp>
        <p:nvSpPr>
          <p:cNvPr id="15" name="TextBox 14"/>
          <p:cNvSpPr txBox="1"/>
          <p:nvPr/>
        </p:nvSpPr>
        <p:spPr>
          <a:xfrm>
            <a:off x="365760" y="2514600"/>
            <a:ext cx="5486400" cy="215444"/>
          </a:xfrm>
          <a:prstGeom prst="rect">
            <a:avLst/>
          </a:prstGeom>
          <a:noFill/>
        </p:spPr>
        <p:txBody>
          <a:bodyPr wrap="square" lIns="0" tIns="0" rIns="0" bIns="0" anchor="t">
            <a:spAutoFit/>
          </a:bodyPr>
          <a:lstStyle/>
          <a:p>
            <a:pPr algn="l"/>
            <a:r>
              <a:rPr lang="fr-FR" sz="1400" b="1" i="0">
                <a:solidFill>
                  <a:srgbClr val="328088"/>
                </a:solidFill>
                <a:latin typeface="Calibri"/>
              </a:rPr>
              <a:t>4 lignes directrices</a:t>
            </a:r>
          </a:p>
        </p:txBody>
      </p:sp>
      <p:sp>
        <p:nvSpPr>
          <p:cNvPr id="16" name="TextBox 15"/>
          <p:cNvSpPr txBox="1"/>
          <p:nvPr/>
        </p:nvSpPr>
        <p:spPr>
          <a:xfrm>
            <a:off x="365760" y="2926080"/>
            <a:ext cx="5486400" cy="2162130"/>
          </a:xfrm>
          <a:prstGeom prst="rect">
            <a:avLst/>
          </a:prstGeom>
          <a:noFill/>
        </p:spPr>
        <p:txBody>
          <a:bodyPr wrap="square" lIns="0" tIns="0" rIns="0" bIns="0" anchor="t">
            <a:spAutoFit/>
          </a:bodyPr>
          <a:lstStyle/>
          <a:p>
            <a:pPr algn="l">
              <a:spcAft>
                <a:spcPts val="500"/>
              </a:spcAft>
            </a:pPr>
            <a:r>
              <a:rPr lang="fr-FR" sz="1600" b="0">
                <a:solidFill>
                  <a:srgbClr val="1A1A1A"/>
                </a:solidFill>
                <a:latin typeface="Calibri"/>
              </a:rPr>
              <a:t>• </a:t>
            </a:r>
            <a:r>
              <a:rPr lang="fr-FR" sz="1600" b="0" i="0">
                <a:solidFill>
                  <a:srgbClr val="1A1A1A"/>
                </a:solidFill>
                <a:latin typeface="Calibri"/>
              </a:rPr>
              <a:t>L2.1 — Intégrer les évolutions climatiques (TRACC, GIEC) dans les diagnostics territoriaux</a:t>
            </a:r>
          </a:p>
          <a:p>
            <a:pPr algn="l">
              <a:spcAft>
                <a:spcPts val="500"/>
              </a:spcAft>
            </a:pPr>
            <a:r>
              <a:rPr lang="fr-FR" sz="1600" b="0">
                <a:solidFill>
                  <a:srgbClr val="1A1A1A"/>
                </a:solidFill>
                <a:latin typeface="Calibri"/>
              </a:rPr>
              <a:t>• </a:t>
            </a:r>
            <a:r>
              <a:rPr lang="fr-FR" sz="1600" b="0" i="0">
                <a:solidFill>
                  <a:srgbClr val="1A1A1A"/>
                </a:solidFill>
                <a:latin typeface="Calibri"/>
              </a:rPr>
              <a:t>L2.2 — Participer à la mise en réseau des données pour les valoriser et les partager</a:t>
            </a:r>
          </a:p>
          <a:p>
            <a:pPr algn="l">
              <a:spcAft>
                <a:spcPts val="500"/>
              </a:spcAft>
            </a:pPr>
            <a:r>
              <a:rPr lang="fr-FR" sz="1600" b="0">
                <a:solidFill>
                  <a:srgbClr val="1A1A1A"/>
                </a:solidFill>
                <a:latin typeface="Calibri"/>
              </a:rPr>
              <a:t>• </a:t>
            </a:r>
            <a:r>
              <a:rPr lang="fr-FR" sz="1600" b="0" i="0">
                <a:solidFill>
                  <a:srgbClr val="1A1A1A"/>
                </a:solidFill>
                <a:latin typeface="Calibri"/>
              </a:rPr>
              <a:t>L2.3 — Repenser la prise en compte locale des aléas à partir de l'observation et des REX</a:t>
            </a:r>
          </a:p>
          <a:p>
            <a:pPr algn="l">
              <a:spcAft>
                <a:spcPts val="500"/>
              </a:spcAft>
            </a:pPr>
            <a:r>
              <a:rPr lang="fr-FR" sz="1600" b="0">
                <a:solidFill>
                  <a:srgbClr val="1A1A1A"/>
                </a:solidFill>
                <a:latin typeface="Calibri"/>
              </a:rPr>
              <a:t>• </a:t>
            </a:r>
            <a:r>
              <a:rPr lang="fr-FR" sz="1600" b="0" i="0">
                <a:solidFill>
                  <a:srgbClr val="1A1A1A"/>
                </a:solidFill>
                <a:latin typeface="Calibri"/>
              </a:rPr>
              <a:t>L2.4 — Évaluer l'opportunité de dispositifs locaux complémentaires de veille, prévision, alerte</a:t>
            </a:r>
          </a:p>
        </p:txBody>
      </p:sp>
      <p:sp>
        <p:nvSpPr>
          <p:cNvPr id="17" name="Rectangle 16"/>
          <p:cNvSpPr/>
          <p:nvPr/>
        </p:nvSpPr>
        <p:spPr>
          <a:xfrm>
            <a:off x="6126480" y="2514600"/>
            <a:ext cx="5669280" cy="370332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8" name="TextBox 17"/>
          <p:cNvSpPr txBox="1"/>
          <p:nvPr/>
        </p:nvSpPr>
        <p:spPr>
          <a:xfrm>
            <a:off x="6309360" y="2606040"/>
            <a:ext cx="5394960" cy="184666"/>
          </a:xfrm>
          <a:prstGeom prst="rect">
            <a:avLst/>
          </a:prstGeom>
          <a:noFill/>
        </p:spPr>
        <p:txBody>
          <a:bodyPr wrap="square" lIns="0" tIns="0" rIns="0" bIns="0" anchor="t">
            <a:spAutoFit/>
          </a:bodyPr>
          <a:lstStyle/>
          <a:p>
            <a:pPr algn="l"/>
            <a:r>
              <a:rPr lang="fr-FR" sz="1200" b="1" i="0">
                <a:solidFill>
                  <a:srgbClr val="E86E55"/>
                </a:solidFill>
                <a:latin typeface="Calibri"/>
              </a:rPr>
              <a:t>TRANSPOSITION  ·  ce que cela donne sur le littoral</a:t>
            </a:r>
          </a:p>
        </p:txBody>
      </p:sp>
      <p:sp>
        <p:nvSpPr>
          <p:cNvPr id="19" name="TextBox 18"/>
          <p:cNvSpPr txBox="1"/>
          <p:nvPr/>
        </p:nvSpPr>
        <p:spPr>
          <a:xfrm>
            <a:off x="6309360" y="3017520"/>
            <a:ext cx="5394960" cy="2400657"/>
          </a:xfrm>
          <a:prstGeom prst="rect">
            <a:avLst/>
          </a:prstGeom>
          <a:noFill/>
        </p:spPr>
        <p:txBody>
          <a:bodyPr wrap="square" lIns="0" tIns="0" rIns="0" bIns="0" anchor="t">
            <a:spAutoFit/>
          </a:bodyPr>
          <a:lstStyle/>
          <a:p>
            <a:pPr algn="l"/>
            <a:r>
              <a:rPr lang="fr-FR" sz="1200" b="0" i="0">
                <a:solidFill>
                  <a:srgbClr val="1A1A1A"/>
                </a:solidFill>
                <a:latin typeface="Calibri"/>
              </a:rPr>
              <a:t>Sur le littoral, l'élévation du niveau marin est aujourd'hui le seul aléa pour lequel le consensus scientifique permet d'intégrer une trajectoire (cf. arrêté 5 juillet 2019 : + 60 cm minimum dans les PPRSM).
Les réseaux d'observation (marégraphes REFMAR, bouées Candhis, ROL, observatoires régionaux comme l'OCNA) sont déjà denses — l'enjeu est de les rendre opérationnels pour les collectivités.
L'équivalent du PARN dans les Alpes pourrait être les ROL (Réseau d'Observation du Littoral) ou l'Observatoire National de la Mer et du Littoral (ONML).
Comme à Chamonix : une commune littorale qui s'équipe (drones, caméras, capteurs) et tisse des liens avec la recherche est plus réactive.</a:t>
            </a:r>
          </a:p>
        </p:txBody>
      </p:sp>
      <p:sp>
        <p:nvSpPr>
          <p:cNvPr id="3" name="Espace réservé du numéro de diapositive 2">
            <a:extLst>
              <a:ext uri="{FF2B5EF4-FFF2-40B4-BE49-F238E27FC236}">
                <a16:creationId xmlns:a16="http://schemas.microsoft.com/office/drawing/2014/main" id="{D17D69E7-E14F-40C7-A316-596B2D8E5984}"/>
              </a:ext>
            </a:extLst>
          </p:cNvPr>
          <p:cNvSpPr>
            <a:spLocks noGrp="1"/>
          </p:cNvSpPr>
          <p:nvPr>
            <p:ph type="sldNum" sz="quarter" idx="4"/>
          </p:nvPr>
        </p:nvSpPr>
        <p:spPr/>
        <p:txBody>
          <a:bodyPr/>
          <a:lstStyle/>
          <a:p>
            <a:fld id="{9981E6DC-ACA4-4CC4-B142-EC9DBA1C6CBA}" type="slidenum">
              <a:rPr lang="en-US" smtClean="0"/>
              <a:pPr/>
              <a:t>49</a:t>
            </a:fld>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157675"/>
            <a:ext cx="9509760" cy="800219"/>
          </a:xfrm>
          <a:prstGeom prst="rect">
            <a:avLst/>
          </a:prstGeom>
          <a:noFill/>
        </p:spPr>
        <p:txBody>
          <a:bodyPr wrap="square" lIns="0" tIns="0" rIns="0" bIns="0" anchor="ctr">
            <a:spAutoFit/>
          </a:bodyPr>
          <a:lstStyle/>
          <a:p>
            <a:pPr algn="l"/>
            <a:r>
              <a:rPr lang="fr-FR" sz="2600" b="1" i="0">
                <a:solidFill>
                  <a:srgbClr val="1A1A1A"/>
                </a:solidFill>
                <a:latin typeface="Calibri"/>
              </a:rPr>
              <a:t>Axe 3  ·  Transformer l'aménagement et l'usage du sol en leviers de prévention</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65760" y="1188720"/>
            <a:ext cx="1188720" cy="118872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2" name="TextBox 11"/>
          <p:cNvSpPr txBox="1"/>
          <p:nvPr/>
        </p:nvSpPr>
        <p:spPr>
          <a:xfrm>
            <a:off x="365760" y="1444526"/>
            <a:ext cx="1188720" cy="677108"/>
          </a:xfrm>
          <a:prstGeom prst="rect">
            <a:avLst/>
          </a:prstGeom>
          <a:noFill/>
        </p:spPr>
        <p:txBody>
          <a:bodyPr wrap="square" lIns="0" tIns="0" rIns="0" bIns="0" anchor="ctr">
            <a:spAutoFit/>
          </a:bodyPr>
          <a:lstStyle/>
          <a:p>
            <a:pPr algn="ctr"/>
            <a:r>
              <a:rPr lang="fr-FR" sz="4400" b="1" i="0">
                <a:solidFill>
                  <a:srgbClr val="FFFFFF"/>
                </a:solidFill>
                <a:latin typeface="Calibri"/>
              </a:rPr>
              <a:t>3</a:t>
            </a:r>
          </a:p>
        </p:txBody>
      </p:sp>
      <p:sp>
        <p:nvSpPr>
          <p:cNvPr id="13" name="TextBox 12"/>
          <p:cNvSpPr txBox="1"/>
          <p:nvPr/>
        </p:nvSpPr>
        <p:spPr>
          <a:xfrm>
            <a:off x="1691640" y="1188720"/>
            <a:ext cx="10058400" cy="215444"/>
          </a:xfrm>
          <a:prstGeom prst="rect">
            <a:avLst/>
          </a:prstGeom>
          <a:noFill/>
        </p:spPr>
        <p:txBody>
          <a:bodyPr wrap="square" lIns="0" tIns="0" rIns="0" bIns="0" anchor="t">
            <a:spAutoFit/>
          </a:bodyPr>
          <a:lstStyle/>
          <a:p>
            <a:pPr algn="l"/>
            <a:r>
              <a:rPr lang="fr-FR" sz="1400" b="1" i="0">
                <a:solidFill>
                  <a:srgbClr val="328088"/>
                </a:solidFill>
                <a:latin typeface="Calibri"/>
              </a:rPr>
              <a:t>Objectif structurel</a:t>
            </a:r>
          </a:p>
        </p:txBody>
      </p:sp>
      <p:sp>
        <p:nvSpPr>
          <p:cNvPr id="14" name="TextBox 13"/>
          <p:cNvSpPr txBox="1"/>
          <p:nvPr/>
        </p:nvSpPr>
        <p:spPr>
          <a:xfrm>
            <a:off x="1691640" y="1554480"/>
            <a:ext cx="10058400" cy="184666"/>
          </a:xfrm>
          <a:prstGeom prst="rect">
            <a:avLst/>
          </a:prstGeom>
          <a:noFill/>
        </p:spPr>
        <p:txBody>
          <a:bodyPr wrap="square" lIns="0" tIns="0" rIns="0" bIns="0" anchor="t">
            <a:spAutoFit/>
          </a:bodyPr>
          <a:lstStyle/>
          <a:p>
            <a:pPr algn="l"/>
            <a:r>
              <a:rPr lang="fr-FR" sz="1200" b="0" i="0">
                <a:solidFill>
                  <a:srgbClr val="1A1A1A"/>
                </a:solidFill>
                <a:latin typeface="Calibri"/>
              </a:rPr>
              <a:t>Faire de l'aménagement un outil central de la résilience, en réorientant les logiques d'urbanisation et d'occupation du sol pour réduire les vulnérabilités.</a:t>
            </a:r>
          </a:p>
        </p:txBody>
      </p:sp>
      <p:sp>
        <p:nvSpPr>
          <p:cNvPr id="15" name="TextBox 14"/>
          <p:cNvSpPr txBox="1"/>
          <p:nvPr/>
        </p:nvSpPr>
        <p:spPr>
          <a:xfrm>
            <a:off x="365760" y="2514600"/>
            <a:ext cx="5486400" cy="215444"/>
          </a:xfrm>
          <a:prstGeom prst="rect">
            <a:avLst/>
          </a:prstGeom>
          <a:noFill/>
        </p:spPr>
        <p:txBody>
          <a:bodyPr wrap="square" lIns="0" tIns="0" rIns="0" bIns="0" anchor="t">
            <a:spAutoFit/>
          </a:bodyPr>
          <a:lstStyle/>
          <a:p>
            <a:pPr algn="l"/>
            <a:r>
              <a:rPr lang="fr-FR" sz="1400" b="1" i="0">
                <a:solidFill>
                  <a:srgbClr val="328088"/>
                </a:solidFill>
                <a:latin typeface="Calibri"/>
              </a:rPr>
              <a:t>Quelques lignes directrices</a:t>
            </a:r>
          </a:p>
        </p:txBody>
      </p:sp>
      <p:sp>
        <p:nvSpPr>
          <p:cNvPr id="16" name="TextBox 15"/>
          <p:cNvSpPr txBox="1"/>
          <p:nvPr/>
        </p:nvSpPr>
        <p:spPr>
          <a:xfrm>
            <a:off x="365760" y="2880360"/>
            <a:ext cx="5486400" cy="2162130"/>
          </a:xfrm>
          <a:prstGeom prst="rect">
            <a:avLst/>
          </a:prstGeom>
          <a:noFill/>
        </p:spPr>
        <p:txBody>
          <a:bodyPr wrap="square" lIns="0" tIns="0" rIns="0" bIns="0" anchor="t">
            <a:spAutoFit/>
          </a:bodyPr>
          <a:lstStyle/>
          <a:p>
            <a:pPr algn="l">
              <a:spcAft>
                <a:spcPts val="500"/>
              </a:spcAft>
            </a:pPr>
            <a:r>
              <a:rPr lang="fr-FR" sz="1600" b="0">
                <a:solidFill>
                  <a:srgbClr val="1A1A1A"/>
                </a:solidFill>
                <a:latin typeface="Calibri"/>
              </a:rPr>
              <a:t>• </a:t>
            </a:r>
            <a:r>
              <a:rPr lang="fr-FR" sz="1600" b="0" i="0">
                <a:solidFill>
                  <a:srgbClr val="1A1A1A"/>
                </a:solidFill>
                <a:latin typeface="Calibri"/>
              </a:rPr>
              <a:t>L3.1 — Réfléchir à des formes d'urbanisation compatibles avec les risques évolutifs</a:t>
            </a:r>
          </a:p>
          <a:p>
            <a:pPr algn="l">
              <a:spcAft>
                <a:spcPts val="500"/>
              </a:spcAft>
            </a:pPr>
            <a:r>
              <a:rPr lang="fr-FR" sz="1600" b="0">
                <a:solidFill>
                  <a:srgbClr val="1A1A1A"/>
                </a:solidFill>
                <a:latin typeface="Calibri"/>
              </a:rPr>
              <a:t>• </a:t>
            </a:r>
            <a:r>
              <a:rPr lang="fr-FR" sz="1600" b="0" i="0">
                <a:solidFill>
                  <a:srgbClr val="1A1A1A"/>
                </a:solidFill>
                <a:latin typeface="Calibri"/>
              </a:rPr>
              <a:t>L3.2 — Intégrer systématiquement la résilience dans les documents d'urbanisme (PLU(i), SCoT) — OAP « Résilience »</a:t>
            </a:r>
          </a:p>
          <a:p>
            <a:pPr algn="l">
              <a:spcAft>
                <a:spcPts val="500"/>
              </a:spcAft>
            </a:pPr>
            <a:r>
              <a:rPr lang="fr-FR" sz="1600" b="0">
                <a:solidFill>
                  <a:srgbClr val="1A1A1A"/>
                </a:solidFill>
                <a:latin typeface="Calibri"/>
              </a:rPr>
              <a:t>• </a:t>
            </a:r>
            <a:r>
              <a:rPr lang="fr-FR" sz="1600" b="0" i="0">
                <a:solidFill>
                  <a:srgbClr val="1A1A1A"/>
                </a:solidFill>
                <a:latin typeface="Calibri"/>
              </a:rPr>
              <a:t>L3.3 — Intégrer la multifonctionnalité des écosystèmes (forêt en montagne, dunes/marais sur le littoral)</a:t>
            </a:r>
          </a:p>
          <a:p>
            <a:pPr algn="l">
              <a:spcAft>
                <a:spcPts val="500"/>
              </a:spcAft>
            </a:pPr>
            <a:r>
              <a:rPr lang="fr-FR" sz="1600" b="0">
                <a:solidFill>
                  <a:srgbClr val="1A1A1A"/>
                </a:solidFill>
                <a:latin typeface="Calibri"/>
              </a:rPr>
              <a:t>• </a:t>
            </a:r>
            <a:r>
              <a:rPr lang="fr-FR" sz="1600" b="0" i="0">
                <a:solidFill>
                  <a:srgbClr val="1A1A1A"/>
                </a:solidFill>
                <a:latin typeface="Calibri"/>
              </a:rPr>
              <a:t>L3.4 — Activer les outils fonciers : DIG, DUP, ORE, EPF, droit de préemption…</a:t>
            </a:r>
          </a:p>
        </p:txBody>
      </p:sp>
      <p:sp>
        <p:nvSpPr>
          <p:cNvPr id="17" name="Rectangle 16"/>
          <p:cNvSpPr/>
          <p:nvPr/>
        </p:nvSpPr>
        <p:spPr>
          <a:xfrm>
            <a:off x="6126480" y="2514600"/>
            <a:ext cx="5669280" cy="370332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8" name="TextBox 17"/>
          <p:cNvSpPr txBox="1"/>
          <p:nvPr/>
        </p:nvSpPr>
        <p:spPr>
          <a:xfrm>
            <a:off x="6309360" y="2606040"/>
            <a:ext cx="5394960" cy="184666"/>
          </a:xfrm>
          <a:prstGeom prst="rect">
            <a:avLst/>
          </a:prstGeom>
          <a:noFill/>
        </p:spPr>
        <p:txBody>
          <a:bodyPr wrap="square" lIns="0" tIns="0" rIns="0" bIns="0" anchor="t">
            <a:spAutoFit/>
          </a:bodyPr>
          <a:lstStyle/>
          <a:p>
            <a:pPr algn="l"/>
            <a:r>
              <a:rPr lang="fr-FR" sz="1200" b="1" i="0">
                <a:solidFill>
                  <a:srgbClr val="E86E55"/>
                </a:solidFill>
                <a:latin typeface="Calibri"/>
              </a:rPr>
              <a:t>TRANSPOSITION  ·  ce que cela donne sur le littoral</a:t>
            </a:r>
          </a:p>
        </p:txBody>
      </p:sp>
      <p:sp>
        <p:nvSpPr>
          <p:cNvPr id="19" name="TextBox 18"/>
          <p:cNvSpPr txBox="1"/>
          <p:nvPr/>
        </p:nvSpPr>
        <p:spPr>
          <a:xfrm>
            <a:off x="6309360" y="3017520"/>
            <a:ext cx="5394960" cy="2215991"/>
          </a:xfrm>
          <a:prstGeom prst="rect">
            <a:avLst/>
          </a:prstGeom>
          <a:noFill/>
        </p:spPr>
        <p:txBody>
          <a:bodyPr wrap="square" lIns="0" tIns="0" rIns="0" bIns="0" anchor="t">
            <a:spAutoFit/>
          </a:bodyPr>
          <a:lstStyle/>
          <a:p>
            <a:pPr algn="l"/>
            <a:r>
              <a:rPr lang="fr-FR" sz="1200" b="0" i="0">
                <a:solidFill>
                  <a:srgbClr val="1A1A1A"/>
                </a:solidFill>
                <a:latin typeface="Calibri"/>
              </a:rPr>
              <a:t>Sur le littoral, la loi Climat et Résilience (article 248) crée déjà un cadre pour intégrer l'érosion dans le PLU(i). Les communes inscrites au décret du 29 avril 2022 doivent produire une carte locale d'exposition.
Le projet ADAPTO (Conservatoire du littoral, marais de Brouage) est l'équivalent maritime des projets alpins de gestion intégrée (station des Arcs).
L'EPF PACA dans la vallée de la Roya post-Alex est transposable : EPF littoral, fonds Barnier, déconstruction puis revente symbolique aux communes avec inconstructibilité.
OAP « Risques et résilience » de Grenoble-Alpes-Métropole : à reproduire dans des PLU(i) littoraux.</a:t>
            </a:r>
          </a:p>
        </p:txBody>
      </p:sp>
      <p:sp>
        <p:nvSpPr>
          <p:cNvPr id="3" name="Espace réservé du numéro de diapositive 2">
            <a:extLst>
              <a:ext uri="{FF2B5EF4-FFF2-40B4-BE49-F238E27FC236}">
                <a16:creationId xmlns:a16="http://schemas.microsoft.com/office/drawing/2014/main" id="{71D512D7-BEC4-4ED5-9943-EBB87F29E0AD}"/>
              </a:ext>
            </a:extLst>
          </p:cNvPr>
          <p:cNvSpPr>
            <a:spLocks noGrp="1"/>
          </p:cNvSpPr>
          <p:nvPr>
            <p:ph type="sldNum" sz="quarter" idx="4"/>
          </p:nvPr>
        </p:nvSpPr>
        <p:spPr/>
        <p:txBody>
          <a:bodyPr/>
          <a:lstStyle/>
          <a:p>
            <a:fld id="{9981E6DC-ACA4-4CC4-B142-EC9DBA1C6CBA}" type="slidenum">
              <a:rPr lang="en-US" smtClean="0"/>
              <a:pPr/>
              <a:t>50</a:t>
            </a:fld>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157675"/>
            <a:ext cx="9509760" cy="800219"/>
          </a:xfrm>
          <a:prstGeom prst="rect">
            <a:avLst/>
          </a:prstGeom>
          <a:noFill/>
        </p:spPr>
        <p:txBody>
          <a:bodyPr wrap="square" lIns="0" tIns="0" rIns="0" bIns="0" anchor="ctr">
            <a:spAutoFit/>
          </a:bodyPr>
          <a:lstStyle/>
          <a:p>
            <a:pPr algn="l"/>
            <a:r>
              <a:rPr lang="fr-FR" sz="2600" b="1" i="0">
                <a:solidFill>
                  <a:srgbClr val="1A1A1A"/>
                </a:solidFill>
                <a:latin typeface="Calibri"/>
              </a:rPr>
              <a:t>Axe 4  ·  Élaborer une stratégie de développement socio-économique résiliente</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65760" y="1188720"/>
            <a:ext cx="1188720" cy="118872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2" name="TextBox 11"/>
          <p:cNvSpPr txBox="1"/>
          <p:nvPr/>
        </p:nvSpPr>
        <p:spPr>
          <a:xfrm>
            <a:off x="365760" y="1444526"/>
            <a:ext cx="1188720" cy="677108"/>
          </a:xfrm>
          <a:prstGeom prst="rect">
            <a:avLst/>
          </a:prstGeom>
          <a:noFill/>
        </p:spPr>
        <p:txBody>
          <a:bodyPr wrap="square" lIns="0" tIns="0" rIns="0" bIns="0" anchor="ctr">
            <a:spAutoFit/>
          </a:bodyPr>
          <a:lstStyle/>
          <a:p>
            <a:pPr algn="ctr"/>
            <a:r>
              <a:rPr lang="fr-FR" sz="4400" b="1" i="0">
                <a:solidFill>
                  <a:srgbClr val="FFFFFF"/>
                </a:solidFill>
                <a:latin typeface="Calibri"/>
              </a:rPr>
              <a:t>4</a:t>
            </a:r>
          </a:p>
        </p:txBody>
      </p:sp>
      <p:sp>
        <p:nvSpPr>
          <p:cNvPr id="13" name="TextBox 12"/>
          <p:cNvSpPr txBox="1"/>
          <p:nvPr/>
        </p:nvSpPr>
        <p:spPr>
          <a:xfrm>
            <a:off x="1691640" y="1188720"/>
            <a:ext cx="10058400" cy="215444"/>
          </a:xfrm>
          <a:prstGeom prst="rect">
            <a:avLst/>
          </a:prstGeom>
          <a:noFill/>
        </p:spPr>
        <p:txBody>
          <a:bodyPr wrap="square" lIns="0" tIns="0" rIns="0" bIns="0" anchor="t">
            <a:spAutoFit/>
          </a:bodyPr>
          <a:lstStyle/>
          <a:p>
            <a:pPr algn="l"/>
            <a:r>
              <a:rPr lang="fr-FR" sz="1400" b="1" i="0">
                <a:solidFill>
                  <a:srgbClr val="328088"/>
                </a:solidFill>
                <a:latin typeface="Calibri"/>
              </a:rPr>
              <a:t>Objectif structurel</a:t>
            </a:r>
          </a:p>
        </p:txBody>
      </p:sp>
      <p:sp>
        <p:nvSpPr>
          <p:cNvPr id="14" name="TextBox 13"/>
          <p:cNvSpPr txBox="1"/>
          <p:nvPr/>
        </p:nvSpPr>
        <p:spPr>
          <a:xfrm>
            <a:off x="1691640" y="1554480"/>
            <a:ext cx="10058400" cy="184666"/>
          </a:xfrm>
          <a:prstGeom prst="rect">
            <a:avLst/>
          </a:prstGeom>
          <a:noFill/>
        </p:spPr>
        <p:txBody>
          <a:bodyPr wrap="square" lIns="0" tIns="0" rIns="0" bIns="0" anchor="t">
            <a:spAutoFit/>
          </a:bodyPr>
          <a:lstStyle/>
          <a:p>
            <a:pPr algn="l"/>
            <a:r>
              <a:rPr lang="fr-FR" sz="1200" b="0" i="0">
                <a:solidFill>
                  <a:srgbClr val="1A1A1A"/>
                </a:solidFill>
                <a:latin typeface="Calibri"/>
              </a:rPr>
              <a:t>Adapter les modèles économiques locaux à l'instabilité croissante, et renforcer la résilience des réseaux vitaux à l'échelle du territoire.</a:t>
            </a:r>
          </a:p>
        </p:txBody>
      </p:sp>
      <p:sp>
        <p:nvSpPr>
          <p:cNvPr id="15" name="TextBox 14"/>
          <p:cNvSpPr txBox="1"/>
          <p:nvPr/>
        </p:nvSpPr>
        <p:spPr>
          <a:xfrm>
            <a:off x="365760" y="2514600"/>
            <a:ext cx="5486400" cy="215444"/>
          </a:xfrm>
          <a:prstGeom prst="rect">
            <a:avLst/>
          </a:prstGeom>
          <a:noFill/>
        </p:spPr>
        <p:txBody>
          <a:bodyPr wrap="square" lIns="0" tIns="0" rIns="0" bIns="0" anchor="t">
            <a:spAutoFit/>
          </a:bodyPr>
          <a:lstStyle/>
          <a:p>
            <a:pPr algn="l"/>
            <a:r>
              <a:rPr lang="fr-FR" sz="1400" b="1" i="0">
                <a:solidFill>
                  <a:srgbClr val="328088"/>
                </a:solidFill>
                <a:latin typeface="Calibri"/>
              </a:rPr>
              <a:t>Quelques lignes directrices</a:t>
            </a:r>
          </a:p>
        </p:txBody>
      </p:sp>
      <p:sp>
        <p:nvSpPr>
          <p:cNvPr id="16" name="TextBox 15"/>
          <p:cNvSpPr txBox="1"/>
          <p:nvPr/>
        </p:nvSpPr>
        <p:spPr>
          <a:xfrm>
            <a:off x="365760" y="2926080"/>
            <a:ext cx="5486400" cy="1605568"/>
          </a:xfrm>
          <a:prstGeom prst="rect">
            <a:avLst/>
          </a:prstGeom>
          <a:noFill/>
        </p:spPr>
        <p:txBody>
          <a:bodyPr wrap="square" lIns="0" tIns="0" rIns="0" bIns="0" anchor="t">
            <a:spAutoFit/>
          </a:bodyPr>
          <a:lstStyle/>
          <a:p>
            <a:pPr algn="l">
              <a:spcAft>
                <a:spcPts val="500"/>
              </a:spcAft>
            </a:pPr>
            <a:r>
              <a:rPr lang="fr-FR" sz="1600" b="0">
                <a:solidFill>
                  <a:srgbClr val="1A1A1A"/>
                </a:solidFill>
                <a:latin typeface="Calibri"/>
              </a:rPr>
              <a:t>• </a:t>
            </a:r>
            <a:r>
              <a:rPr lang="fr-FR" sz="1600" b="0" i="0">
                <a:solidFill>
                  <a:srgbClr val="1A1A1A"/>
                </a:solidFill>
                <a:latin typeface="Calibri"/>
              </a:rPr>
              <a:t>L4.1 — Co-élaborer un projet de territoire autour des fonctionnalités souhaitées pour l'avenir</a:t>
            </a:r>
          </a:p>
          <a:p>
            <a:pPr algn="l">
              <a:spcAft>
                <a:spcPts val="500"/>
              </a:spcAft>
            </a:pPr>
            <a:r>
              <a:rPr lang="fr-FR" sz="1600" b="0">
                <a:solidFill>
                  <a:srgbClr val="1A1A1A"/>
                </a:solidFill>
                <a:latin typeface="Calibri"/>
              </a:rPr>
              <a:t>• </a:t>
            </a:r>
            <a:r>
              <a:rPr lang="fr-FR" sz="1600" b="0" i="0">
                <a:solidFill>
                  <a:srgbClr val="1A1A1A"/>
                </a:solidFill>
                <a:latin typeface="Calibri"/>
              </a:rPr>
              <a:t>L4.2 — Inscrire les acteurs économiques dans les diagnostics et stratégies de gestion des risques</a:t>
            </a:r>
          </a:p>
          <a:p>
            <a:pPr algn="l">
              <a:spcAft>
                <a:spcPts val="500"/>
              </a:spcAft>
            </a:pPr>
            <a:r>
              <a:rPr lang="fr-FR" sz="1600" b="0">
                <a:solidFill>
                  <a:srgbClr val="1A1A1A"/>
                </a:solidFill>
                <a:latin typeface="Calibri"/>
              </a:rPr>
              <a:t>• </a:t>
            </a:r>
            <a:r>
              <a:rPr lang="fr-FR" sz="1600" b="0" i="0">
                <a:solidFill>
                  <a:srgbClr val="1A1A1A"/>
                </a:solidFill>
                <a:latin typeface="Calibri"/>
              </a:rPr>
              <a:t>L4.3 — Mettre en place de la redondance, flexibilité, anticipation dans les réseaux critiques (eau, énergie, mobilité, télécom)</a:t>
            </a:r>
          </a:p>
        </p:txBody>
      </p:sp>
      <p:sp>
        <p:nvSpPr>
          <p:cNvPr id="17" name="Rectangle 16"/>
          <p:cNvSpPr/>
          <p:nvPr/>
        </p:nvSpPr>
        <p:spPr>
          <a:xfrm>
            <a:off x="6126480" y="2514600"/>
            <a:ext cx="5669280" cy="370332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8" name="TextBox 17"/>
          <p:cNvSpPr txBox="1"/>
          <p:nvPr/>
        </p:nvSpPr>
        <p:spPr>
          <a:xfrm>
            <a:off x="6309360" y="2606040"/>
            <a:ext cx="5394960" cy="184666"/>
          </a:xfrm>
          <a:prstGeom prst="rect">
            <a:avLst/>
          </a:prstGeom>
          <a:noFill/>
        </p:spPr>
        <p:txBody>
          <a:bodyPr wrap="square" lIns="0" tIns="0" rIns="0" bIns="0" anchor="t">
            <a:spAutoFit/>
          </a:bodyPr>
          <a:lstStyle/>
          <a:p>
            <a:pPr algn="l"/>
            <a:r>
              <a:rPr lang="fr-FR" sz="1200" b="1" i="0">
                <a:solidFill>
                  <a:srgbClr val="E86E55"/>
                </a:solidFill>
                <a:latin typeface="Calibri"/>
              </a:rPr>
              <a:t>TRANSPOSITION  ·  ce que cela donne sur le littoral</a:t>
            </a:r>
          </a:p>
        </p:txBody>
      </p:sp>
      <p:sp>
        <p:nvSpPr>
          <p:cNvPr id="19" name="TextBox 18"/>
          <p:cNvSpPr txBox="1"/>
          <p:nvPr/>
        </p:nvSpPr>
        <p:spPr>
          <a:xfrm>
            <a:off x="6309360" y="3017520"/>
            <a:ext cx="5394960" cy="2585323"/>
          </a:xfrm>
          <a:prstGeom prst="rect">
            <a:avLst/>
          </a:prstGeom>
          <a:noFill/>
        </p:spPr>
        <p:txBody>
          <a:bodyPr wrap="square" lIns="0" tIns="0" rIns="0" bIns="0" anchor="t">
            <a:spAutoFit/>
          </a:bodyPr>
          <a:lstStyle/>
          <a:p>
            <a:pPr algn="l"/>
            <a:r>
              <a:rPr lang="fr-FR" sz="1200" b="0" i="0">
                <a:solidFill>
                  <a:srgbClr val="1A1A1A"/>
                </a:solidFill>
                <a:latin typeface="Calibri"/>
              </a:rPr>
              <a:t>Sur le littoral comme dans les Alpes, certains territoires sont en mono-activité (tourisme balnéaire) avec une saisonnalité étroite. La crise estivale isolée d'un territoire péninsulaire produit le même effet de cascade qu'une crise hivernale dans une station.
L'exemple de Tignes (concertation 2023 sur l'avenir post-glacier) inspire des démarches comme « Mon littoral demain » — quelle station balnéaire, quelle conchyliculture, quelle pêche en 2050 ?
Comme pour les routes alpines (Conseil départemental de Savoie : 27 M€ sur 50 M€ du budget annuel route en 2024 pour réparer), des choix difficiles arriveront sur l'entretien des ouvrages côtiers et des routes en zone érosive.
Plans de continuité d'activité (PCA) à généraliser : ports, conchyliculteurs, hôteliers.</a:t>
            </a:r>
          </a:p>
        </p:txBody>
      </p:sp>
      <p:sp>
        <p:nvSpPr>
          <p:cNvPr id="3" name="Espace réservé du numéro de diapositive 2">
            <a:extLst>
              <a:ext uri="{FF2B5EF4-FFF2-40B4-BE49-F238E27FC236}">
                <a16:creationId xmlns:a16="http://schemas.microsoft.com/office/drawing/2014/main" id="{4804E491-F3E8-4E6F-BF6A-232ABCA6C103}"/>
              </a:ext>
            </a:extLst>
          </p:cNvPr>
          <p:cNvSpPr>
            <a:spLocks noGrp="1"/>
          </p:cNvSpPr>
          <p:nvPr>
            <p:ph type="sldNum" sz="quarter" idx="4"/>
          </p:nvPr>
        </p:nvSpPr>
        <p:spPr/>
        <p:txBody>
          <a:bodyPr/>
          <a:lstStyle/>
          <a:p>
            <a:fld id="{9981E6DC-ACA4-4CC4-B142-EC9DBA1C6CBA}" type="slidenum">
              <a:rPr lang="en-US" smtClean="0"/>
              <a:pPr/>
              <a:t>51</a:t>
            </a:fld>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Axe 5  ·  Armer la gouvernance territoriale de la résilience</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65760" y="1188720"/>
            <a:ext cx="1188720" cy="118872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2" name="TextBox 11"/>
          <p:cNvSpPr txBox="1"/>
          <p:nvPr/>
        </p:nvSpPr>
        <p:spPr>
          <a:xfrm>
            <a:off x="365760" y="1444526"/>
            <a:ext cx="1188720" cy="677108"/>
          </a:xfrm>
          <a:prstGeom prst="rect">
            <a:avLst/>
          </a:prstGeom>
          <a:noFill/>
        </p:spPr>
        <p:txBody>
          <a:bodyPr wrap="square" lIns="0" tIns="0" rIns="0" bIns="0" anchor="ctr">
            <a:spAutoFit/>
          </a:bodyPr>
          <a:lstStyle/>
          <a:p>
            <a:pPr algn="ctr"/>
            <a:r>
              <a:rPr lang="fr-FR" sz="4400" b="1" i="0">
                <a:solidFill>
                  <a:srgbClr val="FFFFFF"/>
                </a:solidFill>
                <a:latin typeface="Calibri"/>
              </a:rPr>
              <a:t>5</a:t>
            </a:r>
          </a:p>
        </p:txBody>
      </p:sp>
      <p:sp>
        <p:nvSpPr>
          <p:cNvPr id="13" name="TextBox 12"/>
          <p:cNvSpPr txBox="1"/>
          <p:nvPr/>
        </p:nvSpPr>
        <p:spPr>
          <a:xfrm>
            <a:off x="1691640" y="1188720"/>
            <a:ext cx="10058400" cy="215444"/>
          </a:xfrm>
          <a:prstGeom prst="rect">
            <a:avLst/>
          </a:prstGeom>
          <a:noFill/>
        </p:spPr>
        <p:txBody>
          <a:bodyPr wrap="square" lIns="0" tIns="0" rIns="0" bIns="0" anchor="t">
            <a:spAutoFit/>
          </a:bodyPr>
          <a:lstStyle/>
          <a:p>
            <a:pPr algn="l"/>
            <a:r>
              <a:rPr lang="fr-FR" sz="1400" b="1" i="0">
                <a:solidFill>
                  <a:srgbClr val="328088"/>
                </a:solidFill>
                <a:latin typeface="Calibri"/>
              </a:rPr>
              <a:t>Objectif structurel</a:t>
            </a:r>
          </a:p>
        </p:txBody>
      </p:sp>
      <p:sp>
        <p:nvSpPr>
          <p:cNvPr id="14" name="TextBox 13"/>
          <p:cNvSpPr txBox="1"/>
          <p:nvPr/>
        </p:nvSpPr>
        <p:spPr>
          <a:xfrm>
            <a:off x="1691640" y="1554480"/>
            <a:ext cx="10058400" cy="184666"/>
          </a:xfrm>
          <a:prstGeom prst="rect">
            <a:avLst/>
          </a:prstGeom>
          <a:noFill/>
        </p:spPr>
        <p:txBody>
          <a:bodyPr wrap="square" lIns="0" tIns="0" rIns="0" bIns="0" anchor="t">
            <a:spAutoFit/>
          </a:bodyPr>
          <a:lstStyle/>
          <a:p>
            <a:pPr algn="l"/>
            <a:r>
              <a:rPr lang="fr-FR" sz="1200" b="0" i="0">
                <a:solidFill>
                  <a:srgbClr val="1A1A1A"/>
                </a:solidFill>
                <a:latin typeface="Calibri"/>
              </a:rPr>
              <a:t>Favoriser une gouvernance transversale, inclusive et dynamique, fondée sur la coopération entre institutions, acteurs économiques, société civile et citoyens.</a:t>
            </a:r>
          </a:p>
        </p:txBody>
      </p:sp>
      <p:sp>
        <p:nvSpPr>
          <p:cNvPr id="15" name="TextBox 14"/>
          <p:cNvSpPr txBox="1"/>
          <p:nvPr/>
        </p:nvSpPr>
        <p:spPr>
          <a:xfrm>
            <a:off x="365760" y="2514600"/>
            <a:ext cx="5486400" cy="215444"/>
          </a:xfrm>
          <a:prstGeom prst="rect">
            <a:avLst/>
          </a:prstGeom>
          <a:noFill/>
        </p:spPr>
        <p:txBody>
          <a:bodyPr wrap="square" lIns="0" tIns="0" rIns="0" bIns="0" anchor="t">
            <a:spAutoFit/>
          </a:bodyPr>
          <a:lstStyle/>
          <a:p>
            <a:pPr algn="l"/>
            <a:r>
              <a:rPr lang="fr-FR" sz="1400" b="1" i="0">
                <a:solidFill>
                  <a:srgbClr val="328088"/>
                </a:solidFill>
                <a:latin typeface="Calibri"/>
              </a:rPr>
              <a:t>Lignes directrices clés</a:t>
            </a:r>
          </a:p>
        </p:txBody>
      </p:sp>
      <p:sp>
        <p:nvSpPr>
          <p:cNvPr id="16" name="TextBox 15"/>
          <p:cNvSpPr txBox="1"/>
          <p:nvPr/>
        </p:nvSpPr>
        <p:spPr>
          <a:xfrm>
            <a:off x="365760" y="2926080"/>
            <a:ext cx="5486400" cy="2718693"/>
          </a:xfrm>
          <a:prstGeom prst="rect">
            <a:avLst/>
          </a:prstGeom>
          <a:noFill/>
        </p:spPr>
        <p:txBody>
          <a:bodyPr wrap="square" lIns="0" tIns="0" rIns="0" bIns="0" anchor="t">
            <a:spAutoFit/>
          </a:bodyPr>
          <a:lstStyle/>
          <a:p>
            <a:pPr algn="l">
              <a:spcAft>
                <a:spcPts val="500"/>
              </a:spcAft>
            </a:pPr>
            <a:r>
              <a:rPr lang="fr-FR" sz="1600" b="0">
                <a:solidFill>
                  <a:srgbClr val="1A1A1A"/>
                </a:solidFill>
                <a:latin typeface="Calibri"/>
              </a:rPr>
              <a:t>• </a:t>
            </a:r>
            <a:r>
              <a:rPr lang="fr-FR" sz="1600" b="0" i="0">
                <a:solidFill>
                  <a:srgbClr val="1A1A1A"/>
                </a:solidFill>
                <a:latin typeface="Calibri"/>
              </a:rPr>
              <a:t>L5.1 — Entourer les collectivités de compétences techniques fiables et réactives (mise en réseau)</a:t>
            </a:r>
          </a:p>
          <a:p>
            <a:pPr algn="l">
              <a:spcAft>
                <a:spcPts val="500"/>
              </a:spcAft>
            </a:pPr>
            <a:r>
              <a:rPr lang="fr-FR" sz="1600" b="0">
                <a:solidFill>
                  <a:srgbClr val="1A1A1A"/>
                </a:solidFill>
                <a:latin typeface="Calibri"/>
              </a:rPr>
              <a:t>• </a:t>
            </a:r>
            <a:r>
              <a:rPr lang="fr-FR" sz="1600" b="0" i="0">
                <a:solidFill>
                  <a:srgbClr val="1A1A1A"/>
                </a:solidFill>
                <a:latin typeface="Calibri"/>
              </a:rPr>
              <a:t>L5.2 — Faire vivre des instances multi-acteurs (CDRNM élargie, MIRNAT, conseils citoyens)</a:t>
            </a:r>
          </a:p>
          <a:p>
            <a:pPr algn="l">
              <a:spcAft>
                <a:spcPts val="500"/>
              </a:spcAft>
            </a:pPr>
            <a:r>
              <a:rPr lang="fr-FR" sz="1600" b="0">
                <a:solidFill>
                  <a:srgbClr val="1A1A1A"/>
                </a:solidFill>
                <a:latin typeface="Calibri"/>
              </a:rPr>
              <a:t>• </a:t>
            </a:r>
            <a:r>
              <a:rPr lang="fr-FR" sz="1600" b="0" i="0">
                <a:solidFill>
                  <a:srgbClr val="1A1A1A"/>
                </a:solidFill>
                <a:latin typeface="Calibri"/>
              </a:rPr>
              <a:t>L5.3 — Élaborer des feuilles de route départementales « résilience » (cf. Alpes-de-Haute-Provence)</a:t>
            </a:r>
          </a:p>
          <a:p>
            <a:pPr algn="l">
              <a:spcAft>
                <a:spcPts val="500"/>
              </a:spcAft>
            </a:pPr>
            <a:r>
              <a:rPr lang="fr-FR" sz="1600" b="0">
                <a:solidFill>
                  <a:srgbClr val="1A1A1A"/>
                </a:solidFill>
                <a:latin typeface="Calibri"/>
              </a:rPr>
              <a:t>• </a:t>
            </a:r>
            <a:r>
              <a:rPr lang="fr-FR" sz="1600" b="0" i="0">
                <a:solidFill>
                  <a:srgbClr val="1A1A1A"/>
                </a:solidFill>
                <a:latin typeface="Calibri"/>
              </a:rPr>
              <a:t>L5.4 — Articuler clairement État (préfet, DDTM, DREAL) et collectivités (commune, EPCI, département)</a:t>
            </a:r>
          </a:p>
          <a:p>
            <a:pPr algn="l">
              <a:spcAft>
                <a:spcPts val="500"/>
              </a:spcAft>
            </a:pPr>
            <a:r>
              <a:rPr lang="fr-FR" sz="1600" b="0">
                <a:solidFill>
                  <a:srgbClr val="1A1A1A"/>
                </a:solidFill>
                <a:latin typeface="Calibri"/>
              </a:rPr>
              <a:t>• </a:t>
            </a:r>
            <a:r>
              <a:rPr lang="fr-FR" sz="1600" b="0" i="0">
                <a:solidFill>
                  <a:srgbClr val="1A1A1A"/>
                </a:solidFill>
                <a:latin typeface="Calibri"/>
              </a:rPr>
              <a:t>L5.5 — Renforcer l'animation territoriale dans la durée — pas seulement après une crise</a:t>
            </a:r>
          </a:p>
        </p:txBody>
      </p:sp>
      <p:sp>
        <p:nvSpPr>
          <p:cNvPr id="17" name="Rectangle 16"/>
          <p:cNvSpPr/>
          <p:nvPr/>
        </p:nvSpPr>
        <p:spPr>
          <a:xfrm>
            <a:off x="6126480" y="2514600"/>
            <a:ext cx="5669280" cy="370332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8" name="TextBox 17"/>
          <p:cNvSpPr txBox="1"/>
          <p:nvPr/>
        </p:nvSpPr>
        <p:spPr>
          <a:xfrm>
            <a:off x="6309360" y="2606040"/>
            <a:ext cx="5394960" cy="184666"/>
          </a:xfrm>
          <a:prstGeom prst="rect">
            <a:avLst/>
          </a:prstGeom>
          <a:noFill/>
        </p:spPr>
        <p:txBody>
          <a:bodyPr wrap="square" lIns="0" tIns="0" rIns="0" bIns="0" anchor="t">
            <a:spAutoFit/>
          </a:bodyPr>
          <a:lstStyle/>
          <a:p>
            <a:pPr algn="l"/>
            <a:r>
              <a:rPr lang="fr-FR" sz="1200" b="1" i="0">
                <a:solidFill>
                  <a:srgbClr val="E86E55"/>
                </a:solidFill>
                <a:latin typeface="Calibri"/>
              </a:rPr>
              <a:t>TRANSPOSITION  ·  ce que cela donne sur le littoral</a:t>
            </a:r>
          </a:p>
        </p:txBody>
      </p:sp>
      <p:sp>
        <p:nvSpPr>
          <p:cNvPr id="19" name="TextBox 18"/>
          <p:cNvSpPr txBox="1"/>
          <p:nvPr/>
        </p:nvSpPr>
        <p:spPr>
          <a:xfrm>
            <a:off x="6309360" y="3017520"/>
            <a:ext cx="5394960" cy="2031325"/>
          </a:xfrm>
          <a:prstGeom prst="rect">
            <a:avLst/>
          </a:prstGeom>
          <a:noFill/>
        </p:spPr>
        <p:txBody>
          <a:bodyPr wrap="square" lIns="0" tIns="0" rIns="0" bIns="0" anchor="t">
            <a:spAutoFit/>
          </a:bodyPr>
          <a:lstStyle/>
          <a:p>
            <a:pPr algn="l"/>
            <a:r>
              <a:rPr lang="fr-FR" sz="1200" b="0" i="0">
                <a:solidFill>
                  <a:srgbClr val="1A1A1A"/>
                </a:solidFill>
                <a:latin typeface="Calibri"/>
              </a:rPr>
              <a:t>La feuille de route départementale « résilience » des Alpes-de-Haute-Provence est directement transposable à un département littoral. Elle associe État + collectivités, relance la dynamique PCS, prépare des projets de territoires intégrés.
La MIRNAT (Mission interservices Risques naturels) de Haute-Savoie, qui réunit SIDPC + DDT + ONF-RTM tous les 2 mois, peut se décliner en MIRLIT — Mission interservices Risques littoraux réunissant SIDPC + DDTM + DREAL + Conservatoire du littoral.
Décret 2025-723 sur les préfets : il s'agit de mandater concrètement les préfets pour piloter ces stratégies de résilience départementales (recommandation 6 du rapport Alpes).</a:t>
            </a:r>
          </a:p>
        </p:txBody>
      </p:sp>
      <p:sp>
        <p:nvSpPr>
          <p:cNvPr id="3" name="Espace réservé du numéro de diapositive 2">
            <a:extLst>
              <a:ext uri="{FF2B5EF4-FFF2-40B4-BE49-F238E27FC236}">
                <a16:creationId xmlns:a16="http://schemas.microsoft.com/office/drawing/2014/main" id="{19E88138-F249-4C04-B693-EEE6877B2582}"/>
              </a:ext>
            </a:extLst>
          </p:cNvPr>
          <p:cNvSpPr>
            <a:spLocks noGrp="1"/>
          </p:cNvSpPr>
          <p:nvPr>
            <p:ph type="sldNum" sz="quarter" idx="4"/>
          </p:nvPr>
        </p:nvSpPr>
        <p:spPr/>
        <p:txBody>
          <a:bodyPr/>
          <a:lstStyle/>
          <a:p>
            <a:fld id="{9981E6DC-ACA4-4CC4-B142-EC9DBA1C6CBA}" type="slidenum">
              <a:rPr lang="en-US" smtClean="0"/>
              <a:pPr/>
              <a:t>52</a:t>
            </a:fld>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Axe 6  ·  Intégrer la crise, le post-crise et la culture du risque</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65760" y="1188720"/>
            <a:ext cx="1188720" cy="118872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2" name="TextBox 11"/>
          <p:cNvSpPr txBox="1"/>
          <p:nvPr/>
        </p:nvSpPr>
        <p:spPr>
          <a:xfrm>
            <a:off x="365760" y="1444526"/>
            <a:ext cx="1188720" cy="677108"/>
          </a:xfrm>
          <a:prstGeom prst="rect">
            <a:avLst/>
          </a:prstGeom>
          <a:noFill/>
        </p:spPr>
        <p:txBody>
          <a:bodyPr wrap="square" lIns="0" tIns="0" rIns="0" bIns="0" anchor="ctr">
            <a:spAutoFit/>
          </a:bodyPr>
          <a:lstStyle/>
          <a:p>
            <a:pPr algn="ctr"/>
            <a:r>
              <a:rPr lang="fr-FR" sz="4400" b="1" i="0">
                <a:solidFill>
                  <a:srgbClr val="FFFFFF"/>
                </a:solidFill>
                <a:latin typeface="Calibri"/>
              </a:rPr>
              <a:t>6</a:t>
            </a:r>
          </a:p>
        </p:txBody>
      </p:sp>
      <p:sp>
        <p:nvSpPr>
          <p:cNvPr id="13" name="TextBox 12"/>
          <p:cNvSpPr txBox="1"/>
          <p:nvPr/>
        </p:nvSpPr>
        <p:spPr>
          <a:xfrm>
            <a:off x="1691640" y="1188720"/>
            <a:ext cx="10058400" cy="215444"/>
          </a:xfrm>
          <a:prstGeom prst="rect">
            <a:avLst/>
          </a:prstGeom>
          <a:noFill/>
        </p:spPr>
        <p:txBody>
          <a:bodyPr wrap="square" lIns="0" tIns="0" rIns="0" bIns="0" anchor="t">
            <a:spAutoFit/>
          </a:bodyPr>
          <a:lstStyle/>
          <a:p>
            <a:pPr algn="l"/>
            <a:r>
              <a:rPr lang="fr-FR" sz="1400" b="1" i="0">
                <a:solidFill>
                  <a:srgbClr val="328088"/>
                </a:solidFill>
                <a:latin typeface="Calibri"/>
              </a:rPr>
              <a:t>Objectif structurel</a:t>
            </a:r>
          </a:p>
        </p:txBody>
      </p:sp>
      <p:sp>
        <p:nvSpPr>
          <p:cNvPr id="14" name="TextBox 13"/>
          <p:cNvSpPr txBox="1"/>
          <p:nvPr/>
        </p:nvSpPr>
        <p:spPr>
          <a:xfrm>
            <a:off x="1691640" y="1554480"/>
            <a:ext cx="10058400" cy="184666"/>
          </a:xfrm>
          <a:prstGeom prst="rect">
            <a:avLst/>
          </a:prstGeom>
          <a:noFill/>
        </p:spPr>
        <p:txBody>
          <a:bodyPr wrap="square" lIns="0" tIns="0" rIns="0" bIns="0" anchor="t">
            <a:spAutoFit/>
          </a:bodyPr>
          <a:lstStyle/>
          <a:p>
            <a:pPr algn="l"/>
            <a:r>
              <a:rPr lang="fr-FR" sz="1200" b="0" i="0">
                <a:solidFill>
                  <a:srgbClr val="1A1A1A"/>
                </a:solidFill>
                <a:latin typeface="Calibri"/>
              </a:rPr>
              <a:t>Faire de la gestion des crises une composante intégrée de la transformation territoriale, et non une parenthèse exceptionnelle ou exclusivement sécuritaire.</a:t>
            </a:r>
          </a:p>
        </p:txBody>
      </p:sp>
      <p:sp>
        <p:nvSpPr>
          <p:cNvPr id="15" name="TextBox 14"/>
          <p:cNvSpPr txBox="1"/>
          <p:nvPr/>
        </p:nvSpPr>
        <p:spPr>
          <a:xfrm>
            <a:off x="365760" y="2514600"/>
            <a:ext cx="5486400" cy="215444"/>
          </a:xfrm>
          <a:prstGeom prst="rect">
            <a:avLst/>
          </a:prstGeom>
          <a:noFill/>
        </p:spPr>
        <p:txBody>
          <a:bodyPr wrap="square" lIns="0" tIns="0" rIns="0" bIns="0" anchor="t">
            <a:spAutoFit/>
          </a:bodyPr>
          <a:lstStyle/>
          <a:p>
            <a:pPr algn="l"/>
            <a:r>
              <a:rPr lang="fr-FR" sz="1400" b="1" i="0">
                <a:solidFill>
                  <a:srgbClr val="328088"/>
                </a:solidFill>
                <a:latin typeface="Calibri"/>
              </a:rPr>
              <a:t>Quelques lignes directrices</a:t>
            </a:r>
          </a:p>
        </p:txBody>
      </p:sp>
      <p:sp>
        <p:nvSpPr>
          <p:cNvPr id="16" name="TextBox 15"/>
          <p:cNvSpPr txBox="1"/>
          <p:nvPr/>
        </p:nvSpPr>
        <p:spPr>
          <a:xfrm>
            <a:off x="365760" y="2926080"/>
            <a:ext cx="5486400" cy="3275256"/>
          </a:xfrm>
          <a:prstGeom prst="rect">
            <a:avLst/>
          </a:prstGeom>
          <a:noFill/>
        </p:spPr>
        <p:txBody>
          <a:bodyPr wrap="square" lIns="0" tIns="0" rIns="0" bIns="0" anchor="t">
            <a:spAutoFit/>
          </a:bodyPr>
          <a:lstStyle/>
          <a:p>
            <a:pPr algn="l">
              <a:spcAft>
                <a:spcPts val="500"/>
              </a:spcAft>
            </a:pPr>
            <a:r>
              <a:rPr lang="fr-FR" sz="1600" b="0">
                <a:solidFill>
                  <a:srgbClr val="1A1A1A"/>
                </a:solidFill>
                <a:latin typeface="Calibri"/>
              </a:rPr>
              <a:t>• </a:t>
            </a:r>
            <a:r>
              <a:rPr lang="fr-FR" sz="1600" b="0" i="0">
                <a:solidFill>
                  <a:srgbClr val="1A1A1A"/>
                </a:solidFill>
                <a:latin typeface="Calibri"/>
              </a:rPr>
              <a:t>L6.1 — Renforcer la culture du risque (école, mémoire des événements, journée du 13 octobre)</a:t>
            </a:r>
          </a:p>
          <a:p>
            <a:pPr algn="l">
              <a:spcAft>
                <a:spcPts val="500"/>
              </a:spcAft>
            </a:pPr>
            <a:r>
              <a:rPr lang="fr-FR" sz="1600" b="0">
                <a:solidFill>
                  <a:srgbClr val="1A1A1A"/>
                </a:solidFill>
                <a:latin typeface="Calibri"/>
              </a:rPr>
              <a:t>• </a:t>
            </a:r>
            <a:r>
              <a:rPr lang="fr-FR" sz="1600" b="0" i="0">
                <a:solidFill>
                  <a:srgbClr val="1A1A1A"/>
                </a:solidFill>
                <a:latin typeface="Calibri"/>
              </a:rPr>
              <a:t>L6.2 — Impliquer la population et les acteurs locaux (Réserves communales de Sécurité civile)</a:t>
            </a:r>
          </a:p>
          <a:p>
            <a:pPr algn="l">
              <a:spcAft>
                <a:spcPts val="500"/>
              </a:spcAft>
            </a:pPr>
            <a:r>
              <a:rPr lang="fr-FR" sz="1600" b="0">
                <a:solidFill>
                  <a:srgbClr val="1A1A1A"/>
                </a:solidFill>
                <a:latin typeface="Calibri"/>
              </a:rPr>
              <a:t>• </a:t>
            </a:r>
            <a:r>
              <a:rPr lang="fr-FR" sz="1600" b="0" i="0">
                <a:solidFill>
                  <a:srgbClr val="1A1A1A"/>
                </a:solidFill>
                <a:latin typeface="Calibri"/>
              </a:rPr>
              <a:t>L6.3 — Renforcer le rôle opérationnel des PCS (et PICS) — exercices réguliers, mise à jour systématique</a:t>
            </a:r>
          </a:p>
          <a:p>
            <a:pPr algn="l">
              <a:spcAft>
                <a:spcPts val="500"/>
              </a:spcAft>
            </a:pPr>
            <a:r>
              <a:rPr lang="fr-FR" sz="1600" b="0">
                <a:solidFill>
                  <a:srgbClr val="1A1A1A"/>
                </a:solidFill>
                <a:latin typeface="Calibri"/>
              </a:rPr>
              <a:t>• </a:t>
            </a:r>
            <a:r>
              <a:rPr lang="fr-FR" sz="1600" b="0" i="0">
                <a:solidFill>
                  <a:srgbClr val="1A1A1A"/>
                </a:solidFill>
                <a:latin typeface="Calibri"/>
              </a:rPr>
              <a:t>L6.4 — Élaborer des plans de mobilité de crise — voies de secours, itinéraires alternatifs</a:t>
            </a:r>
          </a:p>
          <a:p>
            <a:pPr algn="l">
              <a:spcAft>
                <a:spcPts val="500"/>
              </a:spcAft>
            </a:pPr>
            <a:r>
              <a:rPr lang="fr-FR" sz="1600" b="0">
                <a:solidFill>
                  <a:srgbClr val="1A1A1A"/>
                </a:solidFill>
                <a:latin typeface="Calibri"/>
              </a:rPr>
              <a:t>• </a:t>
            </a:r>
            <a:r>
              <a:rPr lang="fr-FR" sz="1600" b="0" i="0">
                <a:solidFill>
                  <a:srgbClr val="1A1A1A"/>
                </a:solidFill>
                <a:latin typeface="Calibri"/>
              </a:rPr>
              <a:t>L6.5 — Structurer la gouvernance multi-niveaux (commune, EPCI, département, zone)</a:t>
            </a:r>
          </a:p>
          <a:p>
            <a:pPr algn="l">
              <a:spcAft>
                <a:spcPts val="500"/>
              </a:spcAft>
            </a:pPr>
            <a:r>
              <a:rPr lang="fr-FR" sz="1600" b="0">
                <a:solidFill>
                  <a:srgbClr val="1A1A1A"/>
                </a:solidFill>
                <a:latin typeface="Calibri"/>
              </a:rPr>
              <a:t>• </a:t>
            </a:r>
            <a:r>
              <a:rPr lang="fr-FR" sz="1600" b="0" i="0">
                <a:solidFill>
                  <a:srgbClr val="1A1A1A"/>
                </a:solidFill>
                <a:latin typeface="Calibri"/>
              </a:rPr>
              <a:t>L6.6 — Capitaliser sur les REX — pas seulement après les grandes crises</a:t>
            </a:r>
          </a:p>
        </p:txBody>
      </p:sp>
      <p:sp>
        <p:nvSpPr>
          <p:cNvPr id="17" name="Rectangle 16"/>
          <p:cNvSpPr/>
          <p:nvPr/>
        </p:nvSpPr>
        <p:spPr>
          <a:xfrm>
            <a:off x="6126480" y="2514600"/>
            <a:ext cx="5669280" cy="370332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8" name="TextBox 17"/>
          <p:cNvSpPr txBox="1"/>
          <p:nvPr/>
        </p:nvSpPr>
        <p:spPr>
          <a:xfrm>
            <a:off x="6309360" y="2606040"/>
            <a:ext cx="5394960" cy="184666"/>
          </a:xfrm>
          <a:prstGeom prst="rect">
            <a:avLst/>
          </a:prstGeom>
          <a:noFill/>
        </p:spPr>
        <p:txBody>
          <a:bodyPr wrap="square" lIns="0" tIns="0" rIns="0" bIns="0" anchor="t">
            <a:spAutoFit/>
          </a:bodyPr>
          <a:lstStyle/>
          <a:p>
            <a:pPr algn="l"/>
            <a:r>
              <a:rPr lang="fr-FR" sz="1200" b="1" i="0">
                <a:solidFill>
                  <a:srgbClr val="E86E55"/>
                </a:solidFill>
                <a:latin typeface="Calibri"/>
              </a:rPr>
              <a:t>TRANSPOSITION  ·  ce que cela donne sur le littoral</a:t>
            </a:r>
          </a:p>
        </p:txBody>
      </p:sp>
      <p:sp>
        <p:nvSpPr>
          <p:cNvPr id="19" name="TextBox 18"/>
          <p:cNvSpPr txBox="1"/>
          <p:nvPr/>
        </p:nvSpPr>
        <p:spPr>
          <a:xfrm>
            <a:off x="6309360" y="3017520"/>
            <a:ext cx="5394960" cy="2585323"/>
          </a:xfrm>
          <a:prstGeom prst="rect">
            <a:avLst/>
          </a:prstGeom>
          <a:noFill/>
        </p:spPr>
        <p:txBody>
          <a:bodyPr wrap="square" lIns="0" tIns="0" rIns="0" bIns="0" anchor="t">
            <a:spAutoFit/>
          </a:bodyPr>
          <a:lstStyle/>
          <a:p>
            <a:pPr algn="l"/>
            <a:r>
              <a:rPr lang="fr-FR" sz="1200" b="0" i="0">
                <a:solidFill>
                  <a:srgbClr val="1A1A1A"/>
                </a:solidFill>
                <a:latin typeface="Calibri"/>
              </a:rPr>
              <a:t>Sur le littoral, le PCS est obligatoire mais souvent formel. L'enjeu est qu'il soit régulièrement exercé (« exercices flash » de 1-2 h) et associe la population — comme dans les Alpes-de-Haute-Provence (salle de réalité virtuelle SDIS, financements européens NEXMED).
Les Réserves communales de Sécurité civile sont sous-utilisées sur le littoral. Elles peuvent porter des actions de surveillance des dunes, de pose de batardeaux, de fermeture de plages avant tempête.
Le DICRIM en plusieurs langues (cf. Briançonnais en italien et anglais) est particulièrement pertinent pour les communes touristiques internationales du littoral.
Plan de mobilité de crise : ports, pontons, hélistations, accès secondaires — à anticiper AVANT l'événement.</a:t>
            </a:r>
          </a:p>
        </p:txBody>
      </p:sp>
      <p:sp>
        <p:nvSpPr>
          <p:cNvPr id="3" name="Espace réservé du numéro de diapositive 2">
            <a:extLst>
              <a:ext uri="{FF2B5EF4-FFF2-40B4-BE49-F238E27FC236}">
                <a16:creationId xmlns:a16="http://schemas.microsoft.com/office/drawing/2014/main" id="{21092435-0B99-47A3-887B-0B7D6F3CE36D}"/>
              </a:ext>
            </a:extLst>
          </p:cNvPr>
          <p:cNvSpPr>
            <a:spLocks noGrp="1"/>
          </p:cNvSpPr>
          <p:nvPr>
            <p:ph type="sldNum" sz="quarter" idx="4"/>
          </p:nvPr>
        </p:nvSpPr>
        <p:spPr/>
        <p:txBody>
          <a:bodyPr/>
          <a:lstStyle/>
          <a:p>
            <a:fld id="{9981E6DC-ACA4-4CC4-B142-EC9DBA1C6CBA}" type="slidenum">
              <a:rPr lang="en-US" smtClean="0"/>
              <a:pPr/>
              <a:t>53</a:t>
            </a:fld>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La Boussole de la résilience — CEREMA</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1188720"/>
            <a:ext cx="11247120" cy="200055"/>
          </a:xfrm>
          <a:prstGeom prst="rect">
            <a:avLst/>
          </a:prstGeom>
          <a:noFill/>
        </p:spPr>
        <p:txBody>
          <a:bodyPr wrap="square" lIns="0" tIns="0" rIns="0" bIns="0" anchor="t">
            <a:spAutoFit/>
          </a:bodyPr>
          <a:lstStyle/>
          <a:p>
            <a:pPr algn="l"/>
            <a:r>
              <a:rPr lang="fr-FR" sz="1300" b="0" i="1">
                <a:solidFill>
                  <a:srgbClr val="404040"/>
                </a:solidFill>
                <a:latin typeface="Calibri"/>
              </a:rPr>
              <a:t>Un outil opérationnel pour structurer une démarche territoriale  ·  6 dimensions  ·  18 leviers</a:t>
            </a:r>
          </a:p>
        </p:txBody>
      </p:sp>
      <p:sp>
        <p:nvSpPr>
          <p:cNvPr id="12" name="Rectangle 11"/>
          <p:cNvSpPr/>
          <p:nvPr/>
        </p:nvSpPr>
        <p:spPr>
          <a:xfrm>
            <a:off x="365760" y="1691640"/>
            <a:ext cx="3749039" cy="59436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3" name="TextBox 12"/>
          <p:cNvSpPr txBox="1"/>
          <p:nvPr/>
        </p:nvSpPr>
        <p:spPr>
          <a:xfrm>
            <a:off x="457200" y="1819543"/>
            <a:ext cx="640080" cy="338554"/>
          </a:xfrm>
          <a:prstGeom prst="rect">
            <a:avLst/>
          </a:prstGeom>
          <a:noFill/>
        </p:spPr>
        <p:txBody>
          <a:bodyPr wrap="square" lIns="0" tIns="0" rIns="0" bIns="0" anchor="ctr">
            <a:spAutoFit/>
          </a:bodyPr>
          <a:lstStyle/>
          <a:p>
            <a:pPr algn="ctr"/>
            <a:r>
              <a:rPr lang="fr-FR" sz="2200" b="1" i="0">
                <a:solidFill>
                  <a:srgbClr val="FFFFFF"/>
                </a:solidFill>
                <a:latin typeface="Calibri"/>
              </a:rPr>
              <a:t>1</a:t>
            </a:r>
          </a:p>
        </p:txBody>
      </p:sp>
      <p:sp>
        <p:nvSpPr>
          <p:cNvPr id="14" name="TextBox 13"/>
          <p:cNvSpPr txBox="1"/>
          <p:nvPr/>
        </p:nvSpPr>
        <p:spPr>
          <a:xfrm>
            <a:off x="1143000" y="1757987"/>
            <a:ext cx="2834639" cy="461665"/>
          </a:xfrm>
          <a:prstGeom prst="rect">
            <a:avLst/>
          </a:prstGeom>
          <a:noFill/>
        </p:spPr>
        <p:txBody>
          <a:bodyPr wrap="square" lIns="0" tIns="0" rIns="0" bIns="0" anchor="ctr">
            <a:spAutoFit/>
          </a:bodyPr>
          <a:lstStyle/>
          <a:p>
            <a:pPr algn="l"/>
            <a:r>
              <a:rPr lang="fr-FR" sz="1000" b="1" i="0">
                <a:solidFill>
                  <a:srgbClr val="FFFFFF"/>
                </a:solidFill>
                <a:latin typeface="Calibri"/>
              </a:rPr>
              <a:t>ANTICIPATION,
CONNAISSANCE,
VEILLE</a:t>
            </a:r>
          </a:p>
        </p:txBody>
      </p:sp>
      <p:sp>
        <p:nvSpPr>
          <p:cNvPr id="15" name="Rectangle 14"/>
          <p:cNvSpPr/>
          <p:nvPr/>
        </p:nvSpPr>
        <p:spPr>
          <a:xfrm>
            <a:off x="365760" y="2286000"/>
            <a:ext cx="3749039" cy="141732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6" name="TextBox 15"/>
          <p:cNvSpPr txBox="1"/>
          <p:nvPr/>
        </p:nvSpPr>
        <p:spPr>
          <a:xfrm>
            <a:off x="502920" y="2377440"/>
            <a:ext cx="3474720" cy="1077218"/>
          </a:xfrm>
          <a:prstGeom prst="rect">
            <a:avLst/>
          </a:prstGeom>
          <a:noFill/>
        </p:spPr>
        <p:txBody>
          <a:bodyPr wrap="square" lIns="0" tIns="0" rIns="0" bIns="0" anchor="t">
            <a:spAutoFit/>
          </a:bodyPr>
          <a:lstStyle/>
          <a:p>
            <a:pPr algn="l"/>
            <a:r>
              <a:rPr lang="fr-FR" sz="1400" b="0" i="0">
                <a:solidFill>
                  <a:srgbClr val="1A1A1A"/>
                </a:solidFill>
                <a:latin typeface="Calibri"/>
              </a:rPr>
              <a:t>Connaître les aléas, vulnérabilités, dépendances
Se préparer à la crise et au post-crise
Informer, éduquer, développer une culture de la résilience</a:t>
            </a:r>
          </a:p>
        </p:txBody>
      </p:sp>
      <p:sp>
        <p:nvSpPr>
          <p:cNvPr id="17" name="Rectangle 16"/>
          <p:cNvSpPr/>
          <p:nvPr/>
        </p:nvSpPr>
        <p:spPr>
          <a:xfrm>
            <a:off x="4206240" y="1691640"/>
            <a:ext cx="3749039" cy="594360"/>
          </a:xfrm>
          <a:prstGeom prst="rect">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8" name="TextBox 17"/>
          <p:cNvSpPr txBox="1"/>
          <p:nvPr/>
        </p:nvSpPr>
        <p:spPr>
          <a:xfrm>
            <a:off x="4297679" y="1819543"/>
            <a:ext cx="640080" cy="338554"/>
          </a:xfrm>
          <a:prstGeom prst="rect">
            <a:avLst/>
          </a:prstGeom>
          <a:noFill/>
        </p:spPr>
        <p:txBody>
          <a:bodyPr wrap="square" lIns="0" tIns="0" rIns="0" bIns="0" anchor="ctr">
            <a:spAutoFit/>
          </a:bodyPr>
          <a:lstStyle/>
          <a:p>
            <a:pPr algn="ctr"/>
            <a:r>
              <a:rPr lang="fr-FR" sz="2200" b="1" i="0">
                <a:solidFill>
                  <a:srgbClr val="FFFFFF"/>
                </a:solidFill>
                <a:latin typeface="Calibri"/>
              </a:rPr>
              <a:t>2</a:t>
            </a:r>
          </a:p>
        </p:txBody>
      </p:sp>
      <p:sp>
        <p:nvSpPr>
          <p:cNvPr id="19" name="TextBox 18"/>
          <p:cNvSpPr txBox="1"/>
          <p:nvPr/>
        </p:nvSpPr>
        <p:spPr>
          <a:xfrm>
            <a:off x="4983479" y="1757987"/>
            <a:ext cx="2834639" cy="461665"/>
          </a:xfrm>
          <a:prstGeom prst="rect">
            <a:avLst/>
          </a:prstGeom>
          <a:noFill/>
        </p:spPr>
        <p:txBody>
          <a:bodyPr wrap="square" lIns="0" tIns="0" rIns="0" bIns="0" anchor="ctr">
            <a:spAutoFit/>
          </a:bodyPr>
          <a:lstStyle/>
          <a:p>
            <a:pPr algn="l"/>
            <a:r>
              <a:rPr lang="fr-FR" sz="1000" b="1" i="0">
                <a:solidFill>
                  <a:srgbClr val="FFFFFF"/>
                </a:solidFill>
                <a:latin typeface="Calibri"/>
              </a:rPr>
              <a:t>ADAPTATION,
APPRENTISSAGE,
INNOVATION</a:t>
            </a:r>
          </a:p>
        </p:txBody>
      </p:sp>
      <p:sp>
        <p:nvSpPr>
          <p:cNvPr id="20" name="Rectangle 19"/>
          <p:cNvSpPr/>
          <p:nvPr/>
        </p:nvSpPr>
        <p:spPr>
          <a:xfrm>
            <a:off x="4206240" y="2286000"/>
            <a:ext cx="3749039" cy="141732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1" name="TextBox 20"/>
          <p:cNvSpPr txBox="1"/>
          <p:nvPr/>
        </p:nvSpPr>
        <p:spPr>
          <a:xfrm>
            <a:off x="4343400" y="2377440"/>
            <a:ext cx="3474720" cy="861774"/>
          </a:xfrm>
          <a:prstGeom prst="rect">
            <a:avLst/>
          </a:prstGeom>
          <a:noFill/>
        </p:spPr>
        <p:txBody>
          <a:bodyPr wrap="square" lIns="0" tIns="0" rIns="0" bIns="0" anchor="t">
            <a:spAutoFit/>
          </a:bodyPr>
          <a:lstStyle/>
          <a:p>
            <a:pPr algn="l"/>
            <a:r>
              <a:rPr lang="fr-FR" sz="1400" b="0" i="0">
                <a:solidFill>
                  <a:srgbClr val="1A1A1A"/>
                </a:solidFill>
                <a:latin typeface="Calibri"/>
              </a:rPr>
              <a:t>Surveiller et alerter
Réaliser des REX et benchmarks réguliers
Innover, expérimenter, construire de nouveaux imaginaires</a:t>
            </a:r>
          </a:p>
        </p:txBody>
      </p:sp>
      <p:sp>
        <p:nvSpPr>
          <p:cNvPr id="22" name="Rectangle 21"/>
          <p:cNvSpPr/>
          <p:nvPr/>
        </p:nvSpPr>
        <p:spPr>
          <a:xfrm>
            <a:off x="8046719" y="1691640"/>
            <a:ext cx="3749039" cy="594360"/>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3" name="TextBox 22"/>
          <p:cNvSpPr txBox="1"/>
          <p:nvPr/>
        </p:nvSpPr>
        <p:spPr>
          <a:xfrm>
            <a:off x="8138159" y="1819543"/>
            <a:ext cx="640080" cy="338554"/>
          </a:xfrm>
          <a:prstGeom prst="rect">
            <a:avLst/>
          </a:prstGeom>
          <a:noFill/>
        </p:spPr>
        <p:txBody>
          <a:bodyPr wrap="square" lIns="0" tIns="0" rIns="0" bIns="0" anchor="ctr">
            <a:spAutoFit/>
          </a:bodyPr>
          <a:lstStyle/>
          <a:p>
            <a:pPr algn="ctr"/>
            <a:r>
              <a:rPr lang="fr-FR" sz="2200" b="1" i="0">
                <a:solidFill>
                  <a:srgbClr val="FFFFFF"/>
                </a:solidFill>
                <a:latin typeface="Calibri"/>
              </a:rPr>
              <a:t>3</a:t>
            </a:r>
          </a:p>
        </p:txBody>
      </p:sp>
      <p:sp>
        <p:nvSpPr>
          <p:cNvPr id="24" name="TextBox 23"/>
          <p:cNvSpPr txBox="1"/>
          <p:nvPr/>
        </p:nvSpPr>
        <p:spPr>
          <a:xfrm>
            <a:off x="8823959" y="1757987"/>
            <a:ext cx="2834639" cy="461665"/>
          </a:xfrm>
          <a:prstGeom prst="rect">
            <a:avLst/>
          </a:prstGeom>
          <a:noFill/>
        </p:spPr>
        <p:txBody>
          <a:bodyPr wrap="square" lIns="0" tIns="0" rIns="0" bIns="0" anchor="ctr">
            <a:spAutoFit/>
          </a:bodyPr>
          <a:lstStyle/>
          <a:p>
            <a:pPr algn="l"/>
            <a:r>
              <a:rPr lang="fr-FR" sz="1000" b="1" i="0">
                <a:solidFill>
                  <a:srgbClr val="FFFFFF"/>
                </a:solidFill>
                <a:latin typeface="Calibri"/>
              </a:rPr>
              <a:t>SOBRIÉTÉ ET
BESOINS
ESSENTIELS</a:t>
            </a:r>
          </a:p>
        </p:txBody>
      </p:sp>
      <p:sp>
        <p:nvSpPr>
          <p:cNvPr id="25" name="Rectangle 24"/>
          <p:cNvSpPr/>
          <p:nvPr/>
        </p:nvSpPr>
        <p:spPr>
          <a:xfrm>
            <a:off x="8046719" y="2286000"/>
            <a:ext cx="3749039" cy="141732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6" name="TextBox 25"/>
          <p:cNvSpPr txBox="1"/>
          <p:nvPr/>
        </p:nvSpPr>
        <p:spPr>
          <a:xfrm>
            <a:off x="8183879" y="2377440"/>
            <a:ext cx="3474720" cy="1077218"/>
          </a:xfrm>
          <a:prstGeom prst="rect">
            <a:avLst/>
          </a:prstGeom>
          <a:noFill/>
        </p:spPr>
        <p:txBody>
          <a:bodyPr wrap="square" lIns="0" tIns="0" rIns="0" bIns="0" anchor="t">
            <a:spAutoFit/>
          </a:bodyPr>
          <a:lstStyle/>
          <a:p>
            <a:pPr algn="l"/>
            <a:r>
              <a:rPr lang="fr-FR" sz="1400" b="0" i="0">
                <a:solidFill>
                  <a:srgbClr val="1A1A1A"/>
                </a:solidFill>
                <a:latin typeface="Calibri"/>
              </a:rPr>
              <a:t>Identifier et garantir les besoins essentiels et vitaux pour tous
Respecter les limites planétaires et les communs
Accompagner la mutation économique</a:t>
            </a:r>
          </a:p>
        </p:txBody>
      </p:sp>
      <p:sp>
        <p:nvSpPr>
          <p:cNvPr id="27" name="Rectangle 26"/>
          <p:cNvSpPr/>
          <p:nvPr/>
        </p:nvSpPr>
        <p:spPr>
          <a:xfrm>
            <a:off x="365760" y="3840480"/>
            <a:ext cx="3749039" cy="594360"/>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8" name="TextBox 27"/>
          <p:cNvSpPr txBox="1"/>
          <p:nvPr/>
        </p:nvSpPr>
        <p:spPr>
          <a:xfrm>
            <a:off x="457200" y="3968383"/>
            <a:ext cx="640080" cy="338554"/>
          </a:xfrm>
          <a:prstGeom prst="rect">
            <a:avLst/>
          </a:prstGeom>
          <a:noFill/>
        </p:spPr>
        <p:txBody>
          <a:bodyPr wrap="square" lIns="0" tIns="0" rIns="0" bIns="0" anchor="ctr">
            <a:spAutoFit/>
          </a:bodyPr>
          <a:lstStyle/>
          <a:p>
            <a:pPr algn="ctr"/>
            <a:r>
              <a:rPr lang="fr-FR" sz="2200" b="1" i="0">
                <a:solidFill>
                  <a:srgbClr val="FFFFFF"/>
                </a:solidFill>
                <a:latin typeface="Calibri"/>
              </a:rPr>
              <a:t>4</a:t>
            </a:r>
          </a:p>
        </p:txBody>
      </p:sp>
      <p:sp>
        <p:nvSpPr>
          <p:cNvPr id="29" name="TextBox 28"/>
          <p:cNvSpPr txBox="1"/>
          <p:nvPr/>
        </p:nvSpPr>
        <p:spPr>
          <a:xfrm>
            <a:off x="1143000" y="3906827"/>
            <a:ext cx="2834639" cy="461665"/>
          </a:xfrm>
          <a:prstGeom prst="rect">
            <a:avLst/>
          </a:prstGeom>
          <a:noFill/>
        </p:spPr>
        <p:txBody>
          <a:bodyPr wrap="square" lIns="0" tIns="0" rIns="0" bIns="0" anchor="ctr">
            <a:spAutoFit/>
          </a:bodyPr>
          <a:lstStyle/>
          <a:p>
            <a:pPr algn="l"/>
            <a:r>
              <a:rPr lang="fr-FR" sz="1000" b="1" i="0">
                <a:solidFill>
                  <a:srgbClr val="FFFFFF"/>
                </a:solidFill>
                <a:latin typeface="Calibri"/>
              </a:rPr>
              <a:t>ROBUSTESSE ET
CONTINUITÉ
DES SYSTÈMES</a:t>
            </a:r>
          </a:p>
        </p:txBody>
      </p:sp>
      <p:sp>
        <p:nvSpPr>
          <p:cNvPr id="30" name="Rectangle 29"/>
          <p:cNvSpPr/>
          <p:nvPr/>
        </p:nvSpPr>
        <p:spPr>
          <a:xfrm>
            <a:off x="365760" y="4434840"/>
            <a:ext cx="3749039" cy="141732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1" name="TextBox 30"/>
          <p:cNvSpPr txBox="1"/>
          <p:nvPr/>
        </p:nvSpPr>
        <p:spPr>
          <a:xfrm>
            <a:off x="502920" y="4526280"/>
            <a:ext cx="3474720" cy="861774"/>
          </a:xfrm>
          <a:prstGeom prst="rect">
            <a:avLst/>
          </a:prstGeom>
          <a:noFill/>
        </p:spPr>
        <p:txBody>
          <a:bodyPr wrap="square" lIns="0" tIns="0" rIns="0" bIns="0" anchor="t">
            <a:spAutoFit/>
          </a:bodyPr>
          <a:lstStyle/>
          <a:p>
            <a:pPr algn="l"/>
            <a:r>
              <a:rPr lang="fr-FR" sz="1400" b="0" i="0">
                <a:solidFill>
                  <a:srgbClr val="1A1A1A"/>
                </a:solidFill>
                <a:latin typeface="Calibri"/>
              </a:rPr>
              <a:t>Limiter l'exposition aux aléas
Garantir la continuité des réseaux critiques et services essentiels
Renforcer la solidité et la fiabilité des systèmes</a:t>
            </a:r>
          </a:p>
        </p:txBody>
      </p:sp>
      <p:sp>
        <p:nvSpPr>
          <p:cNvPr id="32" name="Rectangle 31"/>
          <p:cNvSpPr/>
          <p:nvPr/>
        </p:nvSpPr>
        <p:spPr>
          <a:xfrm>
            <a:off x="4206240" y="3840480"/>
            <a:ext cx="3749039" cy="594360"/>
          </a:xfrm>
          <a:prstGeom prst="rect">
            <a:avLst/>
          </a:prstGeom>
          <a:solidFill>
            <a:srgbClr val="FF9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3" name="TextBox 32"/>
          <p:cNvSpPr txBox="1"/>
          <p:nvPr/>
        </p:nvSpPr>
        <p:spPr>
          <a:xfrm>
            <a:off x="4297679" y="3968383"/>
            <a:ext cx="640080" cy="338554"/>
          </a:xfrm>
          <a:prstGeom prst="rect">
            <a:avLst/>
          </a:prstGeom>
          <a:noFill/>
        </p:spPr>
        <p:txBody>
          <a:bodyPr wrap="square" lIns="0" tIns="0" rIns="0" bIns="0" anchor="ctr">
            <a:spAutoFit/>
          </a:bodyPr>
          <a:lstStyle/>
          <a:p>
            <a:pPr algn="ctr"/>
            <a:r>
              <a:rPr lang="fr-FR" sz="2200" b="1" i="0">
                <a:solidFill>
                  <a:srgbClr val="FFFFFF"/>
                </a:solidFill>
                <a:latin typeface="Calibri"/>
              </a:rPr>
              <a:t>5</a:t>
            </a:r>
          </a:p>
        </p:txBody>
      </p:sp>
      <p:sp>
        <p:nvSpPr>
          <p:cNvPr id="34" name="TextBox 33"/>
          <p:cNvSpPr txBox="1"/>
          <p:nvPr/>
        </p:nvSpPr>
        <p:spPr>
          <a:xfrm>
            <a:off x="4983479" y="3906827"/>
            <a:ext cx="2834639" cy="461665"/>
          </a:xfrm>
          <a:prstGeom prst="rect">
            <a:avLst/>
          </a:prstGeom>
          <a:noFill/>
        </p:spPr>
        <p:txBody>
          <a:bodyPr wrap="square" lIns="0" tIns="0" rIns="0" bIns="0" anchor="ctr">
            <a:spAutoFit/>
          </a:bodyPr>
          <a:lstStyle/>
          <a:p>
            <a:pPr algn="l"/>
            <a:r>
              <a:rPr lang="fr-FR" sz="1000" b="1" i="0">
                <a:solidFill>
                  <a:srgbClr val="FFFFFF"/>
                </a:solidFill>
                <a:latin typeface="Calibri"/>
              </a:rPr>
              <a:t>STRATÉGIES,
GOUVERNANCES
ADAPTATIVES</a:t>
            </a:r>
          </a:p>
        </p:txBody>
      </p:sp>
      <p:sp>
        <p:nvSpPr>
          <p:cNvPr id="35" name="Rectangle 34"/>
          <p:cNvSpPr/>
          <p:nvPr/>
        </p:nvSpPr>
        <p:spPr>
          <a:xfrm>
            <a:off x="4206240" y="4434840"/>
            <a:ext cx="3749039" cy="141732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6" name="TextBox 35"/>
          <p:cNvSpPr txBox="1"/>
          <p:nvPr/>
        </p:nvSpPr>
        <p:spPr>
          <a:xfrm>
            <a:off x="4343400" y="4526280"/>
            <a:ext cx="3474720" cy="646331"/>
          </a:xfrm>
          <a:prstGeom prst="rect">
            <a:avLst/>
          </a:prstGeom>
          <a:noFill/>
        </p:spPr>
        <p:txBody>
          <a:bodyPr wrap="square" lIns="0" tIns="0" rIns="0" bIns="0" anchor="t">
            <a:spAutoFit/>
          </a:bodyPr>
          <a:lstStyle/>
          <a:p>
            <a:pPr algn="l"/>
            <a:r>
              <a:rPr lang="fr-FR" sz="1400" b="0" i="0">
                <a:solidFill>
                  <a:srgbClr val="1A1A1A"/>
                </a:solidFill>
                <a:latin typeface="Calibri"/>
              </a:rPr>
              <a:t>Intégrer les vulnérabilités dans tous les projets
Gouvernance partagée, participation citoyenne
Coopération multi-échelles entre territoires</a:t>
            </a:r>
          </a:p>
        </p:txBody>
      </p:sp>
      <p:sp>
        <p:nvSpPr>
          <p:cNvPr id="37" name="Rectangle 36"/>
          <p:cNvSpPr/>
          <p:nvPr/>
        </p:nvSpPr>
        <p:spPr>
          <a:xfrm>
            <a:off x="8046719" y="3840480"/>
            <a:ext cx="3749039" cy="594360"/>
          </a:xfrm>
          <a:prstGeom prst="rect">
            <a:avLst/>
          </a:prstGeom>
          <a:solidFill>
            <a:srgbClr val="CDDC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8" name="TextBox 37"/>
          <p:cNvSpPr txBox="1"/>
          <p:nvPr/>
        </p:nvSpPr>
        <p:spPr>
          <a:xfrm>
            <a:off x="8138159" y="3968383"/>
            <a:ext cx="640080" cy="338554"/>
          </a:xfrm>
          <a:prstGeom prst="rect">
            <a:avLst/>
          </a:prstGeom>
          <a:noFill/>
        </p:spPr>
        <p:txBody>
          <a:bodyPr wrap="square" lIns="0" tIns="0" rIns="0" bIns="0" anchor="ctr">
            <a:spAutoFit/>
          </a:bodyPr>
          <a:lstStyle/>
          <a:p>
            <a:pPr algn="ctr"/>
            <a:r>
              <a:rPr lang="fr-FR" sz="2200" b="1" i="0">
                <a:solidFill>
                  <a:srgbClr val="FFFFFF"/>
                </a:solidFill>
                <a:latin typeface="Calibri"/>
              </a:rPr>
              <a:t>6</a:t>
            </a:r>
          </a:p>
        </p:txBody>
      </p:sp>
      <p:sp>
        <p:nvSpPr>
          <p:cNvPr id="39" name="TextBox 38"/>
          <p:cNvSpPr txBox="1"/>
          <p:nvPr/>
        </p:nvSpPr>
        <p:spPr>
          <a:xfrm>
            <a:off x="8823959" y="3906827"/>
            <a:ext cx="2834639" cy="461665"/>
          </a:xfrm>
          <a:prstGeom prst="rect">
            <a:avLst/>
          </a:prstGeom>
          <a:noFill/>
        </p:spPr>
        <p:txBody>
          <a:bodyPr wrap="square" lIns="0" tIns="0" rIns="0" bIns="0" anchor="ctr">
            <a:spAutoFit/>
          </a:bodyPr>
          <a:lstStyle/>
          <a:p>
            <a:pPr algn="l"/>
            <a:r>
              <a:rPr lang="fr-FR" sz="1000" b="1" i="0">
                <a:solidFill>
                  <a:srgbClr val="FFFFFF"/>
                </a:solidFill>
                <a:latin typeface="Calibri"/>
              </a:rPr>
              <a:t>COHÉSION
SOCIALE ET
SOLIDARITÉ</a:t>
            </a:r>
          </a:p>
        </p:txBody>
      </p:sp>
      <p:sp>
        <p:nvSpPr>
          <p:cNvPr id="40" name="Rectangle 39"/>
          <p:cNvSpPr/>
          <p:nvPr/>
        </p:nvSpPr>
        <p:spPr>
          <a:xfrm>
            <a:off x="8046719" y="4434840"/>
            <a:ext cx="3749039" cy="141732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41" name="TextBox 40"/>
          <p:cNvSpPr txBox="1"/>
          <p:nvPr/>
        </p:nvSpPr>
        <p:spPr>
          <a:xfrm>
            <a:off x="8183879" y="4526280"/>
            <a:ext cx="3474720" cy="1077218"/>
          </a:xfrm>
          <a:prstGeom prst="rect">
            <a:avLst/>
          </a:prstGeom>
          <a:noFill/>
        </p:spPr>
        <p:txBody>
          <a:bodyPr wrap="square" lIns="0" tIns="0" rIns="0" bIns="0" anchor="t">
            <a:spAutoFit/>
          </a:bodyPr>
          <a:lstStyle/>
          <a:p>
            <a:pPr algn="l"/>
            <a:r>
              <a:rPr lang="fr-FR" sz="1400" b="0" i="0">
                <a:solidFill>
                  <a:srgbClr val="1A1A1A"/>
                </a:solidFill>
                <a:latin typeface="Calibri"/>
              </a:rPr>
              <a:t>Soutenir la solidarité, prise en compte des plus vulnérables
Garantir la confiance et la capacité d'agir
S'appuyer sur la culture partagée et les savoir-faire locaux</a:t>
            </a:r>
          </a:p>
        </p:txBody>
      </p:sp>
      <p:sp>
        <p:nvSpPr>
          <p:cNvPr id="42" name="TextBox 41"/>
          <p:cNvSpPr txBox="1"/>
          <p:nvPr/>
        </p:nvSpPr>
        <p:spPr>
          <a:xfrm>
            <a:off x="457200" y="5943600"/>
            <a:ext cx="11247120" cy="169277"/>
          </a:xfrm>
          <a:prstGeom prst="rect">
            <a:avLst/>
          </a:prstGeom>
          <a:noFill/>
        </p:spPr>
        <p:txBody>
          <a:bodyPr wrap="square" lIns="0" tIns="0" rIns="0" bIns="0" anchor="t">
            <a:spAutoFit/>
          </a:bodyPr>
          <a:lstStyle/>
          <a:p>
            <a:pPr algn="ctr"/>
            <a:r>
              <a:rPr lang="fr-FR" sz="1100" b="0" i="1">
                <a:solidFill>
                  <a:srgbClr val="E86E55"/>
                </a:solidFill>
                <a:latin typeface="Calibri"/>
              </a:rPr>
              <a:t>→ Les 6 dimensions de la Boussole CEREMA et les 6 axes du rapport Alpes se recoupent largement. Deux entrées, un même cadre d'analyse — utilisez celle qui parle le mieux à vos interlocuteurs.</a:t>
            </a:r>
          </a:p>
        </p:txBody>
      </p:sp>
      <p:sp>
        <p:nvSpPr>
          <p:cNvPr id="3" name="Espace réservé du numéro de diapositive 2">
            <a:extLst>
              <a:ext uri="{FF2B5EF4-FFF2-40B4-BE49-F238E27FC236}">
                <a16:creationId xmlns:a16="http://schemas.microsoft.com/office/drawing/2014/main" id="{DEF788F5-B750-4B7C-8BC3-10F454CD81E5}"/>
              </a:ext>
            </a:extLst>
          </p:cNvPr>
          <p:cNvSpPr>
            <a:spLocks noGrp="1"/>
          </p:cNvSpPr>
          <p:nvPr>
            <p:ph type="sldNum" sz="quarter" idx="4"/>
          </p:nvPr>
        </p:nvSpPr>
        <p:spPr/>
        <p:txBody>
          <a:bodyPr/>
          <a:lstStyle/>
          <a:p>
            <a:fld id="{9981E6DC-ACA4-4CC4-B142-EC9DBA1C6CBA}" type="slidenum">
              <a:rPr lang="en-US" smtClean="0"/>
              <a:pPr/>
              <a:t>54</a:t>
            </a:fld>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65760" y="3657600"/>
            <a:ext cx="1554480" cy="128016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3657600"/>
            <a:ext cx="1554480" cy="1280160"/>
          </a:xfrm>
          <a:prstGeom prst="rect">
            <a:avLst/>
          </a:prstGeom>
          <a:noFill/>
        </p:spPr>
        <p:txBody>
          <a:bodyPr wrap="square" lIns="0" tIns="0" rIns="0" bIns="0" anchor="ctr">
            <a:spAutoFit/>
          </a:bodyPr>
          <a:lstStyle/>
          <a:p>
            <a:pPr algn="ctr"/>
            <a:r>
              <a:rPr sz="4400" b="1" i="0">
                <a:solidFill>
                  <a:srgbClr val="FFFFFF"/>
                </a:solidFill>
                <a:latin typeface="Calibri"/>
              </a:rPr>
              <a:t>7.</a:t>
            </a:r>
          </a:p>
        </p:txBody>
      </p:sp>
      <p:sp>
        <p:nvSpPr>
          <p:cNvPr id="9" name="Rectangle 8"/>
          <p:cNvSpPr/>
          <p:nvPr/>
        </p:nvSpPr>
        <p:spPr>
          <a:xfrm>
            <a:off x="2011680" y="3657600"/>
            <a:ext cx="9784080" cy="128016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377440" y="3657600"/>
            <a:ext cx="9144000" cy="1280160"/>
          </a:xfrm>
          <a:prstGeom prst="rect">
            <a:avLst/>
          </a:prstGeom>
          <a:noFill/>
        </p:spPr>
        <p:txBody>
          <a:bodyPr wrap="square" lIns="0" tIns="0" rIns="0" bIns="0" anchor="ctr">
            <a:spAutoFit/>
          </a:bodyPr>
          <a:lstStyle/>
          <a:p>
            <a:pPr algn="l"/>
            <a:r>
              <a:rPr sz="3400" b="1" i="0">
                <a:solidFill>
                  <a:srgbClr val="FFFFFF"/>
                </a:solidFill>
                <a:latin typeface="Calibri"/>
              </a:rPr>
              <a:t>Étude de cas n°2 — stratégie en 5 groupes</a:t>
            </a:r>
          </a:p>
        </p:txBody>
      </p:sp>
      <p:cxnSp>
        <p:nvCxnSpPr>
          <p:cNvPr id="11" name="Connector 10"/>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3" name="Espace réservé du numéro de diapositive 2">
            <a:extLst>
              <a:ext uri="{FF2B5EF4-FFF2-40B4-BE49-F238E27FC236}">
                <a16:creationId xmlns:a16="http://schemas.microsoft.com/office/drawing/2014/main" id="{DD13A6EF-D2EA-43AD-941C-DD21CCC4CF5E}"/>
              </a:ext>
            </a:extLst>
          </p:cNvPr>
          <p:cNvSpPr>
            <a:spLocks noGrp="1"/>
          </p:cNvSpPr>
          <p:nvPr>
            <p:ph type="sldNum" sz="quarter" idx="4"/>
          </p:nvPr>
        </p:nvSpPr>
        <p:spPr/>
        <p:txBody>
          <a:bodyPr/>
          <a:lstStyle/>
          <a:p>
            <a:fld id="{9981E6DC-ACA4-4CC4-B142-EC9DBA1C6CBA}" type="slidenum">
              <a:rPr lang="en-US" smtClean="0"/>
              <a:pPr/>
              <a:t>55</a:t>
            </a:fld>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Étude de cas n°2 — Bâtir une stratégie de résilience à 10 ans</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1188720"/>
            <a:ext cx="11247120" cy="200055"/>
          </a:xfrm>
          <a:prstGeom prst="rect">
            <a:avLst/>
          </a:prstGeom>
          <a:noFill/>
        </p:spPr>
        <p:txBody>
          <a:bodyPr wrap="square" lIns="0" tIns="0" rIns="0" bIns="0" anchor="t">
            <a:spAutoFit/>
          </a:bodyPr>
          <a:lstStyle/>
          <a:p>
            <a:pPr algn="l"/>
            <a:r>
              <a:rPr lang="fr-FR" sz="1300" b="0" i="1">
                <a:solidFill>
                  <a:srgbClr val="328088"/>
                </a:solidFill>
                <a:latin typeface="Calibri"/>
              </a:rPr>
              <a:t>1 h 00 de travail en 5 groupes différenciés  ·  25 min de restitution croisée  ·  5 min de synthèse</a:t>
            </a:r>
          </a:p>
        </p:txBody>
      </p:sp>
      <p:sp>
        <p:nvSpPr>
          <p:cNvPr id="12" name="Rectangle 11"/>
          <p:cNvSpPr/>
          <p:nvPr/>
        </p:nvSpPr>
        <p:spPr>
          <a:xfrm>
            <a:off x="365760" y="1691640"/>
            <a:ext cx="11430000" cy="548640"/>
          </a:xfrm>
          <a:prstGeom prst="rect">
            <a:avLst/>
          </a:prstGeom>
          <a:solidFill>
            <a:srgbClr val="E86E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3" name="TextBox 12"/>
          <p:cNvSpPr txBox="1"/>
          <p:nvPr/>
        </p:nvSpPr>
        <p:spPr>
          <a:xfrm>
            <a:off x="548640" y="1896487"/>
            <a:ext cx="11064240" cy="184666"/>
          </a:xfrm>
          <a:prstGeom prst="rect">
            <a:avLst/>
          </a:prstGeom>
          <a:noFill/>
        </p:spPr>
        <p:txBody>
          <a:bodyPr wrap="square" lIns="0" tIns="0" rIns="0" bIns="0" anchor="ctr">
            <a:spAutoFit/>
          </a:bodyPr>
          <a:lstStyle/>
          <a:p>
            <a:pPr algn="ctr"/>
            <a:r>
              <a:rPr lang="fr-FR" sz="1200" b="1" i="0">
                <a:solidFill>
                  <a:srgbClr val="FFFFFF"/>
                </a:solidFill>
                <a:latin typeface="Calibri"/>
              </a:rPr>
              <a:t>Sur la base du diagnostic du matin, chaque groupe apporte SA contribution stratégique. Les 5 contributions s'agrègent en un plan partagé.</a:t>
            </a:r>
          </a:p>
        </p:txBody>
      </p:sp>
      <p:sp>
        <p:nvSpPr>
          <p:cNvPr id="14" name="Rectangle 13"/>
          <p:cNvSpPr/>
          <p:nvPr/>
        </p:nvSpPr>
        <p:spPr>
          <a:xfrm>
            <a:off x="365760" y="2423160"/>
            <a:ext cx="822960" cy="178308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5" name="TextBox 14"/>
          <p:cNvSpPr txBox="1"/>
          <p:nvPr/>
        </p:nvSpPr>
        <p:spPr>
          <a:xfrm>
            <a:off x="365760" y="3206978"/>
            <a:ext cx="822960" cy="215444"/>
          </a:xfrm>
          <a:prstGeom prst="rect">
            <a:avLst/>
          </a:prstGeom>
          <a:noFill/>
        </p:spPr>
        <p:txBody>
          <a:bodyPr wrap="square" lIns="0" tIns="0" rIns="0" bIns="0" anchor="ctr">
            <a:spAutoFit/>
          </a:bodyPr>
          <a:lstStyle/>
          <a:p>
            <a:pPr algn="ctr"/>
            <a:r>
              <a:rPr lang="fr-FR" sz="1400" b="1" i="0">
                <a:solidFill>
                  <a:srgbClr val="FFFFFF"/>
                </a:solidFill>
                <a:latin typeface="Calibri"/>
              </a:rPr>
              <a:t>Axe 1</a:t>
            </a:r>
          </a:p>
        </p:txBody>
      </p:sp>
      <p:sp>
        <p:nvSpPr>
          <p:cNvPr id="16" name="Rectangle 15"/>
          <p:cNvSpPr/>
          <p:nvPr/>
        </p:nvSpPr>
        <p:spPr>
          <a:xfrm>
            <a:off x="1188720" y="2423160"/>
            <a:ext cx="2926079" cy="178308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7" name="TextBox 16"/>
          <p:cNvSpPr txBox="1"/>
          <p:nvPr/>
        </p:nvSpPr>
        <p:spPr>
          <a:xfrm>
            <a:off x="1325880" y="2514600"/>
            <a:ext cx="2743199" cy="861774"/>
          </a:xfrm>
          <a:prstGeom prst="rect">
            <a:avLst/>
          </a:prstGeom>
          <a:noFill/>
        </p:spPr>
        <p:txBody>
          <a:bodyPr wrap="square" lIns="0" tIns="0" rIns="0" bIns="0" anchor="t">
            <a:spAutoFit/>
          </a:bodyPr>
          <a:lstStyle/>
          <a:p>
            <a:pPr algn="l"/>
            <a:r>
              <a:rPr lang="fr-FR" sz="1400" b="0" i="0">
                <a:solidFill>
                  <a:srgbClr val="1A1A1A"/>
                </a:solidFill>
                <a:latin typeface="Calibri"/>
              </a:rPr>
              <a:t>Quelle ÉCHELLE pour la démarche ? Pourquoi ?
Quelles parties prenantes (au-delà de la commune) ?</a:t>
            </a:r>
          </a:p>
        </p:txBody>
      </p:sp>
      <p:sp>
        <p:nvSpPr>
          <p:cNvPr id="18" name="Rectangle 17"/>
          <p:cNvSpPr/>
          <p:nvPr/>
        </p:nvSpPr>
        <p:spPr>
          <a:xfrm>
            <a:off x="4206240" y="2423160"/>
            <a:ext cx="822960" cy="178308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9" name="TextBox 18"/>
          <p:cNvSpPr txBox="1"/>
          <p:nvPr/>
        </p:nvSpPr>
        <p:spPr>
          <a:xfrm>
            <a:off x="4206240" y="3206978"/>
            <a:ext cx="822960" cy="215444"/>
          </a:xfrm>
          <a:prstGeom prst="rect">
            <a:avLst/>
          </a:prstGeom>
          <a:noFill/>
        </p:spPr>
        <p:txBody>
          <a:bodyPr wrap="square" lIns="0" tIns="0" rIns="0" bIns="0" anchor="ctr">
            <a:spAutoFit/>
          </a:bodyPr>
          <a:lstStyle/>
          <a:p>
            <a:pPr algn="ctr"/>
            <a:r>
              <a:rPr lang="fr-FR" sz="1400" b="1" i="0">
                <a:solidFill>
                  <a:srgbClr val="FFFFFF"/>
                </a:solidFill>
                <a:latin typeface="Calibri"/>
              </a:rPr>
              <a:t>Axe 2</a:t>
            </a:r>
          </a:p>
        </p:txBody>
      </p:sp>
      <p:sp>
        <p:nvSpPr>
          <p:cNvPr id="20" name="Rectangle 19"/>
          <p:cNvSpPr/>
          <p:nvPr/>
        </p:nvSpPr>
        <p:spPr>
          <a:xfrm>
            <a:off x="5029200" y="2423160"/>
            <a:ext cx="2926079" cy="178308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1" name="TextBox 20"/>
          <p:cNvSpPr txBox="1"/>
          <p:nvPr/>
        </p:nvSpPr>
        <p:spPr>
          <a:xfrm>
            <a:off x="5166359" y="2514600"/>
            <a:ext cx="2743199" cy="1077218"/>
          </a:xfrm>
          <a:prstGeom prst="rect">
            <a:avLst/>
          </a:prstGeom>
          <a:noFill/>
        </p:spPr>
        <p:txBody>
          <a:bodyPr wrap="square" lIns="0" tIns="0" rIns="0" bIns="0" anchor="t">
            <a:spAutoFit/>
          </a:bodyPr>
          <a:lstStyle/>
          <a:p>
            <a:pPr algn="l"/>
            <a:r>
              <a:rPr lang="fr-FR" sz="1400" b="0" i="0">
                <a:solidFill>
                  <a:srgbClr val="1A1A1A"/>
                </a:solidFill>
                <a:latin typeface="Calibri"/>
              </a:rPr>
              <a:t>Comment intégrer la TRACC, le PNACC-3, l'élévation du niveau marin ?
Quels capteurs / observatoires mobiliser ?</a:t>
            </a:r>
          </a:p>
        </p:txBody>
      </p:sp>
      <p:sp>
        <p:nvSpPr>
          <p:cNvPr id="22" name="Rectangle 21"/>
          <p:cNvSpPr/>
          <p:nvPr/>
        </p:nvSpPr>
        <p:spPr>
          <a:xfrm>
            <a:off x="8046719" y="2423160"/>
            <a:ext cx="822960" cy="178308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3" name="TextBox 22"/>
          <p:cNvSpPr txBox="1"/>
          <p:nvPr/>
        </p:nvSpPr>
        <p:spPr>
          <a:xfrm>
            <a:off x="8046719" y="3206978"/>
            <a:ext cx="822960" cy="215444"/>
          </a:xfrm>
          <a:prstGeom prst="rect">
            <a:avLst/>
          </a:prstGeom>
          <a:noFill/>
        </p:spPr>
        <p:txBody>
          <a:bodyPr wrap="square" lIns="0" tIns="0" rIns="0" bIns="0" anchor="ctr">
            <a:spAutoFit/>
          </a:bodyPr>
          <a:lstStyle/>
          <a:p>
            <a:pPr algn="ctr"/>
            <a:r>
              <a:rPr lang="fr-FR" sz="1400" b="1" i="0">
                <a:solidFill>
                  <a:srgbClr val="FFFFFF"/>
                </a:solidFill>
                <a:latin typeface="Calibri"/>
              </a:rPr>
              <a:t>Axe 3</a:t>
            </a:r>
          </a:p>
        </p:txBody>
      </p:sp>
      <p:sp>
        <p:nvSpPr>
          <p:cNvPr id="24" name="Rectangle 23"/>
          <p:cNvSpPr/>
          <p:nvPr/>
        </p:nvSpPr>
        <p:spPr>
          <a:xfrm>
            <a:off x="8869680" y="2423160"/>
            <a:ext cx="2926079" cy="178308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5" name="TextBox 24"/>
          <p:cNvSpPr txBox="1"/>
          <p:nvPr/>
        </p:nvSpPr>
        <p:spPr>
          <a:xfrm>
            <a:off x="9006840" y="2514600"/>
            <a:ext cx="2743199" cy="1077218"/>
          </a:xfrm>
          <a:prstGeom prst="rect">
            <a:avLst/>
          </a:prstGeom>
          <a:noFill/>
        </p:spPr>
        <p:txBody>
          <a:bodyPr wrap="square" lIns="0" tIns="0" rIns="0" bIns="0" anchor="t">
            <a:spAutoFit/>
          </a:bodyPr>
          <a:lstStyle/>
          <a:p>
            <a:pPr algn="l"/>
            <a:r>
              <a:rPr lang="fr-FR" sz="1400" b="0" i="0">
                <a:solidFill>
                  <a:srgbClr val="1A1A1A"/>
                </a:solidFill>
                <a:latin typeface="Calibri"/>
              </a:rPr>
              <a:t>Trois actions d'aménagement pour 2026-2036.
Une action sur le foncier (préemption, EPF, ORE…).
Quelle OAP « risques » dans le PLU ?</a:t>
            </a:r>
          </a:p>
        </p:txBody>
      </p:sp>
      <p:sp>
        <p:nvSpPr>
          <p:cNvPr id="26" name="Rectangle 25"/>
          <p:cNvSpPr/>
          <p:nvPr/>
        </p:nvSpPr>
        <p:spPr>
          <a:xfrm>
            <a:off x="365760" y="4343400"/>
            <a:ext cx="822960" cy="178308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7" name="TextBox 26"/>
          <p:cNvSpPr txBox="1"/>
          <p:nvPr/>
        </p:nvSpPr>
        <p:spPr>
          <a:xfrm>
            <a:off x="365760" y="5127218"/>
            <a:ext cx="822960" cy="215444"/>
          </a:xfrm>
          <a:prstGeom prst="rect">
            <a:avLst/>
          </a:prstGeom>
          <a:noFill/>
        </p:spPr>
        <p:txBody>
          <a:bodyPr wrap="square" lIns="0" tIns="0" rIns="0" bIns="0" anchor="ctr">
            <a:spAutoFit/>
          </a:bodyPr>
          <a:lstStyle/>
          <a:p>
            <a:pPr algn="ctr"/>
            <a:r>
              <a:rPr lang="fr-FR" sz="1400" b="1" i="0">
                <a:solidFill>
                  <a:srgbClr val="FFFFFF"/>
                </a:solidFill>
                <a:latin typeface="Calibri"/>
              </a:rPr>
              <a:t>Axe 4</a:t>
            </a:r>
          </a:p>
        </p:txBody>
      </p:sp>
      <p:sp>
        <p:nvSpPr>
          <p:cNvPr id="28" name="Rectangle 27"/>
          <p:cNvSpPr/>
          <p:nvPr/>
        </p:nvSpPr>
        <p:spPr>
          <a:xfrm>
            <a:off x="1188720" y="4343400"/>
            <a:ext cx="2926079" cy="178308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9" name="TextBox 28"/>
          <p:cNvSpPr txBox="1"/>
          <p:nvPr/>
        </p:nvSpPr>
        <p:spPr>
          <a:xfrm>
            <a:off x="1325880" y="4434840"/>
            <a:ext cx="2743199" cy="1077218"/>
          </a:xfrm>
          <a:prstGeom prst="rect">
            <a:avLst/>
          </a:prstGeom>
          <a:noFill/>
        </p:spPr>
        <p:txBody>
          <a:bodyPr wrap="square" lIns="0" tIns="0" rIns="0" bIns="0" anchor="t">
            <a:spAutoFit/>
          </a:bodyPr>
          <a:lstStyle/>
          <a:p>
            <a:pPr algn="l"/>
            <a:r>
              <a:rPr lang="fr-FR" sz="1400" b="0" i="0">
                <a:solidFill>
                  <a:srgbClr val="1A1A1A"/>
                </a:solidFill>
                <a:latin typeface="Calibri"/>
              </a:rPr>
              <a:t>Les 3 campings doivent-ils tous rester ?
La PME doit-elle déménager (avec quels financements) ?
Quelle stratégie de diversification ?</a:t>
            </a:r>
          </a:p>
        </p:txBody>
      </p:sp>
      <p:sp>
        <p:nvSpPr>
          <p:cNvPr id="30" name="Rectangle 29"/>
          <p:cNvSpPr/>
          <p:nvPr/>
        </p:nvSpPr>
        <p:spPr>
          <a:xfrm>
            <a:off x="4206240" y="4343400"/>
            <a:ext cx="822960" cy="178308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1" name="TextBox 30"/>
          <p:cNvSpPr txBox="1"/>
          <p:nvPr/>
        </p:nvSpPr>
        <p:spPr>
          <a:xfrm>
            <a:off x="4206240" y="5127218"/>
            <a:ext cx="822960" cy="215444"/>
          </a:xfrm>
          <a:prstGeom prst="rect">
            <a:avLst/>
          </a:prstGeom>
          <a:noFill/>
        </p:spPr>
        <p:txBody>
          <a:bodyPr wrap="square" lIns="0" tIns="0" rIns="0" bIns="0" anchor="ctr">
            <a:spAutoFit/>
          </a:bodyPr>
          <a:lstStyle/>
          <a:p>
            <a:pPr algn="ctr"/>
            <a:r>
              <a:rPr lang="fr-FR" sz="1400" b="1" i="0">
                <a:solidFill>
                  <a:srgbClr val="FFFFFF"/>
                </a:solidFill>
                <a:latin typeface="Calibri"/>
              </a:rPr>
              <a:t>Axe 5</a:t>
            </a:r>
          </a:p>
        </p:txBody>
      </p:sp>
      <p:sp>
        <p:nvSpPr>
          <p:cNvPr id="32" name="Rectangle 31"/>
          <p:cNvSpPr/>
          <p:nvPr/>
        </p:nvSpPr>
        <p:spPr>
          <a:xfrm>
            <a:off x="5029200" y="4343400"/>
            <a:ext cx="2926079" cy="178308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3" name="TextBox 32"/>
          <p:cNvSpPr txBox="1"/>
          <p:nvPr/>
        </p:nvSpPr>
        <p:spPr>
          <a:xfrm>
            <a:off x="5166359" y="4434840"/>
            <a:ext cx="2743199" cy="861774"/>
          </a:xfrm>
          <a:prstGeom prst="rect">
            <a:avLst/>
          </a:prstGeom>
          <a:noFill/>
        </p:spPr>
        <p:txBody>
          <a:bodyPr wrap="square" lIns="0" tIns="0" rIns="0" bIns="0" anchor="t">
            <a:spAutoFit/>
          </a:bodyPr>
          <a:lstStyle/>
          <a:p>
            <a:pPr algn="l"/>
            <a:r>
              <a:rPr lang="fr-FR" sz="1400" b="0" i="0">
                <a:solidFill>
                  <a:srgbClr val="1A1A1A"/>
                </a:solidFill>
                <a:latin typeface="Calibri"/>
              </a:rPr>
              <a:t>Qui pilote ? Le maire, le préfet, le syndicat, l'EPCI ?
Quelles instances permanentes (type MIRNAT) ?</a:t>
            </a:r>
          </a:p>
        </p:txBody>
      </p:sp>
      <p:sp>
        <p:nvSpPr>
          <p:cNvPr id="34" name="Rectangle 33"/>
          <p:cNvSpPr/>
          <p:nvPr/>
        </p:nvSpPr>
        <p:spPr>
          <a:xfrm>
            <a:off x="8046719" y="4343400"/>
            <a:ext cx="822960" cy="178308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5" name="TextBox 34"/>
          <p:cNvSpPr txBox="1"/>
          <p:nvPr/>
        </p:nvSpPr>
        <p:spPr>
          <a:xfrm>
            <a:off x="8046719" y="5127218"/>
            <a:ext cx="822960" cy="215444"/>
          </a:xfrm>
          <a:prstGeom prst="rect">
            <a:avLst/>
          </a:prstGeom>
          <a:noFill/>
        </p:spPr>
        <p:txBody>
          <a:bodyPr wrap="square" lIns="0" tIns="0" rIns="0" bIns="0" anchor="ctr">
            <a:spAutoFit/>
          </a:bodyPr>
          <a:lstStyle/>
          <a:p>
            <a:pPr algn="ctr"/>
            <a:r>
              <a:rPr lang="fr-FR" sz="1400" b="1" i="0">
                <a:solidFill>
                  <a:srgbClr val="FFFFFF"/>
                </a:solidFill>
                <a:latin typeface="Calibri"/>
              </a:rPr>
              <a:t>Axe 6</a:t>
            </a:r>
          </a:p>
        </p:txBody>
      </p:sp>
      <p:sp>
        <p:nvSpPr>
          <p:cNvPr id="36" name="Rectangle 35"/>
          <p:cNvSpPr/>
          <p:nvPr/>
        </p:nvSpPr>
        <p:spPr>
          <a:xfrm>
            <a:off x="8869680" y="4343400"/>
            <a:ext cx="2926079" cy="178308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7" name="TextBox 36"/>
          <p:cNvSpPr txBox="1"/>
          <p:nvPr/>
        </p:nvSpPr>
        <p:spPr>
          <a:xfrm>
            <a:off x="9006840" y="4434840"/>
            <a:ext cx="2743199" cy="861774"/>
          </a:xfrm>
          <a:prstGeom prst="rect">
            <a:avLst/>
          </a:prstGeom>
          <a:noFill/>
        </p:spPr>
        <p:txBody>
          <a:bodyPr wrap="square" lIns="0" tIns="0" rIns="0" bIns="0" anchor="t">
            <a:spAutoFit/>
          </a:bodyPr>
          <a:lstStyle/>
          <a:p>
            <a:pPr algn="l"/>
            <a:r>
              <a:rPr lang="fr-FR" sz="1400" b="0" i="0">
                <a:solidFill>
                  <a:srgbClr val="1A1A1A"/>
                </a:solidFill>
                <a:latin typeface="Calibri"/>
              </a:rPr>
              <a:t>Culture du risque, PCS révisé, RCSC, plan de mobilité de crise…
Comment associer les 12 000 résidents estivaux ?</a:t>
            </a:r>
          </a:p>
        </p:txBody>
      </p:sp>
      <p:sp>
        <p:nvSpPr>
          <p:cNvPr id="38" name="Rectangle 37"/>
          <p:cNvSpPr/>
          <p:nvPr/>
        </p:nvSpPr>
        <p:spPr>
          <a:xfrm>
            <a:off x="365760" y="6263640"/>
            <a:ext cx="11430000" cy="365760"/>
          </a:xfrm>
          <a:prstGeom prst="rect">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9" name="TextBox 38"/>
          <p:cNvSpPr txBox="1"/>
          <p:nvPr/>
        </p:nvSpPr>
        <p:spPr>
          <a:xfrm>
            <a:off x="548640" y="6369576"/>
            <a:ext cx="11247120" cy="153888"/>
          </a:xfrm>
          <a:prstGeom prst="rect">
            <a:avLst/>
          </a:prstGeom>
          <a:noFill/>
        </p:spPr>
        <p:txBody>
          <a:bodyPr wrap="square" lIns="0" tIns="0" rIns="0" bIns="0" anchor="ctr">
            <a:spAutoFit/>
          </a:bodyPr>
          <a:lstStyle/>
          <a:p>
            <a:pPr algn="l"/>
            <a:r>
              <a:rPr lang="fr-FR" sz="1000" b="0" i="1">
                <a:solidFill>
                  <a:srgbClr val="FFFFFF"/>
                </a:solidFill>
                <a:latin typeface="Calibri"/>
              </a:rPr>
              <a:t>Chaque groupe traite tous les axes — mais va plus loin sur l'axe central de sa fiche, et anticipe ses points de friction avec deux autres groupes.</a:t>
            </a:r>
          </a:p>
        </p:txBody>
      </p:sp>
      <p:sp>
        <p:nvSpPr>
          <p:cNvPr id="3" name="Espace réservé du numéro de diapositive 2">
            <a:extLst>
              <a:ext uri="{FF2B5EF4-FFF2-40B4-BE49-F238E27FC236}">
                <a16:creationId xmlns:a16="http://schemas.microsoft.com/office/drawing/2014/main" id="{99F8CA91-C023-4C2B-B328-17199FCC4C4C}"/>
              </a:ext>
            </a:extLst>
          </p:cNvPr>
          <p:cNvSpPr>
            <a:spLocks noGrp="1"/>
          </p:cNvSpPr>
          <p:nvPr>
            <p:ph type="sldNum" sz="quarter" idx="4"/>
          </p:nvPr>
        </p:nvSpPr>
        <p:spPr/>
        <p:txBody>
          <a:bodyPr/>
          <a:lstStyle/>
          <a:p>
            <a:fld id="{9981E6DC-ACA4-4CC4-B142-EC9DBA1C6CBA}" type="slidenum">
              <a:rPr lang="en-US" smtClean="0"/>
              <a:pPr/>
              <a:t>56</a:t>
            </a:fld>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Restitution croisée — la stratégie partagée émerge</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1188720"/>
            <a:ext cx="11247120" cy="215444"/>
          </a:xfrm>
          <a:prstGeom prst="rect">
            <a:avLst/>
          </a:prstGeom>
          <a:noFill/>
        </p:spPr>
        <p:txBody>
          <a:bodyPr wrap="square" lIns="0" tIns="0" rIns="0" bIns="0" anchor="t">
            <a:spAutoFit/>
          </a:bodyPr>
          <a:lstStyle/>
          <a:p>
            <a:pPr algn="l"/>
            <a:r>
              <a:rPr lang="fr-FR" sz="1400" b="1" i="0">
                <a:solidFill>
                  <a:srgbClr val="328088"/>
                </a:solidFill>
                <a:latin typeface="Calibri"/>
              </a:rPr>
              <a:t>8 minutes par groupe (5 × 8 = 40 min) + 5 min de débat croisé + 5 min de synthèse animateur</a:t>
            </a:r>
          </a:p>
        </p:txBody>
      </p:sp>
      <p:sp>
        <p:nvSpPr>
          <p:cNvPr id="12" name="Rectangle 11"/>
          <p:cNvSpPr/>
          <p:nvPr/>
        </p:nvSpPr>
        <p:spPr>
          <a:xfrm>
            <a:off x="365760" y="1783080"/>
            <a:ext cx="640080" cy="68580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3" name="TextBox 12"/>
          <p:cNvSpPr txBox="1"/>
          <p:nvPr/>
        </p:nvSpPr>
        <p:spPr>
          <a:xfrm>
            <a:off x="365760" y="1987480"/>
            <a:ext cx="640080" cy="276999"/>
          </a:xfrm>
          <a:prstGeom prst="rect">
            <a:avLst/>
          </a:prstGeom>
          <a:noFill/>
        </p:spPr>
        <p:txBody>
          <a:bodyPr wrap="square" lIns="0" tIns="0" rIns="0" bIns="0" anchor="ctr">
            <a:spAutoFit/>
          </a:bodyPr>
          <a:lstStyle/>
          <a:p>
            <a:pPr algn="ctr"/>
            <a:r>
              <a:rPr lang="fr-FR" sz="1800" b="1" i="0">
                <a:solidFill>
                  <a:srgbClr val="FFFFFF"/>
                </a:solidFill>
                <a:latin typeface="Calibri"/>
              </a:rPr>
              <a:t>1.</a:t>
            </a:r>
          </a:p>
        </p:txBody>
      </p:sp>
      <p:sp>
        <p:nvSpPr>
          <p:cNvPr id="14" name="Rectangle 13"/>
          <p:cNvSpPr/>
          <p:nvPr/>
        </p:nvSpPr>
        <p:spPr>
          <a:xfrm>
            <a:off x="1051560" y="1783080"/>
            <a:ext cx="10744200" cy="68580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5" name="TextBox 14"/>
          <p:cNvSpPr txBox="1"/>
          <p:nvPr/>
        </p:nvSpPr>
        <p:spPr>
          <a:xfrm>
            <a:off x="1188720" y="1828800"/>
            <a:ext cx="10561320" cy="610424"/>
          </a:xfrm>
          <a:prstGeom prst="rect">
            <a:avLst/>
          </a:prstGeom>
          <a:noFill/>
        </p:spPr>
        <p:txBody>
          <a:bodyPr wrap="square" lIns="0" tIns="0" rIns="0" bIns="0" anchor="t">
            <a:spAutoFit/>
          </a:bodyPr>
          <a:lstStyle/>
          <a:p>
            <a:pPr algn="l">
              <a:spcAft>
                <a:spcPts val="200"/>
              </a:spcAft>
            </a:pPr>
            <a:r>
              <a:rPr lang="fr-FR" sz="1600" b="1" i="0">
                <a:solidFill>
                  <a:srgbClr val="1E2D5C"/>
                </a:solidFill>
                <a:latin typeface="Calibri"/>
              </a:rPr>
              <a:t>Votre PHRASE de boussole (1 min)</a:t>
            </a:r>
          </a:p>
          <a:p>
            <a:pPr algn="l"/>
            <a:r>
              <a:rPr lang="fr-FR" sz="1100" b="0" i="0">
                <a:solidFill>
                  <a:srgbClr val="1A1A1A"/>
                </a:solidFill>
                <a:latin typeface="Calibri"/>
              </a:rPr>
              <a:t>« Pour notre groupe, Anse-de-Goulven dans 10 ans doit être capable de… ». Cette phrase exprime votre vision SPÉCIFIQUE — celle du préfet, du maire, du syndicat, de l'économie ou de la société civile.</a:t>
            </a:r>
          </a:p>
        </p:txBody>
      </p:sp>
      <p:sp>
        <p:nvSpPr>
          <p:cNvPr id="16" name="Rectangle 15"/>
          <p:cNvSpPr/>
          <p:nvPr/>
        </p:nvSpPr>
        <p:spPr>
          <a:xfrm>
            <a:off x="365760" y="2560320"/>
            <a:ext cx="640080" cy="68580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7" name="TextBox 16"/>
          <p:cNvSpPr txBox="1"/>
          <p:nvPr/>
        </p:nvSpPr>
        <p:spPr>
          <a:xfrm>
            <a:off x="365760" y="2764720"/>
            <a:ext cx="640080" cy="276999"/>
          </a:xfrm>
          <a:prstGeom prst="rect">
            <a:avLst/>
          </a:prstGeom>
          <a:noFill/>
        </p:spPr>
        <p:txBody>
          <a:bodyPr wrap="square" lIns="0" tIns="0" rIns="0" bIns="0" anchor="ctr">
            <a:spAutoFit/>
          </a:bodyPr>
          <a:lstStyle/>
          <a:p>
            <a:pPr algn="ctr"/>
            <a:r>
              <a:rPr lang="fr-FR" sz="1800" b="1" i="0">
                <a:solidFill>
                  <a:srgbClr val="FFFFFF"/>
                </a:solidFill>
                <a:latin typeface="Calibri"/>
              </a:rPr>
              <a:t>2.</a:t>
            </a:r>
          </a:p>
        </p:txBody>
      </p:sp>
      <p:sp>
        <p:nvSpPr>
          <p:cNvPr id="18" name="Rectangle 17"/>
          <p:cNvSpPr/>
          <p:nvPr/>
        </p:nvSpPr>
        <p:spPr>
          <a:xfrm>
            <a:off x="1051560" y="2560320"/>
            <a:ext cx="10744200" cy="68580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9" name="TextBox 18"/>
          <p:cNvSpPr txBox="1"/>
          <p:nvPr/>
        </p:nvSpPr>
        <p:spPr>
          <a:xfrm>
            <a:off x="1188720" y="2606039"/>
            <a:ext cx="10561320" cy="441146"/>
          </a:xfrm>
          <a:prstGeom prst="rect">
            <a:avLst/>
          </a:prstGeom>
          <a:noFill/>
        </p:spPr>
        <p:txBody>
          <a:bodyPr wrap="square" lIns="0" tIns="0" rIns="0" bIns="0" anchor="t">
            <a:spAutoFit/>
          </a:bodyPr>
          <a:lstStyle/>
          <a:p>
            <a:pPr algn="l">
              <a:spcAft>
                <a:spcPts val="200"/>
              </a:spcAft>
            </a:pPr>
            <a:r>
              <a:rPr lang="fr-FR" sz="1600" b="1" i="0">
                <a:solidFill>
                  <a:srgbClr val="1E2D5C"/>
                </a:solidFill>
                <a:latin typeface="Calibri"/>
              </a:rPr>
              <a:t>Trois ACTIONS phare (3 min)</a:t>
            </a:r>
          </a:p>
          <a:p>
            <a:pPr algn="l"/>
            <a:r>
              <a:rPr lang="fr-FR" sz="1100" b="0" i="0">
                <a:solidFill>
                  <a:srgbClr val="1A1A1A"/>
                </a:solidFill>
                <a:latin typeface="Calibri"/>
              </a:rPr>
              <a:t>Pour chacune : axe, portage, financement, horizon. Au moins une action sur l'axe central de votre groupe.</a:t>
            </a:r>
          </a:p>
        </p:txBody>
      </p:sp>
      <p:sp>
        <p:nvSpPr>
          <p:cNvPr id="20" name="Rectangle 19"/>
          <p:cNvSpPr/>
          <p:nvPr/>
        </p:nvSpPr>
        <p:spPr>
          <a:xfrm>
            <a:off x="365760" y="3337560"/>
            <a:ext cx="640080" cy="68580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1" name="TextBox 20"/>
          <p:cNvSpPr txBox="1"/>
          <p:nvPr/>
        </p:nvSpPr>
        <p:spPr>
          <a:xfrm>
            <a:off x="365760" y="3541960"/>
            <a:ext cx="640080" cy="276999"/>
          </a:xfrm>
          <a:prstGeom prst="rect">
            <a:avLst/>
          </a:prstGeom>
          <a:noFill/>
        </p:spPr>
        <p:txBody>
          <a:bodyPr wrap="square" lIns="0" tIns="0" rIns="0" bIns="0" anchor="ctr">
            <a:spAutoFit/>
          </a:bodyPr>
          <a:lstStyle/>
          <a:p>
            <a:pPr algn="ctr"/>
            <a:r>
              <a:rPr lang="fr-FR" sz="1800" b="1" i="0">
                <a:solidFill>
                  <a:srgbClr val="FFFFFF"/>
                </a:solidFill>
                <a:latin typeface="Calibri"/>
              </a:rPr>
              <a:t>3.</a:t>
            </a:r>
          </a:p>
        </p:txBody>
      </p:sp>
      <p:sp>
        <p:nvSpPr>
          <p:cNvPr id="22" name="Rectangle 21"/>
          <p:cNvSpPr/>
          <p:nvPr/>
        </p:nvSpPr>
        <p:spPr>
          <a:xfrm>
            <a:off x="1051560" y="3337560"/>
            <a:ext cx="10744200" cy="68580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3" name="TextBox 22"/>
          <p:cNvSpPr txBox="1"/>
          <p:nvPr/>
        </p:nvSpPr>
        <p:spPr>
          <a:xfrm>
            <a:off x="1188720" y="3383279"/>
            <a:ext cx="10561320" cy="441146"/>
          </a:xfrm>
          <a:prstGeom prst="rect">
            <a:avLst/>
          </a:prstGeom>
          <a:noFill/>
        </p:spPr>
        <p:txBody>
          <a:bodyPr wrap="square" lIns="0" tIns="0" rIns="0" bIns="0" anchor="t">
            <a:spAutoFit/>
          </a:bodyPr>
          <a:lstStyle/>
          <a:p>
            <a:pPr algn="l">
              <a:spcAft>
                <a:spcPts val="200"/>
              </a:spcAft>
            </a:pPr>
            <a:r>
              <a:rPr lang="fr-FR" sz="1600" b="1" i="0">
                <a:solidFill>
                  <a:srgbClr val="1E2D5C"/>
                </a:solidFill>
                <a:latin typeface="Calibri"/>
              </a:rPr>
              <a:t>Vos POINTS DE FRICTION (2 min)</a:t>
            </a:r>
          </a:p>
          <a:p>
            <a:pPr algn="l"/>
            <a:r>
              <a:rPr lang="fr-FR" sz="1100" b="0" i="0">
                <a:solidFill>
                  <a:srgbClr val="1A1A1A"/>
                </a:solidFill>
                <a:latin typeface="Calibri"/>
              </a:rPr>
              <a:t>Identifiez deux groupes avec qui vous anticipez un désaccord. Soyez précis sur le sujet et l'argument. Pas de procès d'intention.</a:t>
            </a:r>
          </a:p>
        </p:txBody>
      </p:sp>
      <p:sp>
        <p:nvSpPr>
          <p:cNvPr id="24" name="Rectangle 23"/>
          <p:cNvSpPr/>
          <p:nvPr/>
        </p:nvSpPr>
        <p:spPr>
          <a:xfrm>
            <a:off x="365760" y="4114800"/>
            <a:ext cx="640080" cy="68580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5" name="TextBox 24"/>
          <p:cNvSpPr txBox="1"/>
          <p:nvPr/>
        </p:nvSpPr>
        <p:spPr>
          <a:xfrm>
            <a:off x="365760" y="4319200"/>
            <a:ext cx="640080" cy="276999"/>
          </a:xfrm>
          <a:prstGeom prst="rect">
            <a:avLst/>
          </a:prstGeom>
          <a:noFill/>
        </p:spPr>
        <p:txBody>
          <a:bodyPr wrap="square" lIns="0" tIns="0" rIns="0" bIns="0" anchor="ctr">
            <a:spAutoFit/>
          </a:bodyPr>
          <a:lstStyle/>
          <a:p>
            <a:pPr algn="ctr"/>
            <a:r>
              <a:rPr lang="fr-FR" sz="1800" b="1" i="0">
                <a:solidFill>
                  <a:srgbClr val="FFFFFF"/>
                </a:solidFill>
                <a:latin typeface="Calibri"/>
              </a:rPr>
              <a:t>4.</a:t>
            </a:r>
          </a:p>
        </p:txBody>
      </p:sp>
      <p:sp>
        <p:nvSpPr>
          <p:cNvPr id="26" name="Rectangle 25"/>
          <p:cNvSpPr/>
          <p:nvPr/>
        </p:nvSpPr>
        <p:spPr>
          <a:xfrm>
            <a:off x="1051560" y="4114800"/>
            <a:ext cx="10744200" cy="68580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7" name="TextBox 26"/>
          <p:cNvSpPr txBox="1"/>
          <p:nvPr/>
        </p:nvSpPr>
        <p:spPr>
          <a:xfrm>
            <a:off x="1188720" y="4160520"/>
            <a:ext cx="10561320" cy="441146"/>
          </a:xfrm>
          <a:prstGeom prst="rect">
            <a:avLst/>
          </a:prstGeom>
          <a:noFill/>
        </p:spPr>
        <p:txBody>
          <a:bodyPr wrap="square" lIns="0" tIns="0" rIns="0" bIns="0" anchor="t">
            <a:spAutoFit/>
          </a:bodyPr>
          <a:lstStyle/>
          <a:p>
            <a:pPr algn="l">
              <a:spcAft>
                <a:spcPts val="200"/>
              </a:spcAft>
            </a:pPr>
            <a:r>
              <a:rPr lang="fr-FR" sz="1600" b="1" i="0">
                <a:solidFill>
                  <a:srgbClr val="1E2D5C"/>
                </a:solidFill>
                <a:latin typeface="Calibri"/>
              </a:rPr>
              <a:t>Une CONVERGENCE inattendue (1 min)</a:t>
            </a:r>
          </a:p>
          <a:p>
            <a:pPr algn="l"/>
            <a:r>
              <a:rPr lang="fr-FR" sz="1100" b="0" i="0">
                <a:solidFill>
                  <a:srgbClr val="1A1A1A"/>
                </a:solidFill>
                <a:latin typeface="Calibri"/>
              </a:rPr>
              <a:t>Sur quoi pensez-vous pouvoir vous mettre d'accord avec un groupe a priori opposé ? C'est le germe de la stratégie partagée.</a:t>
            </a:r>
          </a:p>
        </p:txBody>
      </p:sp>
      <p:sp>
        <p:nvSpPr>
          <p:cNvPr id="28" name="Rectangle 27"/>
          <p:cNvSpPr/>
          <p:nvPr/>
        </p:nvSpPr>
        <p:spPr>
          <a:xfrm>
            <a:off x="365760" y="4892040"/>
            <a:ext cx="640080" cy="68580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9" name="TextBox 28"/>
          <p:cNvSpPr txBox="1"/>
          <p:nvPr/>
        </p:nvSpPr>
        <p:spPr>
          <a:xfrm>
            <a:off x="365760" y="5096440"/>
            <a:ext cx="640080" cy="276999"/>
          </a:xfrm>
          <a:prstGeom prst="rect">
            <a:avLst/>
          </a:prstGeom>
          <a:noFill/>
        </p:spPr>
        <p:txBody>
          <a:bodyPr wrap="square" lIns="0" tIns="0" rIns="0" bIns="0" anchor="ctr">
            <a:spAutoFit/>
          </a:bodyPr>
          <a:lstStyle/>
          <a:p>
            <a:pPr algn="ctr"/>
            <a:r>
              <a:rPr lang="fr-FR" sz="1800" b="1" i="0">
                <a:solidFill>
                  <a:srgbClr val="FFFFFF"/>
                </a:solidFill>
                <a:latin typeface="Calibri"/>
              </a:rPr>
              <a:t>5.</a:t>
            </a:r>
          </a:p>
        </p:txBody>
      </p:sp>
      <p:sp>
        <p:nvSpPr>
          <p:cNvPr id="30" name="Rectangle 29"/>
          <p:cNvSpPr/>
          <p:nvPr/>
        </p:nvSpPr>
        <p:spPr>
          <a:xfrm>
            <a:off x="1051560" y="4892040"/>
            <a:ext cx="10744200" cy="68580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1" name="TextBox 30"/>
          <p:cNvSpPr txBox="1"/>
          <p:nvPr/>
        </p:nvSpPr>
        <p:spPr>
          <a:xfrm>
            <a:off x="1188720" y="4937759"/>
            <a:ext cx="10561320" cy="441146"/>
          </a:xfrm>
          <a:prstGeom prst="rect">
            <a:avLst/>
          </a:prstGeom>
          <a:noFill/>
        </p:spPr>
        <p:txBody>
          <a:bodyPr wrap="square" lIns="0" tIns="0" rIns="0" bIns="0" anchor="t">
            <a:spAutoFit/>
          </a:bodyPr>
          <a:lstStyle/>
          <a:p>
            <a:pPr algn="l">
              <a:spcAft>
                <a:spcPts val="200"/>
              </a:spcAft>
            </a:pPr>
            <a:r>
              <a:rPr lang="fr-FR" sz="1600" b="1" i="0">
                <a:solidFill>
                  <a:srgbClr val="1E2D5C"/>
                </a:solidFill>
                <a:latin typeface="Calibri"/>
              </a:rPr>
              <a:t>Une QUESTION à un autre groupe précis (1 min)</a:t>
            </a:r>
          </a:p>
          <a:p>
            <a:pPr algn="l"/>
            <a:r>
              <a:rPr lang="fr-FR" sz="1100" b="0" i="0">
                <a:solidFill>
                  <a:srgbClr val="1A1A1A"/>
                </a:solidFill>
                <a:latin typeface="Calibri"/>
              </a:rPr>
              <a:t>Vous nommez le groupe. Il répondra dans la phase de débat croisé.</a:t>
            </a:r>
          </a:p>
        </p:txBody>
      </p:sp>
      <p:sp>
        <p:nvSpPr>
          <p:cNvPr id="32" name="Rectangle 31"/>
          <p:cNvSpPr/>
          <p:nvPr/>
        </p:nvSpPr>
        <p:spPr>
          <a:xfrm>
            <a:off x="365760" y="5760720"/>
            <a:ext cx="11430000" cy="594360"/>
          </a:xfrm>
          <a:prstGeom prst="rect">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3" name="TextBox 32"/>
          <p:cNvSpPr txBox="1"/>
          <p:nvPr/>
        </p:nvSpPr>
        <p:spPr>
          <a:xfrm>
            <a:off x="548640" y="5806440"/>
            <a:ext cx="11247120" cy="379591"/>
          </a:xfrm>
          <a:prstGeom prst="rect">
            <a:avLst/>
          </a:prstGeom>
          <a:noFill/>
        </p:spPr>
        <p:txBody>
          <a:bodyPr wrap="square" lIns="0" tIns="0" rIns="0" bIns="0" anchor="t">
            <a:spAutoFit/>
          </a:bodyPr>
          <a:lstStyle/>
          <a:p>
            <a:pPr algn="l">
              <a:spcAft>
                <a:spcPts val="200"/>
              </a:spcAft>
            </a:pPr>
            <a:r>
              <a:rPr lang="fr-FR" sz="1200" b="1" i="0">
                <a:solidFill>
                  <a:srgbClr val="FFFFFF"/>
                </a:solidFill>
                <a:latin typeface="Calibri"/>
              </a:rPr>
              <a:t>Synthèse animateur (5 min)</a:t>
            </a:r>
          </a:p>
          <a:p>
            <a:pPr algn="l"/>
            <a:r>
              <a:rPr lang="fr-FR" sz="1100" b="0" i="1">
                <a:solidFill>
                  <a:srgbClr val="FFFFFF"/>
                </a:solidFill>
                <a:latin typeface="Calibri"/>
              </a:rPr>
              <a:t>L'animateur fait apparaître 3 transversalités entre groupes, 2 désaccords structurants, et 1 angle mort collectif.</a:t>
            </a:r>
          </a:p>
        </p:txBody>
      </p:sp>
      <p:sp>
        <p:nvSpPr>
          <p:cNvPr id="3" name="Espace réservé du numéro de diapositive 2">
            <a:extLst>
              <a:ext uri="{FF2B5EF4-FFF2-40B4-BE49-F238E27FC236}">
                <a16:creationId xmlns:a16="http://schemas.microsoft.com/office/drawing/2014/main" id="{D3C06F33-BFF8-48C6-8018-7C979F9B8380}"/>
              </a:ext>
            </a:extLst>
          </p:cNvPr>
          <p:cNvSpPr>
            <a:spLocks noGrp="1"/>
          </p:cNvSpPr>
          <p:nvPr>
            <p:ph type="sldNum" sz="quarter" idx="4"/>
          </p:nvPr>
        </p:nvSpPr>
        <p:spPr/>
        <p:txBody>
          <a:bodyPr/>
          <a:lstStyle/>
          <a:p>
            <a:fld id="{9981E6DC-ACA4-4CC4-B142-EC9DBA1C6CBA}" type="slidenum">
              <a:rPr lang="en-US" smtClean="0"/>
              <a:pPr/>
              <a:t>57</a:t>
            </a:fld>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65760" y="3657600"/>
            <a:ext cx="1554480" cy="128016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3657600"/>
            <a:ext cx="1554480" cy="1280160"/>
          </a:xfrm>
          <a:prstGeom prst="rect">
            <a:avLst/>
          </a:prstGeom>
          <a:noFill/>
        </p:spPr>
        <p:txBody>
          <a:bodyPr wrap="square" lIns="0" tIns="0" rIns="0" bIns="0" anchor="ctr">
            <a:spAutoFit/>
          </a:bodyPr>
          <a:lstStyle/>
          <a:p>
            <a:pPr algn="ctr"/>
            <a:r>
              <a:rPr sz="4400" b="1" i="0">
                <a:solidFill>
                  <a:srgbClr val="FFFFFF"/>
                </a:solidFill>
                <a:latin typeface="Calibri"/>
              </a:rPr>
              <a:t>8.</a:t>
            </a:r>
          </a:p>
        </p:txBody>
      </p:sp>
      <p:sp>
        <p:nvSpPr>
          <p:cNvPr id="9" name="Rectangle 8"/>
          <p:cNvSpPr/>
          <p:nvPr/>
        </p:nvSpPr>
        <p:spPr>
          <a:xfrm>
            <a:off x="2011680" y="3657600"/>
            <a:ext cx="9784080" cy="128016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377440" y="3657600"/>
            <a:ext cx="9144000" cy="1280160"/>
          </a:xfrm>
          <a:prstGeom prst="rect">
            <a:avLst/>
          </a:prstGeom>
          <a:noFill/>
        </p:spPr>
        <p:txBody>
          <a:bodyPr wrap="square" lIns="0" tIns="0" rIns="0" bIns="0" anchor="ctr">
            <a:spAutoFit/>
          </a:bodyPr>
          <a:lstStyle/>
          <a:p>
            <a:pPr algn="l"/>
            <a:r>
              <a:rPr sz="3400" b="1" i="0">
                <a:solidFill>
                  <a:srgbClr val="FFFFFF"/>
                </a:solidFill>
                <a:latin typeface="Calibri"/>
              </a:rPr>
              <a:t>Synthèse et ouverture</a:t>
            </a:r>
          </a:p>
        </p:txBody>
      </p:sp>
      <p:cxnSp>
        <p:nvCxnSpPr>
          <p:cNvPr id="11" name="Connector 10"/>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3" name="Espace réservé du numéro de diapositive 2">
            <a:extLst>
              <a:ext uri="{FF2B5EF4-FFF2-40B4-BE49-F238E27FC236}">
                <a16:creationId xmlns:a16="http://schemas.microsoft.com/office/drawing/2014/main" id="{A64396F4-A7E6-4ED8-8E26-B0D85CC97FC1}"/>
              </a:ext>
            </a:extLst>
          </p:cNvPr>
          <p:cNvSpPr>
            <a:spLocks noGrp="1"/>
          </p:cNvSpPr>
          <p:nvPr>
            <p:ph type="sldNum" sz="quarter" idx="4"/>
          </p:nvPr>
        </p:nvSpPr>
        <p:spPr/>
        <p:txBody>
          <a:bodyPr/>
          <a:lstStyle/>
          <a:p>
            <a:fld id="{9981E6DC-ACA4-4CC4-B142-EC9DBA1C6CBA}" type="slidenum">
              <a:rPr lang="en-US" smtClean="0"/>
              <a:pPr/>
              <a:t>58</a:t>
            </a:fld>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14600" y="201168"/>
            <a:ext cx="9509760" cy="713232"/>
          </a:xfrm>
          <a:prstGeom prst="rect">
            <a:avLst/>
          </a:prstGeom>
          <a:noFill/>
        </p:spPr>
        <p:txBody>
          <a:bodyPr wrap="square" lIns="0" tIns="0" rIns="0" bIns="0" anchor="ctr">
            <a:spAutoFit/>
          </a:bodyPr>
          <a:lstStyle/>
          <a:p>
            <a:pPr algn="l"/>
            <a:r>
              <a:rPr sz="2600" b="1" i="0">
                <a:solidFill>
                  <a:srgbClr val="1A1A1A"/>
                </a:solidFill>
                <a:latin typeface="Calibri"/>
              </a:rPr>
              <a:t>Cinq idées clés à retenir</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65760" y="1188720"/>
            <a:ext cx="914400" cy="86868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1188720"/>
            <a:ext cx="914400" cy="868680"/>
          </a:xfrm>
          <a:prstGeom prst="rect">
            <a:avLst/>
          </a:prstGeom>
          <a:noFill/>
        </p:spPr>
        <p:txBody>
          <a:bodyPr wrap="square" lIns="0" tIns="0" rIns="0" bIns="0" anchor="ctr">
            <a:spAutoFit/>
          </a:bodyPr>
          <a:lstStyle/>
          <a:p>
            <a:pPr algn="ctr"/>
            <a:r>
              <a:rPr sz="2400" b="1" i="0">
                <a:solidFill>
                  <a:srgbClr val="FFFFFF"/>
                </a:solidFill>
                <a:latin typeface="Calibri"/>
              </a:rPr>
              <a:t>01</a:t>
            </a:r>
          </a:p>
        </p:txBody>
      </p:sp>
      <p:sp>
        <p:nvSpPr>
          <p:cNvPr id="13" name="Rectangle 12"/>
          <p:cNvSpPr/>
          <p:nvPr/>
        </p:nvSpPr>
        <p:spPr>
          <a:xfrm>
            <a:off x="1325880" y="1188720"/>
            <a:ext cx="10469880" cy="86868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508760" y="1234440"/>
            <a:ext cx="10241280" cy="384048"/>
          </a:xfrm>
          <a:prstGeom prst="rect">
            <a:avLst/>
          </a:prstGeom>
          <a:noFill/>
        </p:spPr>
        <p:txBody>
          <a:bodyPr wrap="square" lIns="0" tIns="0" rIns="0" bIns="0" anchor="t">
            <a:spAutoFit/>
          </a:bodyPr>
          <a:lstStyle/>
          <a:p>
            <a:pPr algn="l"/>
            <a:r>
              <a:rPr sz="1500" b="1" i="0">
                <a:solidFill>
                  <a:srgbClr val="1E2D5C"/>
                </a:solidFill>
                <a:latin typeface="Calibri"/>
              </a:rPr>
              <a:t>Risque = Aléa × Exposition × Vulnérabilité</a:t>
            </a:r>
          </a:p>
        </p:txBody>
      </p:sp>
      <p:sp>
        <p:nvSpPr>
          <p:cNvPr id="15" name="TextBox 14"/>
          <p:cNvSpPr txBox="1"/>
          <p:nvPr/>
        </p:nvSpPr>
        <p:spPr>
          <a:xfrm>
            <a:off x="1508760" y="1600200"/>
            <a:ext cx="10241280" cy="457200"/>
          </a:xfrm>
          <a:prstGeom prst="rect">
            <a:avLst/>
          </a:prstGeom>
          <a:noFill/>
        </p:spPr>
        <p:txBody>
          <a:bodyPr wrap="square" lIns="0" tIns="0" rIns="0" bIns="0" anchor="t">
            <a:spAutoFit/>
          </a:bodyPr>
          <a:lstStyle/>
          <a:p>
            <a:pPr algn="l"/>
            <a:r>
              <a:rPr sz="1200" b="0" i="0">
                <a:solidFill>
                  <a:srgbClr val="1A1A1A"/>
                </a:solidFill>
                <a:latin typeface="Calibri"/>
              </a:rPr>
              <a:t>Pas seulement aléa × enjeu. La résilience se construit en agissant sur les TROIS termes.</a:t>
            </a:r>
          </a:p>
        </p:txBody>
      </p:sp>
      <p:sp>
        <p:nvSpPr>
          <p:cNvPr id="16" name="Rectangle 15"/>
          <p:cNvSpPr/>
          <p:nvPr/>
        </p:nvSpPr>
        <p:spPr>
          <a:xfrm>
            <a:off x="365760" y="2148840"/>
            <a:ext cx="914400" cy="86868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760" y="2148840"/>
            <a:ext cx="914400" cy="868680"/>
          </a:xfrm>
          <a:prstGeom prst="rect">
            <a:avLst/>
          </a:prstGeom>
          <a:noFill/>
        </p:spPr>
        <p:txBody>
          <a:bodyPr wrap="square" lIns="0" tIns="0" rIns="0" bIns="0" anchor="ctr">
            <a:spAutoFit/>
          </a:bodyPr>
          <a:lstStyle/>
          <a:p>
            <a:pPr algn="ctr"/>
            <a:r>
              <a:rPr sz="2400" b="1" i="0">
                <a:solidFill>
                  <a:srgbClr val="FFFFFF"/>
                </a:solidFill>
                <a:latin typeface="Calibri"/>
              </a:rPr>
              <a:t>02</a:t>
            </a:r>
          </a:p>
        </p:txBody>
      </p:sp>
      <p:sp>
        <p:nvSpPr>
          <p:cNvPr id="18" name="Rectangle 17"/>
          <p:cNvSpPr/>
          <p:nvPr/>
        </p:nvSpPr>
        <p:spPr>
          <a:xfrm>
            <a:off x="1325880" y="2148840"/>
            <a:ext cx="10469880" cy="86868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508760" y="2194560"/>
            <a:ext cx="10241280" cy="384048"/>
          </a:xfrm>
          <a:prstGeom prst="rect">
            <a:avLst/>
          </a:prstGeom>
          <a:noFill/>
        </p:spPr>
        <p:txBody>
          <a:bodyPr wrap="square" lIns="0" tIns="0" rIns="0" bIns="0" anchor="t">
            <a:spAutoFit/>
          </a:bodyPr>
          <a:lstStyle/>
          <a:p>
            <a:pPr algn="l"/>
            <a:r>
              <a:rPr sz="1500" b="1" i="0">
                <a:solidFill>
                  <a:srgbClr val="1E2D5C"/>
                </a:solidFill>
                <a:latin typeface="Calibri"/>
              </a:rPr>
              <a:t>La résilience est un cycle, pas un état</a:t>
            </a:r>
          </a:p>
        </p:txBody>
      </p:sp>
      <p:sp>
        <p:nvSpPr>
          <p:cNvPr id="20" name="TextBox 19"/>
          <p:cNvSpPr txBox="1"/>
          <p:nvPr/>
        </p:nvSpPr>
        <p:spPr>
          <a:xfrm>
            <a:off x="1508760" y="2560320"/>
            <a:ext cx="10241280" cy="457200"/>
          </a:xfrm>
          <a:prstGeom prst="rect">
            <a:avLst/>
          </a:prstGeom>
          <a:noFill/>
        </p:spPr>
        <p:txBody>
          <a:bodyPr wrap="square" lIns="0" tIns="0" rIns="0" bIns="0" anchor="t">
            <a:spAutoFit/>
          </a:bodyPr>
          <a:lstStyle/>
          <a:p>
            <a:pPr algn="l"/>
            <a:r>
              <a:rPr sz="1200" b="0" i="0">
                <a:solidFill>
                  <a:srgbClr val="1A1A1A"/>
                </a:solidFill>
                <a:latin typeface="Calibri"/>
              </a:rPr>
              <a:t>Anticipation → crise → gestion → relèvement → REX → anticipation. Chaque étape nourrit la suivante.</a:t>
            </a:r>
          </a:p>
        </p:txBody>
      </p:sp>
      <p:sp>
        <p:nvSpPr>
          <p:cNvPr id="21" name="Rectangle 20"/>
          <p:cNvSpPr/>
          <p:nvPr/>
        </p:nvSpPr>
        <p:spPr>
          <a:xfrm>
            <a:off x="365760" y="3108960"/>
            <a:ext cx="914400" cy="86868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3108960"/>
            <a:ext cx="914400" cy="868680"/>
          </a:xfrm>
          <a:prstGeom prst="rect">
            <a:avLst/>
          </a:prstGeom>
          <a:noFill/>
        </p:spPr>
        <p:txBody>
          <a:bodyPr wrap="square" lIns="0" tIns="0" rIns="0" bIns="0" anchor="ctr">
            <a:spAutoFit/>
          </a:bodyPr>
          <a:lstStyle/>
          <a:p>
            <a:pPr algn="ctr"/>
            <a:r>
              <a:rPr sz="2400" b="1" i="0">
                <a:solidFill>
                  <a:srgbClr val="FFFFFF"/>
                </a:solidFill>
                <a:latin typeface="Calibri"/>
              </a:rPr>
              <a:t>03</a:t>
            </a:r>
          </a:p>
        </p:txBody>
      </p:sp>
      <p:sp>
        <p:nvSpPr>
          <p:cNvPr id="23" name="Rectangle 22"/>
          <p:cNvSpPr/>
          <p:nvPr/>
        </p:nvSpPr>
        <p:spPr>
          <a:xfrm>
            <a:off x="1325880" y="3108960"/>
            <a:ext cx="10469880" cy="86868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508760" y="3154680"/>
            <a:ext cx="10241280" cy="384048"/>
          </a:xfrm>
          <a:prstGeom prst="rect">
            <a:avLst/>
          </a:prstGeom>
          <a:noFill/>
        </p:spPr>
        <p:txBody>
          <a:bodyPr wrap="square" lIns="0" tIns="0" rIns="0" bIns="0" anchor="t">
            <a:spAutoFit/>
          </a:bodyPr>
          <a:lstStyle/>
          <a:p>
            <a:pPr algn="l"/>
            <a:r>
              <a:rPr sz="1500" b="1" i="0">
                <a:solidFill>
                  <a:srgbClr val="1E2D5C"/>
                </a:solidFill>
                <a:latin typeface="Calibri"/>
              </a:rPr>
              <a:t>L'échelle pertinente est rarement la commune seule</a:t>
            </a:r>
          </a:p>
        </p:txBody>
      </p:sp>
      <p:sp>
        <p:nvSpPr>
          <p:cNvPr id="25" name="TextBox 24"/>
          <p:cNvSpPr txBox="1"/>
          <p:nvPr/>
        </p:nvSpPr>
        <p:spPr>
          <a:xfrm>
            <a:off x="1508760" y="3520440"/>
            <a:ext cx="10241280" cy="457200"/>
          </a:xfrm>
          <a:prstGeom prst="rect">
            <a:avLst/>
          </a:prstGeom>
          <a:noFill/>
        </p:spPr>
        <p:txBody>
          <a:bodyPr wrap="square" lIns="0" tIns="0" rIns="0" bIns="0" anchor="t">
            <a:spAutoFit/>
          </a:bodyPr>
          <a:lstStyle/>
          <a:p>
            <a:pPr algn="l"/>
            <a:r>
              <a:rPr sz="1200" b="0" i="0">
                <a:solidFill>
                  <a:srgbClr val="1A1A1A"/>
                </a:solidFill>
                <a:latin typeface="Calibri"/>
              </a:rPr>
              <a:t>Bassin versant, cellule sédimentaire, EPCI, territoire de projet : choisir consciemment l'échelle, et l'articuler avec les compétences (Gemapi, urbanisme…).</a:t>
            </a:r>
          </a:p>
        </p:txBody>
      </p:sp>
      <p:sp>
        <p:nvSpPr>
          <p:cNvPr id="26" name="Rectangle 25"/>
          <p:cNvSpPr/>
          <p:nvPr/>
        </p:nvSpPr>
        <p:spPr>
          <a:xfrm>
            <a:off x="365760" y="4069080"/>
            <a:ext cx="914400" cy="86868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65760" y="4069080"/>
            <a:ext cx="914400" cy="868680"/>
          </a:xfrm>
          <a:prstGeom prst="rect">
            <a:avLst/>
          </a:prstGeom>
          <a:noFill/>
        </p:spPr>
        <p:txBody>
          <a:bodyPr wrap="square" lIns="0" tIns="0" rIns="0" bIns="0" anchor="ctr">
            <a:spAutoFit/>
          </a:bodyPr>
          <a:lstStyle/>
          <a:p>
            <a:pPr algn="ctr"/>
            <a:r>
              <a:rPr sz="2400" b="1" i="0">
                <a:solidFill>
                  <a:srgbClr val="FFFFFF"/>
                </a:solidFill>
                <a:latin typeface="Calibri"/>
              </a:rPr>
              <a:t>04</a:t>
            </a:r>
          </a:p>
        </p:txBody>
      </p:sp>
      <p:sp>
        <p:nvSpPr>
          <p:cNvPr id="28" name="Rectangle 27"/>
          <p:cNvSpPr/>
          <p:nvPr/>
        </p:nvSpPr>
        <p:spPr>
          <a:xfrm>
            <a:off x="1325880" y="4069080"/>
            <a:ext cx="10469880" cy="86868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508760" y="4114800"/>
            <a:ext cx="10241280" cy="384048"/>
          </a:xfrm>
          <a:prstGeom prst="rect">
            <a:avLst/>
          </a:prstGeom>
          <a:noFill/>
        </p:spPr>
        <p:txBody>
          <a:bodyPr wrap="square" lIns="0" tIns="0" rIns="0" bIns="0" anchor="t">
            <a:spAutoFit/>
          </a:bodyPr>
          <a:lstStyle/>
          <a:p>
            <a:pPr algn="l"/>
            <a:r>
              <a:rPr sz="1500" b="1" i="0">
                <a:solidFill>
                  <a:srgbClr val="1E2D5C"/>
                </a:solidFill>
                <a:latin typeface="Calibri"/>
              </a:rPr>
              <a:t>L'aménagement est le levier le plus puissant</a:t>
            </a:r>
          </a:p>
        </p:txBody>
      </p:sp>
      <p:sp>
        <p:nvSpPr>
          <p:cNvPr id="30" name="TextBox 29"/>
          <p:cNvSpPr txBox="1"/>
          <p:nvPr/>
        </p:nvSpPr>
        <p:spPr>
          <a:xfrm>
            <a:off x="1508760" y="4480560"/>
            <a:ext cx="10241280" cy="457200"/>
          </a:xfrm>
          <a:prstGeom prst="rect">
            <a:avLst/>
          </a:prstGeom>
          <a:noFill/>
        </p:spPr>
        <p:txBody>
          <a:bodyPr wrap="square" lIns="0" tIns="0" rIns="0" bIns="0" anchor="t">
            <a:spAutoFit/>
          </a:bodyPr>
          <a:lstStyle/>
          <a:p>
            <a:pPr algn="l"/>
            <a:r>
              <a:rPr sz="1200" b="0" i="0">
                <a:solidFill>
                  <a:srgbClr val="1A1A1A"/>
                </a:solidFill>
                <a:latin typeface="Calibri"/>
              </a:rPr>
              <a:t>PLU(i), SCoT, OAP « résilience », outils fonciers (EPF, ORE, DIG/DUP). Le maire et l'EPCI tiennent la clé du long terme.</a:t>
            </a:r>
          </a:p>
        </p:txBody>
      </p:sp>
      <p:sp>
        <p:nvSpPr>
          <p:cNvPr id="31" name="Rectangle 30"/>
          <p:cNvSpPr/>
          <p:nvPr/>
        </p:nvSpPr>
        <p:spPr>
          <a:xfrm>
            <a:off x="365760" y="5029200"/>
            <a:ext cx="914400" cy="86868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65760" y="5029200"/>
            <a:ext cx="914400" cy="868680"/>
          </a:xfrm>
          <a:prstGeom prst="rect">
            <a:avLst/>
          </a:prstGeom>
          <a:noFill/>
        </p:spPr>
        <p:txBody>
          <a:bodyPr wrap="square" lIns="0" tIns="0" rIns="0" bIns="0" anchor="ctr">
            <a:spAutoFit/>
          </a:bodyPr>
          <a:lstStyle/>
          <a:p>
            <a:pPr algn="ctr"/>
            <a:r>
              <a:rPr sz="2400" b="1" i="0">
                <a:solidFill>
                  <a:srgbClr val="FFFFFF"/>
                </a:solidFill>
                <a:latin typeface="Calibri"/>
              </a:rPr>
              <a:t>05</a:t>
            </a:r>
          </a:p>
        </p:txBody>
      </p:sp>
      <p:sp>
        <p:nvSpPr>
          <p:cNvPr id="33" name="Rectangle 32"/>
          <p:cNvSpPr/>
          <p:nvPr/>
        </p:nvSpPr>
        <p:spPr>
          <a:xfrm>
            <a:off x="1325880" y="5029200"/>
            <a:ext cx="10469880" cy="86868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508760" y="5074920"/>
            <a:ext cx="10241280" cy="384048"/>
          </a:xfrm>
          <a:prstGeom prst="rect">
            <a:avLst/>
          </a:prstGeom>
          <a:noFill/>
        </p:spPr>
        <p:txBody>
          <a:bodyPr wrap="square" lIns="0" tIns="0" rIns="0" bIns="0" anchor="t">
            <a:spAutoFit/>
          </a:bodyPr>
          <a:lstStyle/>
          <a:p>
            <a:pPr algn="l"/>
            <a:r>
              <a:rPr sz="1500" b="1" i="0">
                <a:solidFill>
                  <a:srgbClr val="1E2D5C"/>
                </a:solidFill>
                <a:latin typeface="Calibri"/>
              </a:rPr>
              <a:t>La gouvernance fait la différence</a:t>
            </a:r>
          </a:p>
        </p:txBody>
      </p:sp>
      <p:sp>
        <p:nvSpPr>
          <p:cNvPr id="35" name="TextBox 34"/>
          <p:cNvSpPr txBox="1"/>
          <p:nvPr/>
        </p:nvSpPr>
        <p:spPr>
          <a:xfrm>
            <a:off x="1508760" y="5440680"/>
            <a:ext cx="10241280" cy="457200"/>
          </a:xfrm>
          <a:prstGeom prst="rect">
            <a:avLst/>
          </a:prstGeom>
          <a:noFill/>
        </p:spPr>
        <p:txBody>
          <a:bodyPr wrap="square" lIns="0" tIns="0" rIns="0" bIns="0" anchor="t">
            <a:spAutoFit/>
          </a:bodyPr>
          <a:lstStyle/>
          <a:p>
            <a:pPr algn="l"/>
            <a:r>
              <a:rPr sz="1200" b="0" i="0">
                <a:solidFill>
                  <a:srgbClr val="1A1A1A"/>
                </a:solidFill>
                <a:latin typeface="Calibri"/>
              </a:rPr>
              <a:t>Préfet — pivot territorial (décret 2025-723), CDRNM élargie, feuille de route départementale, Réserves communales. La résilience est un projet collectif.</a:t>
            </a:r>
          </a:p>
        </p:txBody>
      </p:sp>
      <p:sp>
        <p:nvSpPr>
          <p:cNvPr id="3" name="Espace réservé du numéro de diapositive 2">
            <a:extLst>
              <a:ext uri="{FF2B5EF4-FFF2-40B4-BE49-F238E27FC236}">
                <a16:creationId xmlns:a16="http://schemas.microsoft.com/office/drawing/2014/main" id="{4AA4D73B-AF1C-4044-AC67-044A40D8E7D0}"/>
              </a:ext>
            </a:extLst>
          </p:cNvPr>
          <p:cNvSpPr>
            <a:spLocks noGrp="1"/>
          </p:cNvSpPr>
          <p:nvPr>
            <p:ph type="sldNum" sz="quarter" idx="4"/>
          </p:nvPr>
        </p:nvSpPr>
        <p:spPr/>
        <p:txBody>
          <a:bodyPr/>
          <a:lstStyle/>
          <a:p>
            <a:fld id="{9981E6DC-ACA4-4CC4-B142-EC9DBA1C6CBA}" type="slidenum">
              <a:rPr lang="en-US" smtClean="0"/>
              <a:pPr/>
              <a:t>59</a:t>
            </a:fld>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TextBox 7"/>
          <p:cNvSpPr txBox="1"/>
          <p:nvPr/>
        </p:nvSpPr>
        <p:spPr>
          <a:xfrm>
            <a:off x="2514600" y="357729"/>
            <a:ext cx="9509760" cy="400110"/>
          </a:xfrm>
          <a:prstGeom prst="rect">
            <a:avLst/>
          </a:prstGeom>
          <a:noFill/>
        </p:spPr>
        <p:txBody>
          <a:bodyPr wrap="square" lIns="0" tIns="0" rIns="0" bIns="0" anchor="ctr">
            <a:spAutoFit/>
          </a:bodyPr>
          <a:lstStyle/>
          <a:p>
            <a:pPr algn="l"/>
            <a:r>
              <a:rPr lang="fr-FR" sz="2600" b="1" i="0">
                <a:solidFill>
                  <a:srgbClr val="1A1A1A"/>
                </a:solidFill>
                <a:latin typeface="Calibri"/>
              </a:rPr>
              <a:t>Pour aller plus loin — ressources</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65760" y="1188720"/>
            <a:ext cx="2286000" cy="118872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2" name="TextBox 11"/>
          <p:cNvSpPr txBox="1"/>
          <p:nvPr/>
        </p:nvSpPr>
        <p:spPr>
          <a:xfrm>
            <a:off x="365760" y="1690747"/>
            <a:ext cx="2286000" cy="184666"/>
          </a:xfrm>
          <a:prstGeom prst="rect">
            <a:avLst/>
          </a:prstGeom>
          <a:noFill/>
        </p:spPr>
        <p:txBody>
          <a:bodyPr wrap="square" lIns="0" tIns="0" rIns="0" bIns="0" anchor="ctr">
            <a:spAutoFit/>
          </a:bodyPr>
          <a:lstStyle/>
          <a:p>
            <a:pPr algn="ctr"/>
            <a:r>
              <a:rPr lang="fr-FR" sz="1200" b="1" i="0">
                <a:solidFill>
                  <a:srgbClr val="FFFFFF"/>
                </a:solidFill>
                <a:latin typeface="Calibri"/>
              </a:rPr>
              <a:t>RAPPORTS</a:t>
            </a:r>
          </a:p>
        </p:txBody>
      </p:sp>
      <p:sp>
        <p:nvSpPr>
          <p:cNvPr id="13" name="Rectangle 12"/>
          <p:cNvSpPr/>
          <p:nvPr/>
        </p:nvSpPr>
        <p:spPr>
          <a:xfrm>
            <a:off x="2697480" y="1188720"/>
            <a:ext cx="9098280" cy="118872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4" name="TextBox 13"/>
          <p:cNvSpPr txBox="1"/>
          <p:nvPr/>
        </p:nvSpPr>
        <p:spPr>
          <a:xfrm>
            <a:off x="2834640" y="1280160"/>
            <a:ext cx="8915400" cy="677108"/>
          </a:xfrm>
          <a:prstGeom prst="rect">
            <a:avLst/>
          </a:prstGeom>
          <a:noFill/>
        </p:spPr>
        <p:txBody>
          <a:bodyPr wrap="square" lIns="0" tIns="0" rIns="0" bIns="0" anchor="t">
            <a:spAutoFit/>
          </a:bodyPr>
          <a:lstStyle/>
          <a:p>
            <a:pPr algn="l"/>
            <a:r>
              <a:rPr lang="fr-FR" sz="1100" b="0" i="0">
                <a:solidFill>
                  <a:srgbClr val="1A1A1A"/>
                </a:solidFill>
                <a:latin typeface="Calibri"/>
              </a:rPr>
              <a:t>Plans de résilience pour les Alpes françaises (IGEDD/IGA/IGSC, déc. 2025)
Rapport Dantec/Pipien — REX inondations (CGEDD, 2019) + Guide Cerema « Après inondation »
Mission d'expertise risque d'avalanche (IGEDD/IGA/IGSC, 2025)
Adaptation de la Sécurité civile face aux défis climatiques 2050 (DGSCGC, 2023)</a:t>
            </a:r>
          </a:p>
        </p:txBody>
      </p:sp>
      <p:sp>
        <p:nvSpPr>
          <p:cNvPr id="15" name="Rectangle 14"/>
          <p:cNvSpPr/>
          <p:nvPr/>
        </p:nvSpPr>
        <p:spPr>
          <a:xfrm>
            <a:off x="365760" y="2468880"/>
            <a:ext cx="2286000" cy="118872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6" name="TextBox 15"/>
          <p:cNvSpPr txBox="1"/>
          <p:nvPr/>
        </p:nvSpPr>
        <p:spPr>
          <a:xfrm>
            <a:off x="365760" y="2970907"/>
            <a:ext cx="2286000" cy="184666"/>
          </a:xfrm>
          <a:prstGeom prst="rect">
            <a:avLst/>
          </a:prstGeom>
          <a:noFill/>
        </p:spPr>
        <p:txBody>
          <a:bodyPr wrap="square" lIns="0" tIns="0" rIns="0" bIns="0" anchor="ctr">
            <a:spAutoFit/>
          </a:bodyPr>
          <a:lstStyle/>
          <a:p>
            <a:pPr algn="ctr"/>
            <a:r>
              <a:rPr lang="fr-FR" sz="1200" b="1" i="0">
                <a:solidFill>
                  <a:srgbClr val="FFFFFF"/>
                </a:solidFill>
                <a:latin typeface="Calibri"/>
              </a:rPr>
              <a:t>CADRE DE POLITIQUE PUBLIQUE</a:t>
            </a:r>
          </a:p>
        </p:txBody>
      </p:sp>
      <p:sp>
        <p:nvSpPr>
          <p:cNvPr id="17" name="Rectangle 16"/>
          <p:cNvSpPr/>
          <p:nvPr/>
        </p:nvSpPr>
        <p:spPr>
          <a:xfrm>
            <a:off x="2697480" y="2468880"/>
            <a:ext cx="9098280" cy="118872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8" name="TextBox 17"/>
          <p:cNvSpPr txBox="1"/>
          <p:nvPr/>
        </p:nvSpPr>
        <p:spPr>
          <a:xfrm>
            <a:off x="2834640" y="2560320"/>
            <a:ext cx="8915400" cy="677108"/>
          </a:xfrm>
          <a:prstGeom prst="rect">
            <a:avLst/>
          </a:prstGeom>
          <a:noFill/>
        </p:spPr>
        <p:txBody>
          <a:bodyPr wrap="square" lIns="0" tIns="0" rIns="0" bIns="0" anchor="t">
            <a:spAutoFit/>
          </a:bodyPr>
          <a:lstStyle/>
          <a:p>
            <a:pPr algn="l"/>
            <a:r>
              <a:rPr lang="fr-FR" sz="1100" b="0" i="0">
                <a:solidFill>
                  <a:srgbClr val="1A1A1A"/>
                </a:solidFill>
                <a:latin typeface="Calibri"/>
              </a:rPr>
              <a:t>PNACC-3 — Plan national d'adaptation au changement climatique (10 mars 2025)
TRACC — Trajectoire de réchauffement de référence (décret 26 janvier 2026)
Stratégie nationale de gestion intégrée du trait de côte (2017, actualisée)
Décret 2025-723 du 30 juillet 2025 — pouvoirs des préfets</a:t>
            </a:r>
          </a:p>
        </p:txBody>
      </p:sp>
      <p:sp>
        <p:nvSpPr>
          <p:cNvPr id="19" name="Rectangle 18"/>
          <p:cNvSpPr/>
          <p:nvPr/>
        </p:nvSpPr>
        <p:spPr>
          <a:xfrm>
            <a:off x="365760" y="3749039"/>
            <a:ext cx="2286000" cy="118872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0" name="TextBox 19"/>
          <p:cNvSpPr txBox="1"/>
          <p:nvPr/>
        </p:nvSpPr>
        <p:spPr>
          <a:xfrm>
            <a:off x="365760" y="4251066"/>
            <a:ext cx="2286000" cy="184666"/>
          </a:xfrm>
          <a:prstGeom prst="rect">
            <a:avLst/>
          </a:prstGeom>
          <a:noFill/>
        </p:spPr>
        <p:txBody>
          <a:bodyPr wrap="square" lIns="0" tIns="0" rIns="0" bIns="0" anchor="ctr">
            <a:spAutoFit/>
          </a:bodyPr>
          <a:lstStyle/>
          <a:p>
            <a:pPr algn="ctr"/>
            <a:r>
              <a:rPr lang="fr-FR" sz="1200" b="1" i="0">
                <a:solidFill>
                  <a:srgbClr val="FFFFFF"/>
                </a:solidFill>
                <a:latin typeface="Calibri"/>
              </a:rPr>
              <a:t>OUTILS POUR LES TERRITOIRES</a:t>
            </a:r>
          </a:p>
        </p:txBody>
      </p:sp>
      <p:sp>
        <p:nvSpPr>
          <p:cNvPr id="21" name="Rectangle 20"/>
          <p:cNvSpPr/>
          <p:nvPr/>
        </p:nvSpPr>
        <p:spPr>
          <a:xfrm>
            <a:off x="2697480" y="3749039"/>
            <a:ext cx="9098280" cy="118872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2" name="TextBox 21"/>
          <p:cNvSpPr txBox="1"/>
          <p:nvPr/>
        </p:nvSpPr>
        <p:spPr>
          <a:xfrm>
            <a:off x="2834640" y="3840479"/>
            <a:ext cx="8915400" cy="677108"/>
          </a:xfrm>
          <a:prstGeom prst="rect">
            <a:avLst/>
          </a:prstGeom>
          <a:noFill/>
        </p:spPr>
        <p:txBody>
          <a:bodyPr wrap="square" lIns="0" tIns="0" rIns="0" bIns="0" anchor="t">
            <a:spAutoFit/>
          </a:bodyPr>
          <a:lstStyle/>
          <a:p>
            <a:pPr algn="l"/>
            <a:r>
              <a:rPr lang="fr-FR" sz="1100" b="0" i="0">
                <a:solidFill>
                  <a:srgbClr val="1A1A1A"/>
                </a:solidFill>
                <a:latin typeface="Calibri"/>
              </a:rPr>
              <a:t>georisques.gouv.fr  ·  errial.georisques.gouv.fr
Centre de ressources adaptation au changement climatique (Cerema/Ademe)
Mission Adaptation (lancée nov. 2024) — guichet unique des collectivités
Outils Cerema : Outil2Aménagement, ROL, ONML</a:t>
            </a:r>
          </a:p>
        </p:txBody>
      </p:sp>
      <p:sp>
        <p:nvSpPr>
          <p:cNvPr id="23" name="Rectangle 22"/>
          <p:cNvSpPr/>
          <p:nvPr/>
        </p:nvSpPr>
        <p:spPr>
          <a:xfrm>
            <a:off x="365760" y="5029200"/>
            <a:ext cx="2286000" cy="1188720"/>
          </a:xfrm>
          <a:prstGeom prst="rect">
            <a:avLst/>
          </a:prstGeom>
          <a:solidFill>
            <a:srgbClr val="328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4" name="TextBox 23"/>
          <p:cNvSpPr txBox="1"/>
          <p:nvPr/>
        </p:nvSpPr>
        <p:spPr>
          <a:xfrm>
            <a:off x="365760" y="5531227"/>
            <a:ext cx="2286000" cy="184666"/>
          </a:xfrm>
          <a:prstGeom prst="rect">
            <a:avLst/>
          </a:prstGeom>
          <a:noFill/>
        </p:spPr>
        <p:txBody>
          <a:bodyPr wrap="square" lIns="0" tIns="0" rIns="0" bIns="0" anchor="ctr">
            <a:spAutoFit/>
          </a:bodyPr>
          <a:lstStyle/>
          <a:p>
            <a:pPr algn="ctr"/>
            <a:r>
              <a:rPr lang="fr-FR" sz="1200" b="1" i="0">
                <a:solidFill>
                  <a:srgbClr val="FFFFFF"/>
                </a:solidFill>
                <a:latin typeface="Calibri"/>
              </a:rPr>
              <a:t>FORMATIONS &amp; RÉSEAUX</a:t>
            </a:r>
          </a:p>
        </p:txBody>
      </p:sp>
      <p:sp>
        <p:nvSpPr>
          <p:cNvPr id="25" name="Rectangle 24"/>
          <p:cNvSpPr/>
          <p:nvPr/>
        </p:nvSpPr>
        <p:spPr>
          <a:xfrm>
            <a:off x="2697480" y="5029200"/>
            <a:ext cx="9098280" cy="118872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6" name="TextBox 25"/>
          <p:cNvSpPr txBox="1"/>
          <p:nvPr/>
        </p:nvSpPr>
        <p:spPr>
          <a:xfrm>
            <a:off x="2834640" y="5120640"/>
            <a:ext cx="8915400" cy="507831"/>
          </a:xfrm>
          <a:prstGeom prst="rect">
            <a:avLst/>
          </a:prstGeom>
          <a:noFill/>
        </p:spPr>
        <p:txBody>
          <a:bodyPr wrap="square" lIns="0" tIns="0" rIns="0" bIns="0" anchor="t">
            <a:spAutoFit/>
          </a:bodyPr>
          <a:lstStyle/>
          <a:p>
            <a:pPr algn="l"/>
            <a:r>
              <a:rPr lang="fr-FR" sz="1100" b="0" i="0">
                <a:solidFill>
                  <a:srgbClr val="1A1A1A"/>
                </a:solidFill>
                <a:latin typeface="Calibri"/>
              </a:rPr>
              <a:t>AFPCNT — Association française pour la prévention des catastrophes naturelles et technologiques
PARN (Pôle Alpin Risques Naturels) et son équivalent ROL pour le littoral
Journée nationale de la résilience — 13 octobre</a:t>
            </a:r>
          </a:p>
        </p:txBody>
      </p:sp>
      <p:sp>
        <p:nvSpPr>
          <p:cNvPr id="3" name="Espace réservé du numéro de diapositive 2">
            <a:extLst>
              <a:ext uri="{FF2B5EF4-FFF2-40B4-BE49-F238E27FC236}">
                <a16:creationId xmlns:a16="http://schemas.microsoft.com/office/drawing/2014/main" id="{1BE49A53-EFA9-4D0B-BDF7-23BC96858764}"/>
              </a:ext>
            </a:extLst>
          </p:cNvPr>
          <p:cNvSpPr>
            <a:spLocks noGrp="1"/>
          </p:cNvSpPr>
          <p:nvPr>
            <p:ph type="sldNum" sz="quarter" idx="4"/>
          </p:nvPr>
        </p:nvSpPr>
        <p:spPr/>
        <p:txBody>
          <a:bodyPr/>
          <a:lstStyle/>
          <a:p>
            <a:fld id="{9981E6DC-ACA4-4CC4-B142-EC9DBA1C6CBA}" type="slidenum">
              <a:rPr lang="en-US" smtClean="0"/>
              <a:pPr/>
              <a:t>60</a:t>
            </a:fld>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331720" y="164592"/>
            <a:ext cx="969264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14600" y="201168"/>
            <a:ext cx="9509760" cy="713232"/>
          </a:xfrm>
          <a:prstGeom prst="rect">
            <a:avLst/>
          </a:prstGeom>
          <a:noFill/>
        </p:spPr>
        <p:txBody>
          <a:bodyPr wrap="square" lIns="0" tIns="0" rIns="0" bIns="0" anchor="ctr">
            <a:spAutoFit/>
          </a:bodyPr>
          <a:lstStyle/>
          <a:p>
            <a:pPr algn="l"/>
            <a:r>
              <a:rPr sz="2600" b="1" i="0">
                <a:solidFill>
                  <a:srgbClr val="1A1A1A"/>
                </a:solidFill>
                <a:latin typeface="Calibri"/>
              </a:rPr>
              <a:t>Évaluation à chaud — 3 minutes par personne</a:t>
            </a:r>
          </a:p>
        </p:txBody>
      </p:sp>
      <p:cxnSp>
        <p:nvCxnSpPr>
          <p:cNvPr id="9" name="Connector 8"/>
          <p:cNvCxnSpPr/>
          <p:nvPr/>
        </p:nvCxnSpPr>
        <p:spPr>
          <a:xfrm>
            <a:off x="365760" y="6492240"/>
            <a:ext cx="1147572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1188720"/>
            <a:ext cx="11247120" cy="2431435"/>
          </a:xfrm>
          <a:prstGeom prst="rect">
            <a:avLst/>
          </a:prstGeom>
          <a:noFill/>
        </p:spPr>
        <p:txBody>
          <a:bodyPr wrap="square" lIns="0" tIns="0" rIns="0" bIns="0" anchor="t">
            <a:spAutoFit/>
          </a:bodyPr>
          <a:lstStyle/>
          <a:p>
            <a:pPr algn="l">
              <a:spcAft>
                <a:spcPts val="1800"/>
              </a:spcAft>
            </a:pPr>
            <a:r>
              <a:rPr sz="1600" b="1" i="0" dirty="0">
                <a:solidFill>
                  <a:srgbClr val="328088"/>
                </a:solidFill>
                <a:latin typeface="Calibri"/>
              </a:rPr>
              <a:t>Format minute  ·  4 questions </a:t>
            </a:r>
            <a:r>
              <a:rPr sz="1600" b="1" i="0" dirty="0" err="1">
                <a:solidFill>
                  <a:srgbClr val="328088"/>
                </a:solidFill>
                <a:latin typeface="Calibri"/>
              </a:rPr>
              <a:t>courtes</a:t>
            </a:r>
            <a:endParaRPr sz="1600" b="1" i="0" dirty="0">
              <a:solidFill>
                <a:srgbClr val="328088"/>
              </a:solidFill>
              <a:latin typeface="Calibri"/>
            </a:endParaRPr>
          </a:p>
          <a:p>
            <a:pPr algn="l">
              <a:spcAft>
                <a:spcPts val="1400"/>
              </a:spcAft>
            </a:pPr>
            <a:r>
              <a:rPr sz="1600" b="0" i="0" dirty="0">
                <a:solidFill>
                  <a:srgbClr val="1A1A1A"/>
                </a:solidFill>
                <a:latin typeface="Calibri"/>
              </a:rPr>
              <a:t>1.  Une chose que je SAVAIS DÉJÀ et qui a </a:t>
            </a:r>
            <a:r>
              <a:rPr sz="1600" b="0" i="0" dirty="0" err="1">
                <a:solidFill>
                  <a:srgbClr val="1A1A1A"/>
                </a:solidFill>
                <a:latin typeface="Calibri"/>
              </a:rPr>
              <a:t>été</a:t>
            </a:r>
            <a:r>
              <a:rPr sz="1600" b="0" i="0" dirty="0">
                <a:solidFill>
                  <a:srgbClr val="1A1A1A"/>
                </a:solidFill>
                <a:latin typeface="Calibri"/>
              </a:rPr>
              <a:t> </a:t>
            </a:r>
            <a:r>
              <a:rPr sz="1600" b="0" i="0" dirty="0" err="1">
                <a:solidFill>
                  <a:srgbClr val="1A1A1A"/>
                </a:solidFill>
                <a:latin typeface="Calibri"/>
              </a:rPr>
              <a:t>confirmée</a:t>
            </a:r>
            <a:endParaRPr sz="1600" b="0" i="0" dirty="0">
              <a:solidFill>
                <a:srgbClr val="1A1A1A"/>
              </a:solidFill>
              <a:latin typeface="Calibri"/>
            </a:endParaRPr>
          </a:p>
          <a:p>
            <a:pPr algn="l">
              <a:spcAft>
                <a:spcPts val="1400"/>
              </a:spcAft>
            </a:pPr>
            <a:r>
              <a:rPr sz="1600" b="0" i="0" dirty="0">
                <a:solidFill>
                  <a:srgbClr val="1A1A1A"/>
                </a:solidFill>
                <a:latin typeface="Calibri"/>
              </a:rPr>
              <a:t>2.  Une chose que </a:t>
            </a:r>
            <a:r>
              <a:rPr sz="1600" b="0" i="0" dirty="0" err="1">
                <a:solidFill>
                  <a:srgbClr val="1A1A1A"/>
                </a:solidFill>
                <a:latin typeface="Calibri"/>
              </a:rPr>
              <a:t>j'ai</a:t>
            </a:r>
            <a:r>
              <a:rPr sz="1600" b="0" i="0" dirty="0">
                <a:solidFill>
                  <a:srgbClr val="1A1A1A"/>
                </a:solidFill>
                <a:latin typeface="Calibri"/>
              </a:rPr>
              <a:t> DÉCOUVERTE </a:t>
            </a:r>
            <a:r>
              <a:rPr sz="1600" b="0" i="0" dirty="0" err="1">
                <a:solidFill>
                  <a:srgbClr val="1A1A1A"/>
                </a:solidFill>
                <a:latin typeface="Calibri"/>
              </a:rPr>
              <a:t>aujourd'hui</a:t>
            </a:r>
            <a:endParaRPr sz="1600" b="0" i="0" dirty="0">
              <a:solidFill>
                <a:srgbClr val="1A1A1A"/>
              </a:solidFill>
              <a:latin typeface="Calibri"/>
            </a:endParaRPr>
          </a:p>
          <a:p>
            <a:pPr algn="l">
              <a:spcAft>
                <a:spcPts val="1400"/>
              </a:spcAft>
            </a:pPr>
            <a:r>
              <a:rPr sz="1600" b="0" i="0" dirty="0">
                <a:solidFill>
                  <a:srgbClr val="1A1A1A"/>
                </a:solidFill>
                <a:latin typeface="Calibri"/>
              </a:rPr>
              <a:t>3.  Une chose que je </a:t>
            </a:r>
            <a:r>
              <a:rPr sz="1600" b="0" i="0" dirty="0" err="1">
                <a:solidFill>
                  <a:srgbClr val="1A1A1A"/>
                </a:solidFill>
                <a:latin typeface="Calibri"/>
              </a:rPr>
              <a:t>vais</a:t>
            </a:r>
            <a:r>
              <a:rPr sz="1600" b="0" i="0" dirty="0">
                <a:solidFill>
                  <a:srgbClr val="1A1A1A"/>
                </a:solidFill>
                <a:latin typeface="Calibri"/>
              </a:rPr>
              <a:t> APPLIQUER </a:t>
            </a:r>
            <a:r>
              <a:rPr sz="1600" b="0" i="0" dirty="0" err="1">
                <a:solidFill>
                  <a:srgbClr val="1A1A1A"/>
                </a:solidFill>
                <a:latin typeface="Calibri"/>
              </a:rPr>
              <a:t>concrètement</a:t>
            </a:r>
            <a:r>
              <a:rPr sz="1600" b="0" i="0" dirty="0">
                <a:solidFill>
                  <a:srgbClr val="1A1A1A"/>
                </a:solidFill>
                <a:latin typeface="Calibri"/>
              </a:rPr>
              <a:t> </a:t>
            </a:r>
            <a:r>
              <a:rPr sz="1600" b="0" i="0" dirty="0" err="1">
                <a:solidFill>
                  <a:srgbClr val="1A1A1A"/>
                </a:solidFill>
                <a:latin typeface="Calibri"/>
              </a:rPr>
              <a:t>dès</a:t>
            </a:r>
            <a:r>
              <a:rPr sz="1600" b="0" i="0" dirty="0">
                <a:solidFill>
                  <a:srgbClr val="1A1A1A"/>
                </a:solidFill>
                <a:latin typeface="Calibri"/>
              </a:rPr>
              <a:t> la </a:t>
            </a:r>
            <a:r>
              <a:rPr sz="1600" b="0" i="0" dirty="0" err="1">
                <a:solidFill>
                  <a:srgbClr val="1A1A1A"/>
                </a:solidFill>
                <a:latin typeface="Calibri"/>
              </a:rPr>
              <a:t>semaine</a:t>
            </a:r>
            <a:r>
              <a:rPr sz="1600" b="0" i="0" dirty="0">
                <a:solidFill>
                  <a:srgbClr val="1A1A1A"/>
                </a:solidFill>
                <a:latin typeface="Calibri"/>
              </a:rPr>
              <a:t> </a:t>
            </a:r>
            <a:r>
              <a:rPr sz="1600" b="0" i="0" dirty="0" err="1">
                <a:solidFill>
                  <a:srgbClr val="1A1A1A"/>
                </a:solidFill>
                <a:latin typeface="Calibri"/>
              </a:rPr>
              <a:t>prochaine</a:t>
            </a:r>
            <a:endParaRPr sz="1600" b="0" i="0" dirty="0">
              <a:solidFill>
                <a:srgbClr val="1A1A1A"/>
              </a:solidFill>
              <a:latin typeface="Calibri"/>
            </a:endParaRPr>
          </a:p>
          <a:p>
            <a:pPr algn="l">
              <a:spcAft>
                <a:spcPts val="1800"/>
              </a:spcAft>
            </a:pPr>
            <a:r>
              <a:rPr sz="1600" b="0" i="0" dirty="0">
                <a:solidFill>
                  <a:srgbClr val="1A1A1A"/>
                </a:solidFill>
                <a:latin typeface="Calibri"/>
              </a:rPr>
              <a:t>4.  Une chose qui </a:t>
            </a:r>
            <a:r>
              <a:rPr sz="1600" b="0" i="0" dirty="0" err="1">
                <a:solidFill>
                  <a:srgbClr val="1A1A1A"/>
                </a:solidFill>
                <a:latin typeface="Calibri"/>
              </a:rPr>
              <a:t>resterait</a:t>
            </a:r>
            <a:r>
              <a:rPr sz="1600" b="0" i="0" dirty="0">
                <a:solidFill>
                  <a:srgbClr val="1A1A1A"/>
                </a:solidFill>
                <a:latin typeface="Calibri"/>
              </a:rPr>
              <a:t> À APPROFONDIR </a:t>
            </a:r>
            <a:r>
              <a:rPr sz="1600" b="0" i="0" dirty="0" err="1">
                <a:solidFill>
                  <a:srgbClr val="1A1A1A"/>
                </a:solidFill>
                <a:latin typeface="Calibri"/>
              </a:rPr>
              <a:t>si</a:t>
            </a:r>
            <a:r>
              <a:rPr sz="1600" b="0" i="0" dirty="0">
                <a:solidFill>
                  <a:srgbClr val="1A1A1A"/>
                </a:solidFill>
                <a:latin typeface="Calibri"/>
              </a:rPr>
              <a:t> nous avions </a:t>
            </a:r>
            <a:r>
              <a:rPr sz="1600" b="0" i="0" dirty="0" err="1">
                <a:solidFill>
                  <a:srgbClr val="1A1A1A"/>
                </a:solidFill>
                <a:latin typeface="Calibri"/>
              </a:rPr>
              <a:t>une</a:t>
            </a:r>
            <a:r>
              <a:rPr sz="1600" b="0" i="0" dirty="0">
                <a:solidFill>
                  <a:srgbClr val="1A1A1A"/>
                </a:solidFill>
                <a:latin typeface="Calibri"/>
              </a:rPr>
              <a:t> 2ᵉ </a:t>
            </a:r>
            <a:r>
              <a:rPr sz="1600" b="0" i="0" dirty="0" err="1">
                <a:solidFill>
                  <a:srgbClr val="1A1A1A"/>
                </a:solidFill>
                <a:latin typeface="Calibri"/>
              </a:rPr>
              <a:t>journée</a:t>
            </a:r>
            <a:endParaRPr sz="1600" b="0" i="0" dirty="0">
              <a:solidFill>
                <a:srgbClr val="1A1A1A"/>
              </a:solidFill>
              <a:latin typeface="Calibri"/>
            </a:endParaRPr>
          </a:p>
          <a:p>
            <a:pPr algn="l"/>
            <a:r>
              <a:rPr sz="1300" b="0" i="1" dirty="0">
                <a:solidFill>
                  <a:srgbClr val="E86E55"/>
                </a:solidFill>
                <a:latin typeface="Calibri"/>
              </a:rPr>
              <a:t>→ Tour de table </a:t>
            </a:r>
            <a:r>
              <a:rPr sz="1300" b="0" i="1" dirty="0" err="1">
                <a:solidFill>
                  <a:srgbClr val="E86E55"/>
                </a:solidFill>
                <a:latin typeface="Calibri"/>
              </a:rPr>
              <a:t>rapide</a:t>
            </a:r>
            <a:r>
              <a:rPr sz="1300" b="0" i="1" dirty="0">
                <a:solidFill>
                  <a:srgbClr val="E86E55"/>
                </a:solidFill>
                <a:latin typeface="Calibri"/>
              </a:rPr>
              <a:t>. </a:t>
            </a:r>
          </a:p>
        </p:txBody>
      </p:sp>
      <p:sp>
        <p:nvSpPr>
          <p:cNvPr id="3" name="Espace réservé du numéro de diapositive 2">
            <a:extLst>
              <a:ext uri="{FF2B5EF4-FFF2-40B4-BE49-F238E27FC236}">
                <a16:creationId xmlns:a16="http://schemas.microsoft.com/office/drawing/2014/main" id="{1A5230A7-D9DE-4573-BDEE-4CA6B31FB610}"/>
              </a:ext>
            </a:extLst>
          </p:cNvPr>
          <p:cNvSpPr>
            <a:spLocks noGrp="1"/>
          </p:cNvSpPr>
          <p:nvPr>
            <p:ph type="sldNum" sz="quarter" idx="4"/>
          </p:nvPr>
        </p:nvSpPr>
        <p:spPr/>
        <p:txBody>
          <a:bodyPr/>
          <a:lstStyle/>
          <a:p>
            <a:fld id="{9981E6DC-ACA4-4CC4-B142-EC9DBA1C6CBA}" type="slidenum">
              <a:rPr lang="en-US" smtClean="0"/>
              <a:pPr/>
              <a:t>61</a:t>
            </a:fld>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468880" y="274320"/>
            <a:ext cx="9418320" cy="77724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697480" y="274320"/>
            <a:ext cx="9006840" cy="777240"/>
          </a:xfrm>
          <a:prstGeom prst="rect">
            <a:avLst/>
          </a:prstGeom>
          <a:noFill/>
        </p:spPr>
        <p:txBody>
          <a:bodyPr wrap="square" lIns="0" tIns="0" rIns="0" bIns="0" anchor="ctr">
            <a:spAutoFit/>
          </a:bodyPr>
          <a:lstStyle/>
          <a:p>
            <a:pPr algn="l"/>
            <a:r>
              <a:rPr sz="2200" b="1" i="0">
                <a:solidFill>
                  <a:srgbClr val="1A1A1A"/>
                </a:solidFill>
                <a:latin typeface="Calibri"/>
              </a:rPr>
              <a:t>Pour clore</a:t>
            </a:r>
          </a:p>
        </p:txBody>
      </p:sp>
      <p:cxnSp>
        <p:nvCxnSpPr>
          <p:cNvPr id="8" name="Connector 7"/>
          <p:cNvCxnSpPr/>
          <p:nvPr/>
        </p:nvCxnSpPr>
        <p:spPr>
          <a:xfrm>
            <a:off x="365760" y="6446520"/>
            <a:ext cx="1143000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914400" y="2011680"/>
            <a:ext cx="10332720" cy="3291840"/>
          </a:xfrm>
          <a:prstGeom prst="rect">
            <a:avLst/>
          </a:prstGeom>
          <a:solidFill>
            <a:srgbClr val="1E2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71600" y="2286000"/>
            <a:ext cx="9418320" cy="2743200"/>
          </a:xfrm>
          <a:prstGeom prst="rect">
            <a:avLst/>
          </a:prstGeom>
          <a:noFill/>
        </p:spPr>
        <p:txBody>
          <a:bodyPr wrap="square" lIns="0" tIns="0" rIns="0" bIns="0" anchor="ctr">
            <a:spAutoFit/>
          </a:bodyPr>
          <a:lstStyle/>
          <a:p>
            <a:pPr algn="ctr">
              <a:spcAft>
                <a:spcPts val="600"/>
              </a:spcAft>
            </a:pPr>
            <a:r>
              <a:rPr sz="2200" b="0" i="1">
                <a:solidFill>
                  <a:srgbClr val="FFFFFF"/>
                </a:solidFill>
                <a:latin typeface="Calibri"/>
              </a:rPr>
              <a:t>Ce qu'on a fait aujourd'hui, on l'a fait</a:t>
            </a:r>
          </a:p>
          <a:p>
            <a:pPr algn="ctr">
              <a:spcAft>
                <a:spcPts val="1800"/>
              </a:spcAft>
            </a:pPr>
            <a:r>
              <a:rPr sz="2200" b="0" i="1">
                <a:solidFill>
                  <a:srgbClr val="FFFFFF"/>
                </a:solidFill>
                <a:latin typeface="Calibri"/>
              </a:rPr>
              <a:t>sur un territoire fictif.</a:t>
            </a:r>
          </a:p>
          <a:p>
            <a:pPr algn="ctr">
              <a:spcAft>
                <a:spcPts val="1400"/>
              </a:spcAft>
            </a:pPr>
            <a:r>
              <a:rPr sz="2800" b="1" i="1">
                <a:solidFill>
                  <a:srgbClr val="E86E55"/>
                </a:solidFill>
                <a:latin typeface="Calibri"/>
              </a:rPr>
              <a:t>Mais Anse-de-Goulven existe.</a:t>
            </a:r>
          </a:p>
          <a:p>
            <a:pPr algn="ctr">
              <a:spcAft>
                <a:spcPts val="400"/>
              </a:spcAft>
            </a:pPr>
            <a:r>
              <a:rPr sz="1600" b="0" i="1">
                <a:solidFill>
                  <a:srgbClr val="FFFFFF"/>
                </a:solidFill>
                <a:latin typeface="Calibri"/>
              </a:rPr>
              <a:t>Soulac, Lacanau, La Faute-sur-Mer, Saint-Malo,</a:t>
            </a:r>
          </a:p>
          <a:p>
            <a:pPr algn="ctr">
              <a:spcAft>
                <a:spcPts val="1800"/>
              </a:spcAft>
            </a:pPr>
            <a:r>
              <a:rPr sz="1600" b="0" i="1">
                <a:solidFill>
                  <a:srgbClr val="FFFFFF"/>
                </a:solidFill>
                <a:latin typeface="Calibri"/>
              </a:rPr>
              <a:t>Wimereux, Capbreton, Étretat, Le Crotoy…</a:t>
            </a:r>
          </a:p>
          <a:p>
            <a:pPr algn="ctr"/>
            <a:r>
              <a:rPr sz="2600" b="1" i="0">
                <a:solidFill>
                  <a:srgbClr val="FFFFFF"/>
                </a:solidFill>
                <a:latin typeface="Calibri"/>
              </a:rPr>
              <a:t>À vous de jouer.</a:t>
            </a:r>
          </a:p>
        </p:txBody>
      </p:sp>
      <p:sp>
        <p:nvSpPr>
          <p:cNvPr id="12" name="TextBox 11"/>
          <p:cNvSpPr txBox="1"/>
          <p:nvPr/>
        </p:nvSpPr>
        <p:spPr>
          <a:xfrm>
            <a:off x="365760" y="5669280"/>
            <a:ext cx="11430000" cy="365760"/>
          </a:xfrm>
          <a:prstGeom prst="rect">
            <a:avLst/>
          </a:prstGeom>
          <a:noFill/>
        </p:spPr>
        <p:txBody>
          <a:bodyPr wrap="square" lIns="0" tIns="0" rIns="0" bIns="0" anchor="t">
            <a:spAutoFit/>
          </a:bodyPr>
          <a:lstStyle/>
          <a:p>
            <a:pPr algn="ctr"/>
            <a:r>
              <a:rPr sz="1800" b="0" i="1">
                <a:solidFill>
                  <a:srgbClr val="6E6E6E"/>
                </a:solidFill>
                <a:latin typeface="Calibri"/>
              </a:rPr>
              <a:t>Merci.</a:t>
            </a:r>
          </a:p>
        </p:txBody>
      </p:sp>
      <p:sp>
        <p:nvSpPr>
          <p:cNvPr id="13" name="TextBox 7">
            <a:extLst>
              <a:ext uri="{FF2B5EF4-FFF2-40B4-BE49-F238E27FC236}">
                <a16:creationId xmlns:a16="http://schemas.microsoft.com/office/drawing/2014/main" id="{109404D1-A0EC-45D4-A474-16410FCF5D55}"/>
              </a:ext>
            </a:extLst>
          </p:cNvPr>
          <p:cNvSpPr txBox="1"/>
          <p:nvPr/>
        </p:nvSpPr>
        <p:spPr>
          <a:xfrm>
            <a:off x="5924549" y="6097429"/>
            <a:ext cx="7637145" cy="246221"/>
          </a:xfrm>
          <a:prstGeom prst="rect">
            <a:avLst/>
          </a:prstGeom>
          <a:noFill/>
        </p:spPr>
        <p:txBody>
          <a:bodyPr wrap="square" lIns="0" tIns="0" rIns="0" bIns="0" anchor="ctr">
            <a:spAutoFit/>
          </a:bodyPr>
          <a:lstStyle/>
          <a:p>
            <a:pPr algn="ctr"/>
            <a:r>
              <a:rPr lang="fr-FR" sz="1600" b="0" i="1">
                <a:latin typeface="Calibri"/>
              </a:rPr>
              <a:t>boris.leclerc@developpement-durable.gouv.fr</a:t>
            </a:r>
          </a:p>
        </p:txBody>
      </p:sp>
      <p:sp>
        <p:nvSpPr>
          <p:cNvPr id="15" name="Espace réservé du numéro de diapositive 14">
            <a:extLst>
              <a:ext uri="{FF2B5EF4-FFF2-40B4-BE49-F238E27FC236}">
                <a16:creationId xmlns:a16="http://schemas.microsoft.com/office/drawing/2014/main" id="{7FCCCA0A-BE9B-43E2-9F7E-3D618AB60775}"/>
              </a:ext>
            </a:extLst>
          </p:cNvPr>
          <p:cNvSpPr>
            <a:spLocks noGrp="1"/>
          </p:cNvSpPr>
          <p:nvPr>
            <p:ph type="sldNum" sz="quarter" idx="4"/>
          </p:nvPr>
        </p:nvSpPr>
        <p:spPr/>
        <p:txBody>
          <a:bodyPr/>
          <a:lstStyle/>
          <a:p>
            <a:fld id="{9981E6DC-ACA4-4CC4-B142-EC9DBA1C6CBA}" type="slidenum">
              <a:rPr lang="en-US" smtClean="0"/>
              <a:pPr/>
              <a:t>62</a:t>
            </a:fld>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312</TotalTime>
  <Words>9876</Words>
  <Application>Microsoft Office PowerPoint</Application>
  <PresentationFormat>Grand écran</PresentationFormat>
  <Paragraphs>945</Paragraphs>
  <Slides>62</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62</vt:i4>
      </vt:variant>
    </vt:vector>
  </HeadingPairs>
  <TitlesOfParts>
    <vt:vector size="65"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LECLERC Boris</dc:creator>
  <cp:keywords/>
  <dc:description>generated using python-pptx</dc:description>
  <cp:lastModifiedBy>Boris LECLERC</cp:lastModifiedBy>
  <cp:revision>39</cp:revision>
  <dcterms:created xsi:type="dcterms:W3CDTF">2013-01-27T09:14:16Z</dcterms:created>
  <dcterms:modified xsi:type="dcterms:W3CDTF">2026-04-28T17:56:44Z</dcterms:modified>
  <cp:category/>
</cp:coreProperties>
</file>